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4"/>
    <p:sldMasterId id="2147483666" r:id="rId5"/>
  </p:sldMasterIdLst>
  <p:notesMasterIdLst>
    <p:notesMasterId r:id="rId15"/>
  </p:notesMasterIdLst>
  <p:sldIdLst>
    <p:sldId id="333" r:id="rId9"/>
    <p:sldId id="336"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9"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okat" userId="501bd5f9-fd49-4fb7-abba-4150fa5f94f6" providerId="ADAL" clId="{A12145DA-1BDE-4F98-9563-DA2ED5A182AF}"/>
    <pc:docChg chg="modSld">
      <pc:chgData name="Nick Kokat" userId="501bd5f9-fd49-4fb7-abba-4150fa5f94f6" providerId="ADAL" clId="{A12145DA-1BDE-4F98-9563-DA2ED5A182AF}" dt="2026-08-19T21:27:50.639" v="22" actId="207"/>
      <pc:docMkLst>
        <pc:docMk/>
      </pc:docMkLst>
      <pc:sldChg chg="modSp mod">
        <pc:chgData name="Nick Kokat" userId="501bd5f9-fd49-4fb7-abba-4150fa5f94f6" providerId="ADAL" clId="{A12145DA-1BDE-4F98-9563-DA2ED5A182AF}" dt="2026-08-19T21:27:50.639" v="22" actId="207"/>
        <pc:sldMkLst>
          <pc:docMk/>
          <pc:sldMk cId="2458590048" sldId="260"/>
        </pc:sldMkLst>
        <pc:spChg chg="mod">
          <ac:chgData name="Nick Kokat" userId="501bd5f9-fd49-4fb7-abba-4150fa5f94f6" providerId="ADAL" clId="{A12145DA-1BDE-4F98-9563-DA2ED5A182AF}" dt="2026-08-19T21:27:50.639" v="22" actId="207"/>
          <ac:spMkLst>
            <pc:docMk/>
            <pc:sldMk cId="2458590048" sldId="260"/>
            <ac:spMk id="18" creationId="{5E1BA571-5267-EFA9-F122-1666D2F18055}"/>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Premium change (%)</c:v>
                </c:pt>
              </c:strCache>
            </c:strRef>
          </c:tx>
          <c:invertIfNegative val="0"/>
          <c:dPt>
            <c:idx val="0"/>
            <c:spPr>
              <a:solidFill>
                <a:srgbClr val="FFC666"/>
              </a:solidFill>
            </c:spPr>
          </c:dPt>
          <c:dPt>
            <c:idx val="1"/>
            <c:spPr>
              <a:solidFill>
                <a:srgbClr val="8FB24E"/>
              </a:solidFill>
            </c:spPr>
          </c:dPt>
          <c:dPt>
            <c:idx val="2"/>
            <c:spPr>
              <a:solidFill>
                <a:srgbClr val="8FB24E"/>
              </a:solidFill>
            </c:spPr>
          </c:dPt>
          <c:cat>
            <c:strRef>
              <c:f>Sheet1!$A$2:$A$4</c:f>
              <c:strCache>
                <c:ptCount val="3"/>
                <c:pt idx="0">
                  <c:v>Commercial auto</c:v>
                </c:pt>
                <c:pt idx="1">
                  <c:v>Overall market</c:v>
                </c:pt>
                <c:pt idx="2">
                  <c:v>Commercial property</c:v>
                </c:pt>
              </c:strCache>
            </c:strRef>
          </c:cat>
          <c:val>
            <c:numRef>
              <c:f>Sheet1!$B$2:$B$4</c:f>
              <c:numCache>
                <c:formatCode>General</c:formatCode>
                <c:ptCount val="3"/>
                <c:pt idx="0">
                  <c:v>5.8</c:v>
                </c:pt>
                <c:pt idx="1">
                  <c:v>-1.2</c:v>
                </c:pt>
                <c:pt idx="2">
                  <c:v>-5.8</c:v>
                </c:pt>
              </c:numCache>
            </c:numRef>
          </c:val>
        </c:ser>
        <c:dLbls>
          <c:numFmt formatCode="+0.0&quot;%&quot;;-0.0&quot;%&quot;" sourceLinked="0"/>
          <c:txPr>
            <a:bodyPr/>
            <a:lstStyle/>
            <a:p>
              <a:pPr>
                <a:defRPr sz="1200" b="1">
                  <a:solidFill>
                    <a:srgbClr val="FFFFFF"/>
                  </a:solidFill>
                  <a:latin typeface="Source Sans Pr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none"/>
        <c:minorTickMark val="none"/>
        <c:tickLblPos val="low"/>
        <c:spPr>
          <a:ln>
            <a:solidFill>
              <a:srgbClr val="BFC7CB"/>
            </a:solidFill>
          </a:ln>
        </c:spPr>
        <c:txPr>
          <a:bodyPr/>
          <a:lstStyle/>
          <a:p>
            <a:pPr>
              <a:defRPr sz="1200">
                <a:solidFill>
                  <a:srgbClr val="FFFFFF"/>
                </a:solidFill>
              </a:defRPr>
            </a:pPr>
          </a:p>
        </c:txPr>
        <c:crossAx val="-2113994440"/>
        <c:crosses val="autoZero"/>
        <c:auto val="1"/>
        <c:lblAlgn val="ctr"/>
        <c:lblOffset val="100"/>
        <c:noMultiLvlLbl val="0"/>
      </c:catAx>
      <c:valAx>
        <c:axId val="-2113994440"/>
        <c:scaling>
          <c:max val="9.0"/>
          <c:min val="-9.0"/>
        </c:scaling>
        <c:delete/>
        <c:axPos val="b"/>
        <c:majorTickMark val="out"/>
        <c:minorTickMark val="none"/>
        <c:tickLblPos val="nextTo"/>
        <c:crossAx val="-2068027336"/>
        <c:crosses val="autoZero"/>
      </c:valAx>
    </c:plotArea>
    <c:dispBlanksAs val="gap"/>
  </c:chart>
  <c:txPr>
    <a:bodyPr/>
    <a:lstStyle/>
    <a:p>
      <a:pPr>
        <a:defRPr sz="1200">
          <a:solidFill>
            <a:srgbClr val="FFFFFF"/>
          </a:solidFill>
          <a:latin typeface="Source Sans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752473-4CCE-426E-ADDC-CB6E6EAC5CD2}" type="datetimeFigureOut">
              <a:rPr lang="en-US" smtClean="0"/>
              <a:t>8/19/2026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14C03-8685-4AC7-94E4-F6077D277807}" type="slidenum">
              <a:rPr lang="en-US" smtClean="0"/>
              <a:t>‹#›</a:t>
            </a:fld>
            <a:endParaRPr lang="en-US"/>
          </a:p>
        </p:txBody>
      </p:sp>
    </p:spTree>
    <p:extLst>
      <p:ext uri="{BB962C8B-B14F-4D97-AF65-F5344CB8AC3E}">
        <p14:creationId xmlns:p14="http://schemas.microsoft.com/office/powerpoint/2010/main" val="1415195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insurance market is shifting, creating new opportunities and complexities across commercial, benefits, and high-net-worth lines. Commercial: the market softened for the first time since 2017. Overall premiums fell 1.2%, large accounts 2.7%, medium accounts 1.9%. Commercial property led the decline at -5.8% as carrier capacity returned and some catastrophe risk moved back from E&amp;S to traditional markets. Commercial auto is the exception at +5.8%, its 59th consecutive quarter of increases, driven by claim severity and litigation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benefits: pharmacy is now the dominant cost driver, but strategy and confidence have not caught up. Pharmacy exceeds 30% of total medical spend for some employers. 3 in 4 employers cite cost (specialty drugs, affordability, gene therapies) as their top pharmacy challenge. About 6 in 10 feel only neutral or unprepared. 43% are not sure when their pharmacy strategy was last reviewed. High-net-worth: capacity is improving, but carriers prioritize risk quality, loss prevention, and accurate property and exposure data over price. Catastrophe exposure, rebuilding cost inflation, and liability severity are core underwriting factors. Portfolio-level thinking separates strong placements from weak ones.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tif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Footer Placeholder 2">
            <a:extLst>
              <a:ext uri="{FF2B5EF4-FFF2-40B4-BE49-F238E27FC236}">
                <a16:creationId xmlns:a16="http://schemas.microsoft.com/office/drawing/2014/main" id="{347FA695-301A-D017-5457-21181DB07D41}"/>
              </a:ext>
            </a:extLst>
          </p:cNvPr>
          <p:cNvSpPr txBox="1">
            <a:spLocks/>
          </p:cNvSpPr>
          <p:nvPr userDrawn="1"/>
        </p:nvSpPr>
        <p:spPr>
          <a:xfrm>
            <a:off x="9166380" y="6373917"/>
            <a:ext cx="20920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a:solidFill>
                  <a:schemeClr val="accent3"/>
                </a:solidFill>
                <a:latin typeface="Source Sans Pro" panose="020B0503030403020204" pitchFamily="34" charset="0"/>
                <a:cs typeface="Calibri Light" charset="0"/>
              </a:rPr>
              <a:t>© CCIG All Rights Reserved</a:t>
            </a:r>
            <a:endParaRPr lang="en-US">
              <a:solidFill>
                <a:schemeClr val="accent3"/>
              </a:solidFill>
            </a:endParaRPr>
          </a:p>
        </p:txBody>
      </p:sp>
      <p:sp>
        <p:nvSpPr>
          <p:cNvPr id="3" name="Slide Number Placeholder 3">
            <a:extLst>
              <a:ext uri="{FF2B5EF4-FFF2-40B4-BE49-F238E27FC236}">
                <a16:creationId xmlns:a16="http://schemas.microsoft.com/office/drawing/2014/main" id="{423C14C6-1388-88AF-C11C-D78FF338316A}"/>
              </a:ext>
            </a:extLst>
          </p:cNvPr>
          <p:cNvSpPr txBox="1">
            <a:spLocks/>
          </p:cNvSpPr>
          <p:nvPr userDrawn="1"/>
        </p:nvSpPr>
        <p:spPr>
          <a:xfrm>
            <a:off x="11258417" y="6373483"/>
            <a:ext cx="460341"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06A10D1-A153-46BE-963E-0302FA5EFDF9}" type="slidenum">
              <a:rPr lang="en-US" smtClean="0">
                <a:solidFill>
                  <a:schemeClr val="accent3"/>
                </a:solidFill>
              </a:rPr>
              <a:pPr/>
              <a:t>‹#›</a:t>
            </a:fld>
            <a:endParaRPr lang="en-US">
              <a:solidFill>
                <a:schemeClr val="accent3"/>
              </a:solidFill>
            </a:endParaRPr>
          </a:p>
        </p:txBody>
      </p:sp>
      <p:pic>
        <p:nvPicPr>
          <p:cNvPr id="4" name="Picture 3">
            <a:extLst>
              <a:ext uri="{FF2B5EF4-FFF2-40B4-BE49-F238E27FC236}">
                <a16:creationId xmlns:a16="http://schemas.microsoft.com/office/drawing/2014/main" id="{5F2F7BF6-0AA5-9EF5-48DA-31D4B332A449}"/>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72029" y="6373668"/>
            <a:ext cx="1002589" cy="238414"/>
          </a:xfrm>
          <a:prstGeom prst="rect">
            <a:avLst/>
          </a:prstGeom>
        </p:spPr>
      </p:pic>
    </p:spTree>
    <p:extLst>
      <p:ext uri="{BB962C8B-B14F-4D97-AF65-F5344CB8AC3E}">
        <p14:creationId xmlns:p14="http://schemas.microsoft.com/office/powerpoint/2010/main" val="2067672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5753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4CB7C7-D8DD-A773-3164-BFA6E3CB954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272029" y="6362765"/>
            <a:ext cx="1002589" cy="237916"/>
          </a:xfrm>
          <a:prstGeom prst="rect">
            <a:avLst/>
          </a:prstGeom>
        </p:spPr>
      </p:pic>
      <p:sp>
        <p:nvSpPr>
          <p:cNvPr id="3" name="Footer Placeholder 2">
            <a:extLst>
              <a:ext uri="{FF2B5EF4-FFF2-40B4-BE49-F238E27FC236}">
                <a16:creationId xmlns:a16="http://schemas.microsoft.com/office/drawing/2014/main" id="{1C94A90F-9A4B-3A2A-8DA0-6AD36E25DE83}"/>
              </a:ext>
            </a:extLst>
          </p:cNvPr>
          <p:cNvSpPr txBox="1">
            <a:spLocks/>
          </p:cNvSpPr>
          <p:nvPr userDrawn="1"/>
        </p:nvSpPr>
        <p:spPr>
          <a:xfrm>
            <a:off x="9166380" y="6373917"/>
            <a:ext cx="20920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a:solidFill>
                  <a:schemeClr val="accent3">
                    <a:lumMod val="75000"/>
                  </a:schemeClr>
                </a:solidFill>
                <a:latin typeface="Source Sans Pro" panose="020B0503030403020204" pitchFamily="34" charset="0"/>
                <a:cs typeface="Calibri Light" charset="0"/>
              </a:rPr>
              <a:t>© CCIG All Rights Reserved</a:t>
            </a:r>
            <a:endParaRPr lang="en-US">
              <a:solidFill>
                <a:schemeClr val="accent3">
                  <a:lumMod val="75000"/>
                </a:schemeClr>
              </a:solidFill>
            </a:endParaRPr>
          </a:p>
        </p:txBody>
      </p:sp>
      <p:sp>
        <p:nvSpPr>
          <p:cNvPr id="4" name="Slide Number Placeholder 3">
            <a:extLst>
              <a:ext uri="{FF2B5EF4-FFF2-40B4-BE49-F238E27FC236}">
                <a16:creationId xmlns:a16="http://schemas.microsoft.com/office/drawing/2014/main" id="{6A743426-97A4-BD34-08E3-B74A56AF5D31}"/>
              </a:ext>
            </a:extLst>
          </p:cNvPr>
          <p:cNvSpPr txBox="1">
            <a:spLocks/>
          </p:cNvSpPr>
          <p:nvPr userDrawn="1"/>
        </p:nvSpPr>
        <p:spPr>
          <a:xfrm>
            <a:off x="11258417" y="6373483"/>
            <a:ext cx="460341"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06A10D1-A153-46BE-963E-0302FA5EFDF9}" type="slidenum">
              <a:rPr lang="en-US" smtClean="0">
                <a:solidFill>
                  <a:schemeClr val="accent3">
                    <a:lumMod val="75000"/>
                  </a:schemeClr>
                </a:solidFill>
              </a:rPr>
              <a:pPr/>
              <a:t>‹#›</a:t>
            </a:fld>
            <a:endParaRPr lang="en-US">
              <a:solidFill>
                <a:schemeClr val="accent3">
                  <a:lumMod val="75000"/>
                </a:schemeClr>
              </a:solidFill>
            </a:endParaRPr>
          </a:p>
        </p:txBody>
      </p:sp>
    </p:spTree>
    <p:extLst>
      <p:ext uri="{BB962C8B-B14F-4D97-AF65-F5344CB8AC3E}">
        <p14:creationId xmlns:p14="http://schemas.microsoft.com/office/powerpoint/2010/main" val="38218500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78051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losing Slide (Original)">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3AB19A-BD49-0463-11C4-7C72D26FF995}"/>
              </a:ext>
            </a:extLst>
          </p:cNvPr>
          <p:cNvPicPr>
            <a:picLocks noChangeAspect="1"/>
          </p:cNvPicPr>
          <p:nvPr userDrawn="1"/>
        </p:nvPicPr>
        <p:blipFill rotWithShape="1">
          <a:blip r:embed="rId2" cstate="email">
            <a:alphaModFix amt="7000"/>
            <a:extLst>
              <a:ext uri="{28A0092B-C50C-407E-A947-70E740481C1C}">
                <a14:useLocalDpi xmlns:a14="http://schemas.microsoft.com/office/drawing/2010/main"/>
              </a:ext>
            </a:extLst>
          </a:blip>
          <a:srcRect/>
          <a:stretch/>
        </p:blipFill>
        <p:spPr>
          <a:xfrm>
            <a:off x="-2382" y="22859"/>
            <a:ext cx="12192001" cy="6858000"/>
          </a:xfrm>
          <a:prstGeom prst="rect">
            <a:avLst/>
          </a:prstGeom>
        </p:spPr>
      </p:pic>
      <p:cxnSp>
        <p:nvCxnSpPr>
          <p:cNvPr id="3" name="Straight Connector 2">
            <a:extLst>
              <a:ext uri="{FF2B5EF4-FFF2-40B4-BE49-F238E27FC236}">
                <a16:creationId xmlns:a16="http://schemas.microsoft.com/office/drawing/2014/main" id="{34278F2D-46CD-FE13-F2E6-B70B959FF2FE}"/>
              </a:ext>
            </a:extLst>
          </p:cNvPr>
          <p:cNvCxnSpPr>
            <a:cxnSpLocks/>
          </p:cNvCxnSpPr>
          <p:nvPr userDrawn="1"/>
        </p:nvCxnSpPr>
        <p:spPr>
          <a:xfrm>
            <a:off x="-1" y="6835140"/>
            <a:ext cx="12192001" cy="0"/>
          </a:xfrm>
          <a:prstGeom prst="line">
            <a:avLst/>
          </a:prstGeom>
          <a:ln w="34607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5" name="Picture 4" descr="A picture containing text, gear, wheel, clipart&#10;&#10;Description automatically generated">
            <a:extLst>
              <a:ext uri="{FF2B5EF4-FFF2-40B4-BE49-F238E27FC236}">
                <a16:creationId xmlns:a16="http://schemas.microsoft.com/office/drawing/2014/main" id="{12DDE39C-E745-9882-755B-90550D318E36}"/>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4831802" y="3129569"/>
            <a:ext cx="2523625" cy="598862"/>
          </a:xfrm>
          <a:prstGeom prst="rect">
            <a:avLst/>
          </a:prstGeom>
        </p:spPr>
      </p:pic>
      <p:sp>
        <p:nvSpPr>
          <p:cNvPr id="6" name="TextBox 5">
            <a:extLst>
              <a:ext uri="{FF2B5EF4-FFF2-40B4-BE49-F238E27FC236}">
                <a16:creationId xmlns:a16="http://schemas.microsoft.com/office/drawing/2014/main" id="{A366612E-BB2B-B588-AF43-DEED86FBFB7A}"/>
              </a:ext>
            </a:extLst>
          </p:cNvPr>
          <p:cNvSpPr txBox="1"/>
          <p:nvPr userDrawn="1"/>
        </p:nvSpPr>
        <p:spPr>
          <a:xfrm>
            <a:off x="4394702" y="5766956"/>
            <a:ext cx="3397827" cy="400110"/>
          </a:xfrm>
          <a:prstGeom prst="rect">
            <a:avLst/>
          </a:prstGeom>
          <a:noFill/>
        </p:spPr>
        <p:txBody>
          <a:bodyPr wrap="square" rtlCol="0">
            <a:spAutoFit/>
          </a:bodyPr>
          <a:lstStyle/>
          <a:p>
            <a:pPr algn="ctr"/>
            <a:r>
              <a:rPr lang="en-US" sz="2000">
                <a:solidFill>
                  <a:schemeClr val="accent3"/>
                </a:solidFill>
              </a:rPr>
              <a:t>Think</a:t>
            </a:r>
            <a:r>
              <a:rPr lang="en-US" sz="2000">
                <a:latin typeface="Source Sans Pro Semibold" panose="020B0603030403020204" pitchFamily="34" charset="0"/>
              </a:rPr>
              <a:t>CCIG</a:t>
            </a:r>
            <a:r>
              <a:rPr lang="en-US" sz="2000">
                <a:solidFill>
                  <a:schemeClr val="accent3"/>
                </a:solidFill>
              </a:rPr>
              <a:t>.com</a:t>
            </a:r>
          </a:p>
        </p:txBody>
      </p:sp>
    </p:spTree>
    <p:extLst>
      <p:ext uri="{BB962C8B-B14F-4D97-AF65-F5344CB8AC3E}">
        <p14:creationId xmlns:p14="http://schemas.microsoft.com/office/powerpoint/2010/main" val="3935688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ansition slide simple ">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A990A3E4-0BDF-56A9-42B7-D1192EDDD891}"/>
              </a:ext>
            </a:extLst>
          </p:cNvPr>
          <p:cNvCxnSpPr>
            <a:cxnSpLocks/>
          </p:cNvCxnSpPr>
          <p:nvPr userDrawn="1"/>
        </p:nvCxnSpPr>
        <p:spPr>
          <a:xfrm>
            <a:off x="-1" y="6835140"/>
            <a:ext cx="12192001" cy="0"/>
          </a:xfrm>
          <a:prstGeom prst="line">
            <a:avLst/>
          </a:prstGeom>
          <a:ln w="34607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9" name="Picture 8" descr="A picture containing text, gear, wheel, clipart&#10;&#10;Description automatically generated">
            <a:extLst>
              <a:ext uri="{FF2B5EF4-FFF2-40B4-BE49-F238E27FC236}">
                <a16:creationId xmlns:a16="http://schemas.microsoft.com/office/drawing/2014/main" id="{D9B550F0-F2E9-2A7D-2A5B-F3E8075DC7D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831804" y="3152428"/>
            <a:ext cx="2523625" cy="598862"/>
          </a:xfrm>
          <a:prstGeom prst="rect">
            <a:avLst/>
          </a:prstGeom>
        </p:spPr>
      </p:pic>
      <p:sp>
        <p:nvSpPr>
          <p:cNvPr id="10" name="TextBox 9">
            <a:extLst>
              <a:ext uri="{FF2B5EF4-FFF2-40B4-BE49-F238E27FC236}">
                <a16:creationId xmlns:a16="http://schemas.microsoft.com/office/drawing/2014/main" id="{3FB17FBE-EF74-B466-E154-54F64DC81596}"/>
              </a:ext>
            </a:extLst>
          </p:cNvPr>
          <p:cNvSpPr txBox="1"/>
          <p:nvPr userDrawn="1"/>
        </p:nvSpPr>
        <p:spPr>
          <a:xfrm>
            <a:off x="4394702" y="5766956"/>
            <a:ext cx="3397827" cy="400110"/>
          </a:xfrm>
          <a:prstGeom prst="rect">
            <a:avLst/>
          </a:prstGeom>
          <a:noFill/>
        </p:spPr>
        <p:txBody>
          <a:bodyPr wrap="square" rtlCol="0">
            <a:spAutoFit/>
          </a:bodyPr>
          <a:lstStyle/>
          <a:p>
            <a:pPr algn="ctr"/>
            <a:r>
              <a:rPr lang="en-US" sz="2000">
                <a:solidFill>
                  <a:schemeClr val="accent3"/>
                </a:solidFill>
              </a:rPr>
              <a:t>Think</a:t>
            </a:r>
            <a:r>
              <a:rPr lang="en-US" sz="2000">
                <a:latin typeface="Source Sans Pro Semibold" panose="020B0603030403020204" pitchFamily="34" charset="0"/>
              </a:rPr>
              <a:t>CCIG</a:t>
            </a:r>
            <a:r>
              <a:rPr lang="en-US" sz="2000">
                <a:solidFill>
                  <a:schemeClr val="accent3"/>
                </a:solidFill>
              </a:rPr>
              <a:t>.com</a:t>
            </a:r>
          </a:p>
        </p:txBody>
      </p:sp>
    </p:spTree>
    <p:extLst>
      <p:ext uri="{BB962C8B-B14F-4D97-AF65-F5344CB8AC3E}">
        <p14:creationId xmlns:p14="http://schemas.microsoft.com/office/powerpoint/2010/main" val="33170634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9410521"/>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1028029"/>
      </p:ext>
    </p:extLst>
  </p:cSld>
  <p:clrMap bg1="lt1" tx1="dk1" bg2="lt2" tx2="dk2" accent1="accent1" accent2="accent2" accent3="accent3" accent4="accent4" accent5="accent5" accent6="accent6" hlink="hlink" folHlink="folHlink"/>
  <p:sldLayoutIdLst>
    <p:sldLayoutId id="2147483667" r:id="rId1"/>
    <p:sldLayoutId id="2147483668"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The first soft market since 2017</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COMMERCIAL LINES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Premiums fell across every account size, but auto keeps climbing.</a:t>
            </a:r>
          </a:p>
        </p:txBody>
      </p:sp>
      <p:sp>
        <p:nvSpPr>
          <p:cNvPr id="9" name="Overall stat card"/>
          <p:cNvSpPr/>
          <p:nvPr/>
        </p:nvSpPr>
        <p:spPr>
          <a:xfrm>
            <a:off x="960120" y="1965960"/>
            <a:ext cx="4572000" cy="155448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p:cNvSpPr/>
          <p:nvPr/>
        </p:nvSpPr>
        <p:spPr>
          <a:xfrm rot="10800000">
            <a:off x="1280160" y="2148840"/>
            <a:ext cx="731520" cy="640080"/>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erall stat"/>
          <p:cNvSpPr txBox="1"/>
          <p:nvPr/>
        </p:nvSpPr>
        <p:spPr>
          <a:xfrm>
            <a:off x="2194560" y="2011680"/>
            <a:ext cx="3200400" cy="914400"/>
          </a:xfrm>
          <a:prstGeom prst="rect">
            <a:avLst/>
          </a:prstGeom>
          <a:noFill/>
        </p:spPr>
        <p:txBody>
          <a:bodyPr wrap="square" lIns="0" rIns="0" tIns="0" bIns="0" anchor="ctr">
            <a:spAutoFit/>
          </a:bodyPr>
          <a:lstStyle/>
          <a:p>
            <a:r>
              <a:rPr sz="5400" b="1" i="0">
                <a:solidFill>
                  <a:srgbClr val="153243"/>
                </a:solidFill>
                <a:latin typeface="Playfair Display"/>
              </a:rPr>
              <a:t>1.2%</a:t>
            </a:r>
          </a:p>
        </p:txBody>
      </p:sp>
      <p:sp>
        <p:nvSpPr>
          <p:cNvPr id="12" name="Overall label"/>
          <p:cNvSpPr txBox="1"/>
          <p:nvPr/>
        </p:nvSpPr>
        <p:spPr>
          <a:xfrm>
            <a:off x="1280160" y="2999232"/>
            <a:ext cx="4023360" cy="320040"/>
          </a:xfrm>
          <a:prstGeom prst="rect">
            <a:avLst/>
          </a:prstGeom>
          <a:noFill/>
        </p:spPr>
        <p:txBody>
          <a:bodyPr wrap="square" lIns="0" rIns="0" tIns="0" bIns="0" anchor="t">
            <a:spAutoFit/>
          </a:bodyPr>
          <a:lstStyle/>
          <a:p>
            <a:r>
              <a:rPr sz="1400" b="1" i="0" spc="250">
                <a:solidFill>
                  <a:srgbClr val="153243"/>
                </a:solidFill>
                <a:latin typeface="Source Sans Pro"/>
              </a:rPr>
              <a:t>OVERALL PREMIUMS</a:t>
            </a:r>
          </a:p>
        </p:txBody>
      </p:sp>
      <p:sp>
        <p:nvSpPr>
          <p:cNvPr id="13" name="Account card 1"/>
          <p:cNvSpPr/>
          <p:nvPr/>
        </p:nvSpPr>
        <p:spPr>
          <a:xfrm>
            <a:off x="960120" y="3703320"/>
            <a:ext cx="2194560" cy="1143000"/>
          </a:xfrm>
          <a:prstGeom prst="roundRect">
            <a:avLst>
              <a:gd name="adj" fmla="val 8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p:cNvSpPr/>
          <p:nvPr/>
        </p:nvSpPr>
        <p:spPr>
          <a:xfrm rot="10800000">
            <a:off x="1188720" y="3931920"/>
            <a:ext cx="347472" cy="301752"/>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ccount stat 1"/>
          <p:cNvSpPr txBox="1"/>
          <p:nvPr/>
        </p:nvSpPr>
        <p:spPr>
          <a:xfrm>
            <a:off x="1645920" y="3822191"/>
            <a:ext cx="1371600" cy="548640"/>
          </a:xfrm>
          <a:prstGeom prst="rect">
            <a:avLst/>
          </a:prstGeom>
          <a:noFill/>
        </p:spPr>
        <p:txBody>
          <a:bodyPr wrap="square" lIns="0" rIns="0" tIns="0" bIns="0" anchor="ctr">
            <a:spAutoFit/>
          </a:bodyPr>
          <a:lstStyle/>
          <a:p>
            <a:r>
              <a:rPr sz="2600" b="1" i="0">
                <a:solidFill>
                  <a:srgbClr val="153243"/>
                </a:solidFill>
                <a:latin typeface="Playfair Display"/>
              </a:rPr>
              <a:t>2.7%</a:t>
            </a:r>
          </a:p>
        </p:txBody>
      </p:sp>
      <p:sp>
        <p:nvSpPr>
          <p:cNvPr id="16" name="Account label 1"/>
          <p:cNvSpPr txBox="1"/>
          <p:nvPr/>
        </p:nvSpPr>
        <p:spPr>
          <a:xfrm>
            <a:off x="1188720" y="4389120"/>
            <a:ext cx="1828800" cy="320040"/>
          </a:xfrm>
          <a:prstGeom prst="rect">
            <a:avLst/>
          </a:prstGeom>
          <a:noFill/>
        </p:spPr>
        <p:txBody>
          <a:bodyPr wrap="square" lIns="0" rIns="0" tIns="0" bIns="0" anchor="t">
            <a:spAutoFit/>
          </a:bodyPr>
          <a:lstStyle/>
          <a:p>
            <a:r>
              <a:rPr sz="1400" b="0" i="0">
                <a:solidFill>
                  <a:srgbClr val="153243"/>
                </a:solidFill>
                <a:latin typeface="Source Sans Pro"/>
              </a:rPr>
              <a:t>Large accounts</a:t>
            </a:r>
          </a:p>
        </p:txBody>
      </p:sp>
      <p:sp>
        <p:nvSpPr>
          <p:cNvPr id="17" name="Account card 2"/>
          <p:cNvSpPr/>
          <p:nvPr/>
        </p:nvSpPr>
        <p:spPr>
          <a:xfrm>
            <a:off x="3337560" y="3703320"/>
            <a:ext cx="2194560" cy="1143000"/>
          </a:xfrm>
          <a:prstGeom prst="roundRect">
            <a:avLst>
              <a:gd name="adj" fmla="val 8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p:cNvSpPr/>
          <p:nvPr/>
        </p:nvSpPr>
        <p:spPr>
          <a:xfrm rot="10800000">
            <a:off x="3566160" y="3931920"/>
            <a:ext cx="347472" cy="301752"/>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ccount stat 2"/>
          <p:cNvSpPr txBox="1"/>
          <p:nvPr/>
        </p:nvSpPr>
        <p:spPr>
          <a:xfrm>
            <a:off x="4023360" y="3822191"/>
            <a:ext cx="1371600" cy="548640"/>
          </a:xfrm>
          <a:prstGeom prst="rect">
            <a:avLst/>
          </a:prstGeom>
          <a:noFill/>
        </p:spPr>
        <p:txBody>
          <a:bodyPr wrap="square" lIns="0" rIns="0" tIns="0" bIns="0" anchor="ctr">
            <a:spAutoFit/>
          </a:bodyPr>
          <a:lstStyle/>
          <a:p>
            <a:r>
              <a:rPr sz="2600" b="1" i="0">
                <a:solidFill>
                  <a:srgbClr val="153243"/>
                </a:solidFill>
                <a:latin typeface="Playfair Display"/>
              </a:rPr>
              <a:t>1.9%</a:t>
            </a:r>
          </a:p>
        </p:txBody>
      </p:sp>
      <p:sp>
        <p:nvSpPr>
          <p:cNvPr id="20" name="Account label 2"/>
          <p:cNvSpPr txBox="1"/>
          <p:nvPr/>
        </p:nvSpPr>
        <p:spPr>
          <a:xfrm>
            <a:off x="3566160" y="4389120"/>
            <a:ext cx="1828800" cy="320040"/>
          </a:xfrm>
          <a:prstGeom prst="rect">
            <a:avLst/>
          </a:prstGeom>
          <a:noFill/>
        </p:spPr>
        <p:txBody>
          <a:bodyPr wrap="square" lIns="0" rIns="0" tIns="0" bIns="0" anchor="t">
            <a:spAutoFit/>
          </a:bodyPr>
          <a:lstStyle/>
          <a:p>
            <a:r>
              <a:rPr sz="1400" b="0" i="0">
                <a:solidFill>
                  <a:srgbClr val="153243"/>
                </a:solidFill>
                <a:latin typeface="Source Sans Pro"/>
              </a:rPr>
              <a:t>Medium accounts</a:t>
            </a:r>
          </a:p>
        </p:txBody>
      </p:sp>
      <p:sp>
        <p:nvSpPr>
          <p:cNvPr id="21" name="Chart title"/>
          <p:cNvSpPr txBox="1"/>
          <p:nvPr/>
        </p:nvSpPr>
        <p:spPr>
          <a:xfrm>
            <a:off x="5943600" y="1965960"/>
            <a:ext cx="5376672" cy="274320"/>
          </a:xfrm>
          <a:prstGeom prst="rect">
            <a:avLst/>
          </a:prstGeom>
          <a:noFill/>
        </p:spPr>
        <p:txBody>
          <a:bodyPr wrap="square" lIns="0" rIns="0" tIns="0" bIns="0" anchor="t">
            <a:spAutoFit/>
          </a:bodyPr>
          <a:lstStyle/>
          <a:p>
            <a:r>
              <a:rPr sz="1400" b="1" i="0">
                <a:solidFill>
                  <a:srgbClr val="FFFFFF"/>
                </a:solidFill>
                <a:latin typeface="Source Sans Pro"/>
              </a:rPr>
              <a:t>Premium change by line</a:t>
            </a:r>
          </a:p>
        </p:txBody>
      </p:sp>
      <p:graphicFrame>
        <p:nvGraphicFramePr>
          <p:cNvPr id="22" name="Premium change chart"/>
          <p:cNvGraphicFramePr>
            <a:graphicFrameLocks noGrp="1"/>
          </p:cNvGraphicFramePr>
          <p:nvPr/>
        </p:nvGraphicFramePr>
        <p:xfrm>
          <a:off x="5943600" y="2240280"/>
          <a:ext cx="5376672" cy="1828800"/>
        </p:xfrm>
        <a:graphic>
          <a:graphicData uri="http://schemas.openxmlformats.org/drawingml/2006/chart">
            <c:chart xmlns:c="http://schemas.openxmlformats.org/drawingml/2006/chart" r:id="rId2"/>
          </a:graphicData>
        </a:graphic>
      </p:graphicFrame>
      <p:sp>
        <p:nvSpPr>
          <p:cNvPr id="23" name="Property icon circle"/>
          <p:cNvSpPr/>
          <p:nvPr/>
        </p:nvSpPr>
        <p:spPr>
          <a:xfrm>
            <a:off x="5943600" y="4087368"/>
            <a:ext cx="457200" cy="45720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roperty icon" descr="Property icon"/>
          <p:cNvPicPr>
            <a:picLocks noChangeAspect="1"/>
          </p:cNvPicPr>
          <p:nvPr/>
        </p:nvPicPr>
        <p:blipFill>
          <a:blip r:embed="rId3"/>
          <a:stretch>
            <a:fillRect/>
          </a:stretch>
        </p:blipFill>
        <p:spPr>
          <a:xfrm>
            <a:off x="6053328" y="4197096"/>
            <a:ext cx="237744" cy="237744"/>
          </a:xfrm>
          <a:prstGeom prst="rect">
            <a:avLst/>
          </a:prstGeom>
        </p:spPr>
      </p:pic>
      <p:sp>
        <p:nvSpPr>
          <p:cNvPr id="25" name="Property note"/>
          <p:cNvSpPr txBox="1"/>
          <p:nvPr/>
        </p:nvSpPr>
        <p:spPr>
          <a:xfrm>
            <a:off x="6537960" y="4114800"/>
            <a:ext cx="4782312" cy="411480"/>
          </a:xfrm>
          <a:prstGeom prst="rect">
            <a:avLst/>
          </a:prstGeom>
          <a:noFill/>
        </p:spPr>
        <p:txBody>
          <a:bodyPr wrap="square" lIns="0" rIns="0" tIns="0" bIns="0" anchor="ctr">
            <a:spAutoFit/>
          </a:bodyPr>
          <a:lstStyle/>
          <a:p>
            <a:r>
              <a:rPr sz="1200" b="1" i="0">
                <a:solidFill>
                  <a:srgbClr val="FFFFFF"/>
                </a:solidFill>
                <a:latin typeface="Source Sans Pro"/>
              </a:rPr>
              <a:t>Property ▼ 5.8%: </a:t>
            </a:r>
            <a:r>
              <a:rPr sz="1200" b="0" i="0">
                <a:solidFill>
                  <a:srgbClr val="FFFFFF"/>
                </a:solidFill>
                <a:latin typeface="Source Sans Pro"/>
              </a:rPr>
              <a:t>capacity is back and some cat risk moved from E&amp;S to standard markets.</a:t>
            </a:r>
          </a:p>
        </p:txBody>
      </p:sp>
      <p:sp>
        <p:nvSpPr>
          <p:cNvPr id="26" name="Auto icon circle"/>
          <p:cNvSpPr/>
          <p:nvPr/>
        </p:nvSpPr>
        <p:spPr>
          <a:xfrm>
            <a:off x="5943600" y="4617720"/>
            <a:ext cx="457200" cy="45720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Auto icon" descr="Auto icon"/>
          <p:cNvPicPr>
            <a:picLocks noChangeAspect="1"/>
          </p:cNvPicPr>
          <p:nvPr/>
        </p:nvPicPr>
        <p:blipFill>
          <a:blip r:embed="rId4"/>
          <a:stretch>
            <a:fillRect/>
          </a:stretch>
        </p:blipFill>
        <p:spPr>
          <a:xfrm>
            <a:off x="6053328" y="4727448"/>
            <a:ext cx="237744" cy="237744"/>
          </a:xfrm>
          <a:prstGeom prst="rect">
            <a:avLst/>
          </a:prstGeom>
        </p:spPr>
      </p:pic>
      <p:sp>
        <p:nvSpPr>
          <p:cNvPr id="28" name="Auto note"/>
          <p:cNvSpPr txBox="1"/>
          <p:nvPr/>
        </p:nvSpPr>
        <p:spPr>
          <a:xfrm>
            <a:off x="6537960" y="4645152"/>
            <a:ext cx="4782312" cy="411480"/>
          </a:xfrm>
          <a:prstGeom prst="rect">
            <a:avLst/>
          </a:prstGeom>
          <a:noFill/>
        </p:spPr>
        <p:txBody>
          <a:bodyPr wrap="square" lIns="0" rIns="0" tIns="0" bIns="0" anchor="ctr">
            <a:spAutoFit/>
          </a:bodyPr>
          <a:lstStyle/>
          <a:p>
            <a:r>
              <a:rPr sz="1200" b="1" i="0">
                <a:solidFill>
                  <a:srgbClr val="FFFFFF"/>
                </a:solidFill>
                <a:latin typeface="Source Sans Pro"/>
              </a:rPr>
              <a:t>Auto ▲ 5.8%: </a:t>
            </a:r>
            <a:r>
              <a:rPr sz="1200" b="0" i="0">
                <a:solidFill>
                  <a:srgbClr val="FFFFFF"/>
                </a:solidFill>
                <a:latin typeface="Source Sans Pro"/>
              </a:rPr>
              <a:t>59th straight quarterly increase, driven by claim severity and litigation.</a:t>
            </a:r>
          </a:p>
        </p:txBody>
      </p:sp>
      <p:sp>
        <p:nvSpPr>
          <p:cNvPr id="29" name="Bottom line card"/>
          <p:cNvSpPr/>
          <p:nvPr/>
        </p:nvSpPr>
        <p:spPr>
          <a:xfrm>
            <a:off x="960120" y="5166360"/>
            <a:ext cx="10360152" cy="54864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ttom line text"/>
          <p:cNvSpPr txBox="1"/>
          <p:nvPr/>
        </p:nvSpPr>
        <p:spPr>
          <a:xfrm>
            <a:off x="1188720" y="5166360"/>
            <a:ext cx="9902952" cy="548640"/>
          </a:xfrm>
          <a:prstGeom prst="rect">
            <a:avLst/>
          </a:prstGeom>
          <a:noFill/>
        </p:spPr>
        <p:txBody>
          <a:bodyPr wrap="square" lIns="0" rIns="0" tIns="0" bIns="0" anchor="ctr">
            <a:spAutoFit/>
          </a:bodyPr>
          <a:lstStyle/>
          <a:p>
            <a:r>
              <a:rPr sz="1200" b="1" i="0" spc="150">
                <a:solidFill>
                  <a:srgbClr val="FFC666"/>
                </a:solidFill>
                <a:latin typeface="Source Sans Pro"/>
              </a:rPr>
              <a:t>THE BOTTOM LINE   </a:t>
            </a:r>
            <a:r>
              <a:rPr sz="1400" b="0" i="0">
                <a:solidFill>
                  <a:srgbClr val="FFFFFF"/>
                </a:solidFill>
                <a:latin typeface="Source Sans Pro"/>
              </a:rPr>
              <a:t>Expect relief on property lines, but continued pressure on fleet and auto exposures.</a:t>
            </a:r>
          </a:p>
        </p:txBody>
      </p:sp>
      <p:sp>
        <p:nvSpPr>
          <p:cNvPr id="31" name="Source"/>
          <p:cNvSpPr txBox="1"/>
          <p:nvPr/>
        </p:nvSpPr>
        <p:spPr>
          <a:xfrm>
            <a:off x="960120" y="5852160"/>
            <a:ext cx="10360152" cy="274320"/>
          </a:xfrm>
          <a:prstGeom prst="rect">
            <a:avLst/>
          </a:prstGeom>
          <a:noFill/>
        </p:spPr>
        <p:txBody>
          <a:bodyPr wrap="square" lIns="0" rIns="0" tIns="0" bIns="0" anchor="t">
            <a:spAutoFit/>
          </a:bodyPr>
          <a:lstStyle/>
          <a:p>
            <a:r>
              <a:rPr sz="1000" b="0" i="1">
                <a:solidFill>
                  <a:srgbClr val="BFC7CB"/>
                </a:solidFill>
                <a:latin typeface="Source Sans Pro"/>
              </a:rPr>
              <a:t>Source: The Council of Insurance Agents &amp; Brokers, Q1 2026 P&amp;C Market Survey</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Strategy matters more than price</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EMPLOYEE BENEFITS + HIGH-NET-WORTH</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Rising pharmacy costs and sharper underwriting reward a proactive approach.</a:t>
            </a:r>
          </a:p>
        </p:txBody>
      </p:sp>
      <p:sp>
        <p:nvSpPr>
          <p:cNvPr id="9" name="Employee Benefits panel"/>
          <p:cNvSpPr/>
          <p:nvPr/>
        </p:nvSpPr>
        <p:spPr>
          <a:xfrm>
            <a:off x="960120" y="1920240"/>
            <a:ext cx="5029200" cy="38404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mployee Benefits icon circle"/>
          <p:cNvSpPr/>
          <p:nvPr/>
        </p:nvSpPr>
        <p:spPr>
          <a:xfrm>
            <a:off x="1188720" y="214884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Employee Benefits icon" descr="Employee Benefits icon"/>
          <p:cNvPicPr>
            <a:picLocks noChangeAspect="1"/>
          </p:cNvPicPr>
          <p:nvPr/>
        </p:nvPicPr>
        <p:blipFill>
          <a:blip r:embed="rId2"/>
          <a:stretch>
            <a:fillRect/>
          </a:stretch>
        </p:blipFill>
        <p:spPr>
          <a:xfrm>
            <a:off x="1320393" y="2280513"/>
            <a:ext cx="285292" cy="285292"/>
          </a:xfrm>
          <a:prstGeom prst="rect">
            <a:avLst/>
          </a:prstGeom>
        </p:spPr>
      </p:pic>
      <p:sp>
        <p:nvSpPr>
          <p:cNvPr id="12" name="Employee Benefits header"/>
          <p:cNvSpPr txBox="1"/>
          <p:nvPr/>
        </p:nvSpPr>
        <p:spPr>
          <a:xfrm>
            <a:off x="1874519" y="2176272"/>
            <a:ext cx="3931920" cy="274320"/>
          </a:xfrm>
          <a:prstGeom prst="rect">
            <a:avLst/>
          </a:prstGeom>
          <a:noFill/>
        </p:spPr>
        <p:txBody>
          <a:bodyPr wrap="square" lIns="0" rIns="0" tIns="0" bIns="0" anchor="t">
            <a:spAutoFit/>
          </a:bodyPr>
          <a:lstStyle/>
          <a:p>
            <a:r>
              <a:rPr sz="1800" b="1" i="0">
                <a:solidFill>
                  <a:srgbClr val="153243"/>
                </a:solidFill>
                <a:latin typeface="Source Sans Pro"/>
              </a:rPr>
              <a:t>Employee Benefits</a:t>
            </a:r>
          </a:p>
        </p:txBody>
      </p:sp>
      <p:sp>
        <p:nvSpPr>
          <p:cNvPr id="13" name="Employee Benefits subhead"/>
          <p:cNvSpPr txBox="1"/>
          <p:nvPr/>
        </p:nvSpPr>
        <p:spPr>
          <a:xfrm>
            <a:off x="1874519" y="2468880"/>
            <a:ext cx="3931920" cy="274320"/>
          </a:xfrm>
          <a:prstGeom prst="rect">
            <a:avLst/>
          </a:prstGeom>
          <a:noFill/>
        </p:spPr>
        <p:txBody>
          <a:bodyPr wrap="square" lIns="0" rIns="0" tIns="0" bIns="0" anchor="t">
            <a:spAutoFit/>
          </a:bodyPr>
          <a:lstStyle/>
          <a:p>
            <a:r>
              <a:rPr sz="1300" b="0" i="0">
                <a:solidFill>
                  <a:srgbClr val="366E8E"/>
                </a:solidFill>
                <a:latin typeface="Source Sans Pro"/>
              </a:rPr>
              <a:t>Pharmacy is now the dominant cost driver</a:t>
            </a:r>
          </a:p>
        </p:txBody>
      </p:sp>
      <p:sp>
        <p:nvSpPr>
          <p:cNvPr id="14" name="Bottom line card"/>
          <p:cNvSpPr/>
          <p:nvPr/>
        </p:nvSpPr>
        <p:spPr>
          <a:xfrm>
            <a:off x="1188720" y="4754880"/>
            <a:ext cx="4572000" cy="82296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ottom line text"/>
          <p:cNvSpPr txBox="1"/>
          <p:nvPr/>
        </p:nvSpPr>
        <p:spPr>
          <a:xfrm>
            <a:off x="1371600" y="4754880"/>
            <a:ext cx="4206240" cy="822960"/>
          </a:xfrm>
          <a:prstGeom prst="rect">
            <a:avLst/>
          </a:prstGeom>
          <a:noFill/>
        </p:spPr>
        <p:txBody>
          <a:bodyPr wrap="square" lIns="0" rIns="0" tIns="0" bIns="0" anchor="ctr">
            <a:spAutoFit/>
          </a:bodyPr>
          <a:lstStyle/>
          <a:p>
            <a:r>
              <a:rPr sz="1100" b="1" i="0" spc="150">
                <a:solidFill>
                  <a:srgbClr val="FFC666"/>
                </a:solidFill>
                <a:latin typeface="Source Sans Pro"/>
              </a:rPr>
              <a:t>THE BOTTOM LINE  </a:t>
            </a:r>
            <a:r>
              <a:rPr sz="1300" b="0" i="0">
                <a:solidFill>
                  <a:srgbClr val="FFFFFF"/>
                </a:solidFill>
                <a:latin typeface="Source Sans Pro"/>
              </a:rPr>
              <a:t>The gap is strategic, not informational. A data-driven review is overdue.</a:t>
            </a:r>
          </a:p>
        </p:txBody>
      </p:sp>
      <p:sp>
        <p:nvSpPr>
          <p:cNvPr id="16" name="Source"/>
          <p:cNvSpPr txBox="1"/>
          <p:nvPr/>
        </p:nvSpPr>
        <p:spPr>
          <a:xfrm>
            <a:off x="960120" y="5852160"/>
            <a:ext cx="5029200" cy="274320"/>
          </a:xfrm>
          <a:prstGeom prst="rect">
            <a:avLst/>
          </a:prstGeom>
          <a:noFill/>
        </p:spPr>
        <p:txBody>
          <a:bodyPr wrap="square" lIns="0" rIns="0" tIns="0" bIns="0" anchor="t">
            <a:spAutoFit/>
          </a:bodyPr>
          <a:lstStyle/>
          <a:p>
            <a:r>
              <a:rPr sz="1000" b="0" i="1">
                <a:solidFill>
                  <a:srgbClr val="BFC7CB"/>
                </a:solidFill>
                <a:latin typeface="Source Sans Pro"/>
              </a:rPr>
              <a:t>Source: Assurex Global, Employee Benefits Market Check Survey, August 2026</a:t>
            </a:r>
          </a:p>
        </p:txBody>
      </p:sp>
      <p:sp>
        <p:nvSpPr>
          <p:cNvPr id="17" name="High-Net-Worth panel"/>
          <p:cNvSpPr/>
          <p:nvPr/>
        </p:nvSpPr>
        <p:spPr>
          <a:xfrm>
            <a:off x="6291072" y="1920240"/>
            <a:ext cx="5029200" cy="38404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igh-Net-Worth icon circle"/>
          <p:cNvSpPr/>
          <p:nvPr/>
        </p:nvSpPr>
        <p:spPr>
          <a:xfrm>
            <a:off x="6519672" y="214884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High-Net-Worth icon" descr="High-Net-Worth icon"/>
          <p:cNvPicPr>
            <a:picLocks noChangeAspect="1"/>
          </p:cNvPicPr>
          <p:nvPr/>
        </p:nvPicPr>
        <p:blipFill>
          <a:blip r:embed="rId3"/>
          <a:stretch>
            <a:fillRect/>
          </a:stretch>
        </p:blipFill>
        <p:spPr>
          <a:xfrm>
            <a:off x="6651345" y="2280513"/>
            <a:ext cx="285292" cy="285292"/>
          </a:xfrm>
          <a:prstGeom prst="rect">
            <a:avLst/>
          </a:prstGeom>
        </p:spPr>
      </p:pic>
      <p:sp>
        <p:nvSpPr>
          <p:cNvPr id="20" name="High-Net-Worth header"/>
          <p:cNvSpPr txBox="1"/>
          <p:nvPr/>
        </p:nvSpPr>
        <p:spPr>
          <a:xfrm>
            <a:off x="7205472" y="2176272"/>
            <a:ext cx="3931920" cy="274320"/>
          </a:xfrm>
          <a:prstGeom prst="rect">
            <a:avLst/>
          </a:prstGeom>
          <a:noFill/>
        </p:spPr>
        <p:txBody>
          <a:bodyPr wrap="square" lIns="0" rIns="0" tIns="0" bIns="0" anchor="t">
            <a:spAutoFit/>
          </a:bodyPr>
          <a:lstStyle/>
          <a:p>
            <a:r>
              <a:rPr sz="1800" b="1" i="0">
                <a:solidFill>
                  <a:srgbClr val="153243"/>
                </a:solidFill>
                <a:latin typeface="Source Sans Pro"/>
              </a:rPr>
              <a:t>High-Net-Worth</a:t>
            </a:r>
          </a:p>
        </p:txBody>
      </p:sp>
      <p:sp>
        <p:nvSpPr>
          <p:cNvPr id="21" name="High-Net-Worth subhead"/>
          <p:cNvSpPr txBox="1"/>
          <p:nvPr/>
        </p:nvSpPr>
        <p:spPr>
          <a:xfrm>
            <a:off x="7205472" y="2468880"/>
            <a:ext cx="3931920" cy="274320"/>
          </a:xfrm>
          <a:prstGeom prst="rect">
            <a:avLst/>
          </a:prstGeom>
          <a:noFill/>
        </p:spPr>
        <p:txBody>
          <a:bodyPr wrap="square" lIns="0" rIns="0" tIns="0" bIns="0" anchor="t">
            <a:spAutoFit/>
          </a:bodyPr>
          <a:lstStyle/>
          <a:p>
            <a:r>
              <a:rPr sz="1300" b="0" i="0">
                <a:solidFill>
                  <a:srgbClr val="366E8E"/>
                </a:solidFill>
                <a:latin typeface="Source Sans Pro"/>
              </a:rPr>
              <a:t>Capacity is improving, underwriting is sharper</a:t>
            </a:r>
          </a:p>
        </p:txBody>
      </p:sp>
      <p:sp>
        <p:nvSpPr>
          <p:cNvPr id="22" name="Bottom line card"/>
          <p:cNvSpPr/>
          <p:nvPr/>
        </p:nvSpPr>
        <p:spPr>
          <a:xfrm>
            <a:off x="6519672" y="4754880"/>
            <a:ext cx="4572000" cy="82296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line text"/>
          <p:cNvSpPr txBox="1"/>
          <p:nvPr/>
        </p:nvSpPr>
        <p:spPr>
          <a:xfrm>
            <a:off x="6702552" y="4754880"/>
            <a:ext cx="4206240" cy="822960"/>
          </a:xfrm>
          <a:prstGeom prst="rect">
            <a:avLst/>
          </a:prstGeom>
          <a:noFill/>
        </p:spPr>
        <p:txBody>
          <a:bodyPr wrap="square" lIns="0" rIns="0" tIns="0" bIns="0" anchor="ctr">
            <a:spAutoFit/>
          </a:bodyPr>
          <a:lstStyle/>
          <a:p>
            <a:r>
              <a:rPr sz="1100" b="1" i="0" spc="150">
                <a:solidFill>
                  <a:srgbClr val="FFC666"/>
                </a:solidFill>
                <a:latin typeface="Source Sans Pro"/>
              </a:rPr>
              <a:t>THE BOTTOM LINE  </a:t>
            </a:r>
            <a:r>
              <a:rPr sz="1300" b="0" i="0">
                <a:solidFill>
                  <a:srgbClr val="FFFFFF"/>
                </a:solidFill>
                <a:latin typeface="Source Sans Pro"/>
              </a:rPr>
              <a:t>Insurability is now an asset families need to actively manage.</a:t>
            </a:r>
          </a:p>
        </p:txBody>
      </p:sp>
      <p:sp>
        <p:nvSpPr>
          <p:cNvPr id="24" name="Source"/>
          <p:cNvSpPr txBox="1"/>
          <p:nvPr/>
        </p:nvSpPr>
        <p:spPr>
          <a:xfrm>
            <a:off x="6291072" y="5852160"/>
            <a:ext cx="5029200" cy="274320"/>
          </a:xfrm>
          <a:prstGeom prst="rect">
            <a:avLst/>
          </a:prstGeom>
          <a:noFill/>
        </p:spPr>
        <p:txBody>
          <a:bodyPr wrap="square" lIns="0" rIns="0" tIns="0" bIns="0" anchor="t">
            <a:spAutoFit/>
          </a:bodyPr>
          <a:lstStyle/>
          <a:p>
            <a:r>
              <a:rPr sz="1000" b="0" i="1">
                <a:solidFill>
                  <a:srgbClr val="BFC7CB"/>
                </a:solidFill>
                <a:latin typeface="Source Sans Pro"/>
              </a:rPr>
              <a:t>Source: Dowling &amp; Partners, HNW Insurance Market Research Report</a:t>
            </a:r>
          </a:p>
        </p:txBody>
      </p:sp>
      <p:sp>
        <p:nvSpPr>
          <p:cNvPr id="25" name="Benefit stat card 1"/>
          <p:cNvSpPr/>
          <p:nvPr/>
        </p:nvSpPr>
        <p:spPr>
          <a:xfrm>
            <a:off x="1188720" y="2926080"/>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enefit stat 1"/>
          <p:cNvSpPr txBox="1"/>
          <p:nvPr/>
        </p:nvSpPr>
        <p:spPr>
          <a:xfrm>
            <a:off x="1325880" y="2980944"/>
            <a:ext cx="1965960" cy="320040"/>
          </a:xfrm>
          <a:prstGeom prst="rect">
            <a:avLst/>
          </a:prstGeom>
          <a:noFill/>
        </p:spPr>
        <p:txBody>
          <a:bodyPr wrap="square" lIns="0" rIns="0" tIns="0" bIns="0" anchor="t">
            <a:spAutoFit/>
          </a:bodyPr>
          <a:lstStyle/>
          <a:p>
            <a:r>
              <a:rPr sz="2000" b="1" i="0">
                <a:solidFill>
                  <a:srgbClr val="153243"/>
                </a:solidFill>
                <a:latin typeface="Playfair Display"/>
              </a:rPr>
              <a:t>30%+</a:t>
            </a:r>
          </a:p>
        </p:txBody>
      </p:sp>
      <p:sp>
        <p:nvSpPr>
          <p:cNvPr id="27" name="Benefit label 1"/>
          <p:cNvSpPr txBox="1"/>
          <p:nvPr/>
        </p:nvSpPr>
        <p:spPr>
          <a:xfrm>
            <a:off x="1325880" y="3310128"/>
            <a:ext cx="1965960" cy="384048"/>
          </a:xfrm>
          <a:prstGeom prst="rect">
            <a:avLst/>
          </a:prstGeom>
          <a:noFill/>
        </p:spPr>
        <p:txBody>
          <a:bodyPr wrap="square" lIns="0" rIns="0" tIns="0" bIns="0" anchor="t">
            <a:spAutoFit/>
          </a:bodyPr>
          <a:lstStyle/>
          <a:p>
            <a:r>
              <a:rPr sz="1100" b="0" i="0">
                <a:solidFill>
                  <a:srgbClr val="153243"/>
                </a:solidFill>
                <a:latin typeface="Source Sans Pro"/>
              </a:rPr>
              <a:t>pharmacy share of medical spend, for some</a:t>
            </a:r>
          </a:p>
        </p:txBody>
      </p:sp>
      <p:sp>
        <p:nvSpPr>
          <p:cNvPr id="28" name="Benefit stat card 2"/>
          <p:cNvSpPr/>
          <p:nvPr/>
        </p:nvSpPr>
        <p:spPr>
          <a:xfrm>
            <a:off x="3566160" y="2926080"/>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enefit stat 2"/>
          <p:cNvSpPr txBox="1"/>
          <p:nvPr/>
        </p:nvSpPr>
        <p:spPr>
          <a:xfrm>
            <a:off x="3703320" y="2980944"/>
            <a:ext cx="1965960" cy="320040"/>
          </a:xfrm>
          <a:prstGeom prst="rect">
            <a:avLst/>
          </a:prstGeom>
          <a:noFill/>
        </p:spPr>
        <p:txBody>
          <a:bodyPr wrap="square" lIns="0" rIns="0" tIns="0" bIns="0" anchor="t">
            <a:spAutoFit/>
          </a:bodyPr>
          <a:lstStyle/>
          <a:p>
            <a:r>
              <a:rPr sz="2000" b="1" i="0">
                <a:solidFill>
                  <a:srgbClr val="153243"/>
                </a:solidFill>
                <a:latin typeface="Playfair Display"/>
              </a:rPr>
              <a:t>3 in 4</a:t>
            </a:r>
          </a:p>
        </p:txBody>
      </p:sp>
      <p:sp>
        <p:nvSpPr>
          <p:cNvPr id="30" name="Benefit label 2"/>
          <p:cNvSpPr txBox="1"/>
          <p:nvPr/>
        </p:nvSpPr>
        <p:spPr>
          <a:xfrm>
            <a:off x="3703320" y="3310128"/>
            <a:ext cx="1965960" cy="384048"/>
          </a:xfrm>
          <a:prstGeom prst="rect">
            <a:avLst/>
          </a:prstGeom>
          <a:noFill/>
        </p:spPr>
        <p:txBody>
          <a:bodyPr wrap="square" lIns="0" rIns="0" tIns="0" bIns="0" anchor="t">
            <a:spAutoFit/>
          </a:bodyPr>
          <a:lstStyle/>
          <a:p>
            <a:r>
              <a:rPr sz="1100" b="0" i="0">
                <a:solidFill>
                  <a:srgbClr val="153243"/>
                </a:solidFill>
                <a:latin typeface="Source Sans Pro"/>
              </a:rPr>
              <a:t>cite drug costs as their top pharmacy challenge</a:t>
            </a:r>
          </a:p>
        </p:txBody>
      </p:sp>
      <p:sp>
        <p:nvSpPr>
          <p:cNvPr id="31" name="Benefit stat card 3"/>
          <p:cNvSpPr/>
          <p:nvPr/>
        </p:nvSpPr>
        <p:spPr>
          <a:xfrm>
            <a:off x="1188720" y="3822191"/>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enefit stat 3"/>
          <p:cNvSpPr txBox="1"/>
          <p:nvPr/>
        </p:nvSpPr>
        <p:spPr>
          <a:xfrm>
            <a:off x="1325880" y="3877055"/>
            <a:ext cx="1965960" cy="320040"/>
          </a:xfrm>
          <a:prstGeom prst="rect">
            <a:avLst/>
          </a:prstGeom>
          <a:noFill/>
        </p:spPr>
        <p:txBody>
          <a:bodyPr wrap="square" lIns="0" rIns="0" tIns="0" bIns="0" anchor="t">
            <a:spAutoFit/>
          </a:bodyPr>
          <a:lstStyle/>
          <a:p>
            <a:r>
              <a:rPr sz="2000" b="1" i="0">
                <a:solidFill>
                  <a:srgbClr val="153243"/>
                </a:solidFill>
                <a:latin typeface="Playfair Display"/>
              </a:rPr>
              <a:t>~6 in 10</a:t>
            </a:r>
          </a:p>
        </p:txBody>
      </p:sp>
      <p:sp>
        <p:nvSpPr>
          <p:cNvPr id="33" name="Benefit label 3"/>
          <p:cNvSpPr txBox="1"/>
          <p:nvPr/>
        </p:nvSpPr>
        <p:spPr>
          <a:xfrm>
            <a:off x="1325880" y="4206240"/>
            <a:ext cx="1965960" cy="384048"/>
          </a:xfrm>
          <a:prstGeom prst="rect">
            <a:avLst/>
          </a:prstGeom>
          <a:noFill/>
        </p:spPr>
        <p:txBody>
          <a:bodyPr wrap="square" lIns="0" rIns="0" tIns="0" bIns="0" anchor="t">
            <a:spAutoFit/>
          </a:bodyPr>
          <a:lstStyle/>
          <a:p>
            <a:r>
              <a:rPr sz="1100" b="0" i="0">
                <a:solidFill>
                  <a:srgbClr val="153243"/>
                </a:solidFill>
                <a:latin typeface="Source Sans Pro"/>
              </a:rPr>
              <a:t>feel neutral or unprepared for future cost trends</a:t>
            </a:r>
          </a:p>
        </p:txBody>
      </p:sp>
      <p:sp>
        <p:nvSpPr>
          <p:cNvPr id="34" name="Benefit stat card 4"/>
          <p:cNvSpPr/>
          <p:nvPr/>
        </p:nvSpPr>
        <p:spPr>
          <a:xfrm>
            <a:off x="3566160" y="3822191"/>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enefit stat 4"/>
          <p:cNvSpPr txBox="1"/>
          <p:nvPr/>
        </p:nvSpPr>
        <p:spPr>
          <a:xfrm>
            <a:off x="3703320" y="3877055"/>
            <a:ext cx="1965960" cy="320040"/>
          </a:xfrm>
          <a:prstGeom prst="rect">
            <a:avLst/>
          </a:prstGeom>
          <a:noFill/>
        </p:spPr>
        <p:txBody>
          <a:bodyPr wrap="square" lIns="0" rIns="0" tIns="0" bIns="0" anchor="t">
            <a:spAutoFit/>
          </a:bodyPr>
          <a:lstStyle/>
          <a:p>
            <a:r>
              <a:rPr sz="2000" b="1" i="0">
                <a:solidFill>
                  <a:srgbClr val="153243"/>
                </a:solidFill>
                <a:latin typeface="Playfair Display"/>
              </a:rPr>
              <a:t>43%</a:t>
            </a:r>
          </a:p>
        </p:txBody>
      </p:sp>
      <p:sp>
        <p:nvSpPr>
          <p:cNvPr id="36" name="Benefit label 4"/>
          <p:cNvSpPr txBox="1"/>
          <p:nvPr/>
        </p:nvSpPr>
        <p:spPr>
          <a:xfrm>
            <a:off x="3703320" y="4206240"/>
            <a:ext cx="1965960" cy="384048"/>
          </a:xfrm>
          <a:prstGeom prst="rect">
            <a:avLst/>
          </a:prstGeom>
          <a:noFill/>
        </p:spPr>
        <p:txBody>
          <a:bodyPr wrap="square" lIns="0" rIns="0" tIns="0" bIns="0" anchor="t">
            <a:spAutoFit/>
          </a:bodyPr>
          <a:lstStyle/>
          <a:p>
            <a:r>
              <a:rPr sz="1100" b="0" i="0">
                <a:solidFill>
                  <a:srgbClr val="153243"/>
                </a:solidFill>
                <a:latin typeface="Source Sans Pro"/>
              </a:rPr>
              <a:t>unsure when pharmacy strategy was last reviewed</a:t>
            </a:r>
          </a:p>
        </p:txBody>
      </p:sp>
      <p:sp>
        <p:nvSpPr>
          <p:cNvPr id="37" name="HNW row icon 1 circle"/>
          <p:cNvSpPr/>
          <p:nvPr/>
        </p:nvSpPr>
        <p:spPr>
          <a:xfrm>
            <a:off x="6519672" y="2834640"/>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HNW row icon 1" descr="HNW row icon 1"/>
          <p:cNvPicPr>
            <a:picLocks noChangeAspect="1"/>
          </p:cNvPicPr>
          <p:nvPr/>
        </p:nvPicPr>
        <p:blipFill>
          <a:blip r:embed="rId4"/>
          <a:stretch>
            <a:fillRect/>
          </a:stretch>
        </p:blipFill>
        <p:spPr>
          <a:xfrm>
            <a:off x="6629400" y="2944368"/>
            <a:ext cx="237744" cy="237744"/>
          </a:xfrm>
          <a:prstGeom prst="rect">
            <a:avLst/>
          </a:prstGeom>
        </p:spPr>
      </p:pic>
      <p:sp>
        <p:nvSpPr>
          <p:cNvPr id="39" name="HNW row text 1"/>
          <p:cNvSpPr txBox="1"/>
          <p:nvPr/>
        </p:nvSpPr>
        <p:spPr>
          <a:xfrm>
            <a:off x="7132320" y="2834640"/>
            <a:ext cx="4023360" cy="566928"/>
          </a:xfrm>
          <a:prstGeom prst="rect">
            <a:avLst/>
          </a:prstGeom>
          <a:noFill/>
        </p:spPr>
        <p:txBody>
          <a:bodyPr wrap="square" lIns="0" rIns="0" tIns="0" bIns="0" anchor="t">
            <a:spAutoFit/>
          </a:bodyPr>
          <a:lstStyle/>
          <a:p>
            <a:r>
              <a:rPr sz="1400" b="1" i="0">
                <a:solidFill>
                  <a:srgbClr val="153243"/>
                </a:solidFill>
                <a:latin typeface="Source Sans Pro"/>
              </a:rPr>
              <a:t>Quality over price</a:t>
            </a:r>
          </a:p>
          <a:p>
            <a:r>
              <a:rPr sz="1100" b="0" i="0">
                <a:solidFill>
                  <a:srgbClr val="153243"/>
                </a:solidFill>
                <a:latin typeface="Source Sans Pro"/>
              </a:rPr>
              <a:t>Carriers reward loss prevention and accurate property data.</a:t>
            </a:r>
          </a:p>
        </p:txBody>
      </p:sp>
      <p:sp>
        <p:nvSpPr>
          <p:cNvPr id="40" name="HNW row icon 2 circle"/>
          <p:cNvSpPr/>
          <p:nvPr/>
        </p:nvSpPr>
        <p:spPr>
          <a:xfrm>
            <a:off x="6519672" y="3456432"/>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HNW row icon 2" descr="HNW row icon 2"/>
          <p:cNvPicPr>
            <a:picLocks noChangeAspect="1"/>
          </p:cNvPicPr>
          <p:nvPr/>
        </p:nvPicPr>
        <p:blipFill>
          <a:blip r:embed="rId5"/>
          <a:stretch>
            <a:fillRect/>
          </a:stretch>
        </p:blipFill>
        <p:spPr>
          <a:xfrm>
            <a:off x="6629400" y="3566160"/>
            <a:ext cx="237744" cy="237744"/>
          </a:xfrm>
          <a:prstGeom prst="rect">
            <a:avLst/>
          </a:prstGeom>
        </p:spPr>
      </p:pic>
      <p:sp>
        <p:nvSpPr>
          <p:cNvPr id="42" name="HNW row text 2"/>
          <p:cNvSpPr txBox="1"/>
          <p:nvPr/>
        </p:nvSpPr>
        <p:spPr>
          <a:xfrm>
            <a:off x="7132320" y="3456432"/>
            <a:ext cx="4023360" cy="566928"/>
          </a:xfrm>
          <a:prstGeom prst="rect">
            <a:avLst/>
          </a:prstGeom>
          <a:noFill/>
        </p:spPr>
        <p:txBody>
          <a:bodyPr wrap="square" lIns="0" rIns="0" tIns="0" bIns="0" anchor="t">
            <a:spAutoFit/>
          </a:bodyPr>
          <a:lstStyle/>
          <a:p>
            <a:r>
              <a:rPr sz="1400" b="1" i="0">
                <a:solidFill>
                  <a:srgbClr val="153243"/>
                </a:solidFill>
                <a:latin typeface="Source Sans Pro"/>
              </a:rPr>
              <a:t>New core factors</a:t>
            </a:r>
          </a:p>
          <a:p>
            <a:r>
              <a:rPr sz="1100" b="0" i="0">
                <a:solidFill>
                  <a:srgbClr val="153243"/>
                </a:solidFill>
                <a:latin typeface="Source Sans Pro"/>
              </a:rPr>
              <a:t>Cat exposure, rebuild cost inflation, and liability severity.</a:t>
            </a:r>
          </a:p>
        </p:txBody>
      </p:sp>
      <p:sp>
        <p:nvSpPr>
          <p:cNvPr id="43" name="HNW row icon 3 circle"/>
          <p:cNvSpPr/>
          <p:nvPr/>
        </p:nvSpPr>
        <p:spPr>
          <a:xfrm>
            <a:off x="6519672" y="407822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HNW row icon 3" descr="HNW row icon 3"/>
          <p:cNvPicPr>
            <a:picLocks noChangeAspect="1"/>
          </p:cNvPicPr>
          <p:nvPr/>
        </p:nvPicPr>
        <p:blipFill>
          <a:blip r:embed="rId6"/>
          <a:stretch>
            <a:fillRect/>
          </a:stretch>
        </p:blipFill>
        <p:spPr>
          <a:xfrm>
            <a:off x="6629400" y="4187952"/>
            <a:ext cx="237744" cy="237744"/>
          </a:xfrm>
          <a:prstGeom prst="rect">
            <a:avLst/>
          </a:prstGeom>
        </p:spPr>
      </p:pic>
      <p:sp>
        <p:nvSpPr>
          <p:cNvPr id="45" name="HNW row text 3"/>
          <p:cNvSpPr txBox="1"/>
          <p:nvPr/>
        </p:nvSpPr>
        <p:spPr>
          <a:xfrm>
            <a:off x="7132320" y="4078224"/>
            <a:ext cx="4023360" cy="566928"/>
          </a:xfrm>
          <a:prstGeom prst="rect">
            <a:avLst/>
          </a:prstGeom>
          <a:noFill/>
        </p:spPr>
        <p:txBody>
          <a:bodyPr wrap="square" lIns="0" rIns="0" tIns="0" bIns="0" anchor="t">
            <a:spAutoFit/>
          </a:bodyPr>
          <a:lstStyle/>
          <a:p>
            <a:r>
              <a:rPr sz="1400" b="1" i="0">
                <a:solidFill>
                  <a:srgbClr val="153243"/>
                </a:solidFill>
                <a:latin typeface="Source Sans Pro"/>
              </a:rPr>
              <a:t>Portfolio-level thinking</a:t>
            </a:r>
          </a:p>
          <a:p>
            <a:r>
              <a:rPr sz="1100" b="0" i="0">
                <a:solidFill>
                  <a:srgbClr val="153243"/>
                </a:solidFill>
                <a:latin typeface="Source Sans Pro"/>
              </a:rPr>
              <a:t>What separates strong placements from weak ones.</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1_Office Theme">
  <a:themeElements>
    <a:clrScheme name="CCIG Brand Standard">
      <a:dk1>
        <a:srgbClr val="153243"/>
      </a:dk1>
      <a:lt1>
        <a:srgbClr val="FFFFFF"/>
      </a:lt1>
      <a:dk2>
        <a:srgbClr val="153243"/>
      </a:dk2>
      <a:lt2>
        <a:srgbClr val="EDECED"/>
      </a:lt2>
      <a:accent1>
        <a:srgbClr val="153243"/>
      </a:accent1>
      <a:accent2>
        <a:srgbClr val="FFC666"/>
      </a:accent2>
      <a:accent3>
        <a:srgbClr val="BFC7CB"/>
      </a:accent3>
      <a:accent4>
        <a:srgbClr val="8FB24E"/>
      </a:accent4>
      <a:accent5>
        <a:srgbClr val="366E8E"/>
      </a:accent5>
      <a:accent6>
        <a:srgbClr val="153243"/>
      </a:accent6>
      <a:hlink>
        <a:srgbClr val="4472C4"/>
      </a:hlink>
      <a:folHlink>
        <a:srgbClr val="954F72"/>
      </a:folHlink>
    </a:clrScheme>
    <a:fontScheme name="CCIG Standard Fonts">
      <a:majorFont>
        <a:latin typeface="Playfair Display Bold italic"/>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losing Slide">
  <a:themeElements>
    <a:clrScheme name="CCIG Pallet">
      <a:dk1>
        <a:srgbClr val="FFFFFF"/>
      </a:dk1>
      <a:lt1>
        <a:srgbClr val="153243"/>
      </a:lt1>
      <a:dk2>
        <a:srgbClr val="FFFFFF"/>
      </a:dk2>
      <a:lt2>
        <a:srgbClr val="153243"/>
      </a:lt2>
      <a:accent1>
        <a:srgbClr val="366E8E"/>
      </a:accent1>
      <a:accent2>
        <a:srgbClr val="EDECED"/>
      </a:accent2>
      <a:accent3>
        <a:srgbClr val="8FB24E"/>
      </a:accent3>
      <a:accent4>
        <a:srgbClr val="FFC666"/>
      </a:accent4>
      <a:accent5>
        <a:srgbClr val="BFC7CB"/>
      </a:accent5>
      <a:accent6>
        <a:srgbClr val="FFFFFF"/>
      </a:accent6>
      <a:hlink>
        <a:srgbClr val="FFFFFF"/>
      </a:hlink>
      <a:folHlink>
        <a:srgbClr val="FFFFFF"/>
      </a:folHlink>
    </a:clrScheme>
    <a:fontScheme name="CCIG Fonts">
      <a:majorFont>
        <a:latin typeface="Playfair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5 Pre Renewal Presentation Template DRAFT.pptx" id="{828A087C-E37D-43CB-A519-71B798F826F0}" vid="{AA9F9857-78CF-4B9F-B020-64C60EB5DBE4}"/>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14c050f-9054-4904-b6aa-0409f5b4e18f">
      <Terms xmlns="http://schemas.microsoft.com/office/infopath/2007/PartnerControls"/>
    </lcf76f155ced4ddcb4097134ff3c332f>
    <TaxCatchAll xmlns="30d15d4e-f454-4b92-8875-408134dc12c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C9725B309581840A0A100831E684272" ma:contentTypeVersion="20" ma:contentTypeDescription="Create a new document." ma:contentTypeScope="" ma:versionID="27caaa922bf644da1ac0edb9850b251b">
  <xsd:schema xmlns:xsd="http://www.w3.org/2001/XMLSchema" xmlns:xs="http://www.w3.org/2001/XMLSchema" xmlns:p="http://schemas.microsoft.com/office/2006/metadata/properties" xmlns:ns2="d14c050f-9054-4904-b6aa-0409f5b4e18f" xmlns:ns3="30d15d4e-f454-4b92-8875-408134dc12c6" targetNamespace="http://schemas.microsoft.com/office/2006/metadata/properties" ma:root="true" ma:fieldsID="09138be5e88f50bb9190cdd3e4074cd5" ns2:_="" ns3:_="">
    <xsd:import namespace="d14c050f-9054-4904-b6aa-0409f5b4e18f"/>
    <xsd:import namespace="30d15d4e-f454-4b92-8875-408134dc12c6"/>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3:TaxCatchAll" minOccurs="0"/>
                <xsd:element ref="ns2:MediaServiceGenerationTime" minOccurs="0"/>
                <xsd:element ref="ns2:MediaServiceEventHashCode" minOccurs="0"/>
                <xsd:element ref="ns2:lcf76f155ced4ddcb4097134ff3c332f"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4c050f-9054-4904-b6aa-0409f5b4e1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4f06319-ea36-4de0-a4ff-0b283733ffbe"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BillingMetadata" ma:index="25"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0d15d4e-f454-4b92-8875-408134dc12c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0bd52f1-f66a-499f-9159-e87069d78626}" ma:internalName="TaxCatchAll" ma:showField="CatchAllData" ma:web="30d15d4e-f454-4b92-8875-408134dc12c6">
      <xsd:complexType>
        <xsd:complexContent>
          <xsd:extension base="dms:MultiChoiceLookup">
            <xsd:sequence>
              <xsd:element name="Value" type="dms:Lookup" maxOccurs="unbounded" minOccurs="0" nillable="true"/>
            </xsd:sequence>
          </xsd:extension>
        </xsd:complexContent>
      </xsd:complexType>
    </xsd:element>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34FCD18-CF1F-49EB-83DE-4BD8ABBA53DE}">
  <ds:schemaRefs>
    <ds:schemaRef ds:uri="http://schemas.microsoft.com/office/2006/metadata/properties"/>
    <ds:schemaRef ds:uri="http://schemas.microsoft.com/office/infopath/2007/PartnerControls"/>
    <ds:schemaRef ds:uri="d14c050f-9054-4904-b6aa-0409f5b4e18f"/>
    <ds:schemaRef ds:uri="30d15d4e-f454-4b92-8875-408134dc12c6"/>
  </ds:schemaRefs>
</ds:datastoreItem>
</file>

<file path=customXml/itemProps2.xml><?xml version="1.0" encoding="utf-8"?>
<ds:datastoreItem xmlns:ds="http://schemas.openxmlformats.org/officeDocument/2006/customXml" ds:itemID="{4223B997-459F-4F07-80F9-0B92B3A8E13B}">
  <ds:schemaRefs>
    <ds:schemaRef ds:uri="http://schemas.microsoft.com/sharepoint/v3/contenttype/forms"/>
  </ds:schemaRefs>
</ds:datastoreItem>
</file>

<file path=customXml/itemProps3.xml><?xml version="1.0" encoding="utf-8"?>
<ds:datastoreItem xmlns:ds="http://schemas.openxmlformats.org/officeDocument/2006/customXml" ds:itemID="{624C3F88-6D58-423A-84ED-4469C477BA2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4c050f-9054-4904-b6aa-0409f5b4e18f"/>
    <ds:schemaRef ds:uri="30d15d4e-f454-4b92-8875-408134dc12c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2236</TotalTime>
  <Words>375</Words>
  <Application>Microsoft Office PowerPoint</Application>
  <PresentationFormat>Widescreen</PresentationFormat>
  <Paragraphs>88</Paragraphs>
  <Slides>9</Slides>
  <Notes>5</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9</vt:i4>
      </vt:variant>
    </vt:vector>
  </HeadingPairs>
  <TitlesOfParts>
    <vt:vector size="20" baseType="lpstr">
      <vt:lpstr>Aptos</vt:lpstr>
      <vt:lpstr>Arial</vt:lpstr>
      <vt:lpstr>Calibri</vt:lpstr>
      <vt:lpstr>Playfair Display</vt:lpstr>
      <vt:lpstr>Source Sans Pro</vt:lpstr>
      <vt:lpstr>Source Sans Pro Light</vt:lpstr>
      <vt:lpstr>Source Sans Pro Semibold</vt:lpstr>
      <vt:lpstr>Source Sans Pro Semibold</vt:lpstr>
      <vt:lpstr>Wingdings</vt:lpstr>
      <vt:lpstr>1_Office Theme</vt:lpstr>
      <vt:lpstr>Closing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Kokat</dc:creator>
  <cp:lastModifiedBy>Nick Kokat</cp:lastModifiedBy>
  <cp:revision>4</cp:revision>
  <dcterms:created xsi:type="dcterms:W3CDTF">2025-04-17T14:49:04Z</dcterms:created>
  <dcterms:modified xsi:type="dcterms:W3CDTF">2026-08-19T21:27:53Z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0x010100DC9725B309581840A0A100831E684272</vt:lpwstr>
  </property>
  <property fmtid="{D5CDD505-2E9C-101B-9397-08002B2CF9AE}" pid="3" name="MediaServiceImageTags">
    <vt:lpwstr/>
  </property>
</Properties>
</file>