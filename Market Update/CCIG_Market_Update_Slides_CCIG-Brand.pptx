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4"/>
    <p:sldMasterId id="2147483666" r:id="rId5"/>
  </p:sldMasterIdLst>
  <p:notesMasterIdLst>
    <p:notesMasterId r:id="rId15"/>
  </p:notesMasterIdLst>
  <p:sldIdLst>
    <p:sldId id="333" r:id="rId9"/>
    <p:sldId id="336" r:id="rId21"/>
    <p:sldId id="340" r:id="rId25"/>
    <p:sldId id="339" r:id="rId24"/>
    <p:sldId id="338" r:id="rId23"/>
    <p:sldId id="337"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1" d="100"/>
          <a:sy n="101" d="100"/>
        </p:scale>
        <p:origin x="912"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9" Type="http://schemas.openxmlformats.org/officeDocument/2006/relationships/slide" Target="slides/slide1.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 Id="rId20" Type="http://schemas.microsoft.com/office/2016/11/relationships/changesInfo" Target="changesInfos/changesInfo1.xml"/><Relationship Id="rId21" Type="http://schemas.openxmlformats.org/officeDocument/2006/relationships/slide" Target="slides/slide2.xml"/><Relationship Id="rId22" Type="http://schemas.openxmlformats.org/officeDocument/2006/relationships/slide" Target="slides/slide6.xml"/><Relationship Id="rId23" Type="http://schemas.openxmlformats.org/officeDocument/2006/relationships/slide" Target="slides/slide5.xml"/><Relationship Id="rId24" Type="http://schemas.openxmlformats.org/officeDocument/2006/relationships/slide" Target="slides/slide4.xml"/><Relationship Id="rId25" Type="http://schemas.openxmlformats.org/officeDocument/2006/relationships/slide" Target="slides/slide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ck Kokat" userId="501bd5f9-fd49-4fb7-abba-4150fa5f94f6" providerId="ADAL" clId="{A12145DA-1BDE-4F98-9563-DA2ED5A182AF}"/>
    <pc:docChg chg="modSld">
      <pc:chgData name="Nick Kokat" userId="501bd5f9-fd49-4fb7-abba-4150fa5f94f6" providerId="ADAL" clId="{A12145DA-1BDE-4F98-9563-DA2ED5A182AF}" dt="2026-08-19T21:27:50.639" v="22" actId="207"/>
      <pc:docMkLst>
        <pc:docMk/>
      </pc:docMkLst>
      <pc:sldChg chg="modSp mod">
        <pc:chgData name="Nick Kokat" userId="501bd5f9-fd49-4fb7-abba-4150fa5f94f6" providerId="ADAL" clId="{A12145DA-1BDE-4F98-9563-DA2ED5A182AF}" dt="2026-08-19T21:27:50.639" v="22" actId="207"/>
        <pc:sldMkLst>
          <pc:docMk/>
          <pc:sldMk cId="2458590048" sldId="260"/>
        </pc:sldMkLst>
        <pc:spChg chg="mod">
          <ac:chgData name="Nick Kokat" userId="501bd5f9-fd49-4fb7-abba-4150fa5f94f6" providerId="ADAL" clId="{A12145DA-1BDE-4F98-9563-DA2ED5A182AF}" dt="2026-08-19T21:27:50.639" v="22" actId="207"/>
          <ac:spMkLst>
            <pc:docMk/>
            <pc:sldMk cId="2458590048" sldId="260"/>
            <ac:spMk id="18" creationId="{5E1BA571-5267-EFA9-F122-1666D2F18055}"/>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Premium change (%)</c:v>
                </c:pt>
              </c:strCache>
            </c:strRef>
          </c:tx>
          <c:invertIfNegative val="0"/>
          <c:dPt>
            <c:idx val="0"/>
            <c:spPr>
              <a:solidFill>
                <a:srgbClr val="FFC666"/>
              </a:solidFill>
            </c:spPr>
          </c:dPt>
          <c:dPt>
            <c:idx val="1"/>
            <c:spPr>
              <a:solidFill>
                <a:srgbClr val="8FB24E"/>
              </a:solidFill>
            </c:spPr>
          </c:dPt>
          <c:dPt>
            <c:idx val="2"/>
            <c:spPr>
              <a:solidFill>
                <a:srgbClr val="8FB24E"/>
              </a:solidFill>
            </c:spPr>
          </c:dPt>
          <c:cat>
            <c:strRef>
              <c:f>Sheet1!$A$2:$A$4</c:f>
              <c:strCache>
                <c:ptCount val="3"/>
                <c:pt idx="0">
                  <c:v>Commercial auto</c:v>
                </c:pt>
                <c:pt idx="1">
                  <c:v>Overall market</c:v>
                </c:pt>
                <c:pt idx="2">
                  <c:v>Commercial property</c:v>
                </c:pt>
              </c:strCache>
            </c:strRef>
          </c:cat>
          <c:val>
            <c:numRef>
              <c:f>Sheet1!$B$2:$B$4</c:f>
              <c:numCache>
                <c:formatCode>General</c:formatCode>
                <c:ptCount val="3"/>
                <c:pt idx="0">
                  <c:v>5.8</c:v>
                </c:pt>
                <c:pt idx="1">
                  <c:v>-1.2</c:v>
                </c:pt>
                <c:pt idx="2">
                  <c:v>-5.8</c:v>
                </c:pt>
              </c:numCache>
            </c:numRef>
          </c:val>
        </c:ser>
        <c:dLbls>
          <c:numFmt formatCode="+0.0&quot;%&quot;;-0.0&quot;%&quot;" sourceLinked="0"/>
          <c:txPr>
            <a:bodyPr/>
            <a:lstStyle/>
            <a:p>
              <a:pPr>
                <a:defRPr sz="1200" b="1">
                  <a:solidFill>
                    <a:srgbClr val="FFFFFF"/>
                  </a:solidFill>
                  <a:latin typeface="Source Sans Pro"/>
                </a:defRPr>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inMax"/>
        </c:scaling>
        <c:delete val="0"/>
        <c:axPos val="l"/>
        <c:majorTickMark val="none"/>
        <c:minorTickMark val="none"/>
        <c:tickLblPos val="low"/>
        <c:spPr>
          <a:ln>
            <a:solidFill>
              <a:srgbClr val="BFC7CB"/>
            </a:solidFill>
          </a:ln>
        </c:spPr>
        <c:txPr>
          <a:bodyPr/>
          <a:lstStyle/>
          <a:p>
            <a:pPr>
              <a:defRPr sz="1200">
                <a:solidFill>
                  <a:srgbClr val="FFFFFF"/>
                </a:solidFill>
              </a:defRPr>
            </a:pPr>
          </a:p>
        </c:txPr>
        <c:crossAx val="-2113994440"/>
        <c:crosses val="autoZero"/>
        <c:auto val="1"/>
        <c:lblAlgn val="ctr"/>
        <c:lblOffset val="100"/>
        <c:noMultiLvlLbl val="0"/>
      </c:catAx>
      <c:valAx>
        <c:axId val="-2113994440"/>
        <c:scaling>
          <c:max val="9.0"/>
          <c:min val="-9.0"/>
        </c:scaling>
        <c:delete/>
        <c:axPos val="b"/>
        <c:majorTickMark val="out"/>
        <c:minorTickMark val="none"/>
        <c:tickLblPos val="nextTo"/>
        <c:crossAx val="-2068027336"/>
        <c:crosses val="autoZero"/>
      </c:valAx>
    </c:plotArea>
    <c:dispBlanksAs val="gap"/>
  </c:chart>
  <c:txPr>
    <a:bodyPr/>
    <a:lstStyle/>
    <a:p>
      <a:pPr>
        <a:defRPr sz="1200">
          <a:solidFill>
            <a:srgbClr val="FFFFFF"/>
          </a:solidFill>
          <a:latin typeface="Source Sans Pro"/>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2752473-4CCE-426E-ADDC-CB6E6EAC5CD2}" type="datetimeFigureOut">
              <a:rPr lang="en-US" smtClean="0"/>
              <a:t>8/19/2026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5514C03-8685-4AC7-94E4-F6077D277807}" type="slidenum">
              <a:rPr lang="en-US" smtClean="0"/>
              <a:t>‹#›</a:t>
            </a:fld>
            <a:endParaRPr lang="en-US"/>
          </a:p>
        </p:txBody>
      </p:sp>
    </p:spTree>
    <p:extLst>
      <p:ext uri="{BB962C8B-B14F-4D97-AF65-F5344CB8AC3E}">
        <p14:creationId xmlns:p14="http://schemas.microsoft.com/office/powerpoint/2010/main" val="14151952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insurance market is shifting, creating new opportunities and complexities across commercial, benefits, and high-net-worth lines. Commercial: the market softened for the first time since 2017. Overall premiums fell 1.2%, large accounts 2.7%, medium accounts 1.9%. Commercial property led the decline at -5.8% as carrier capacity returned and some catastrophe risk moved back from E&amp;S to traditional markets. Commercial auto is the exception at +5.8%, its 59th consecutive quarter of increases, driven by claim severity and litigation risk.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Employee benefits: pharmacy is now the dominant cost driver, but strategy and confidence have not caught up. Pharmacy exceeds 30% of total medical spend for some employers. 3 in 4 employers cite cost (specialty drugs, affordability, gene therapies) as their top pharmacy challenge. About 6 in 10 feel only neutral or unprepared. 43% are not sure when their pharmacy strategy was last reviewed. High-net-worth: capacity is improving, but carriers prioritize risk quality, loss prevention, and accurate property and exposure data over price. Catastrophe exposure, rebuilding cost inflation, and liability severity are core underwriting factors. Portfolio-level thinking separates strong placements from weak ones.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new business growth puts us in the top 10% of brokers in the country. That is an unusual level of success, and it reflects the talent, effort, and relationships across CCIG. That growth creates opportunity to invest in our people, advance careers, and build new capabilities. It also challenges us: our capacity, processes, and leadership have to keep developing to support it. We have promoted 24 people in the last 18 months, and nine of our 11 new employees were referred by someone inside CCIG. You are putting your credibility behind this company when you recommend that someone join us.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should every coworker be focused on during Q4? Know what matters most in your role, own your commitments, and speak up about what is getting in the way. Our accountability chart clarifies what each person owns, who they can turn to, and how their work connects to the rest of the company. Use your L10 meetings to bring forward capacity concerns, difficult handoffs, recurring problems, and accounts that need attention; the value comes from solving the issue and making sure someone owns the next step. Use quarterly conversations to talk openly about performance, development, and the support you need. Retention also needs our focus: every coworker can contribute through responsiveness, follow-through, and raising concerns early.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is top of mind right now? Managing a level of growth that very few brokers are experiencing. More clients bring more responsibility, more complexity, and more demand on our teams. We need to get ahead of capacity constraints, hire great people, build consistent processes, and use technology to help people spend more time on work that needs their expertise. Delegate and elevate is part of that. EOS helps us connect these priorities: Scorecards show where attention is needed, L10s help us understand and solve the underlying issues, and Rocks move the most important improvements forward. Retention remains a challenge, and we need to bring the same focus and accountability to keeping clients that we bring to winning them.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was harder than expected? Building the capacity and structure to keep pace with exceptional growth while continuing to serve our existing clients well. Hiring is one step; getting someone trained, supported, and confident takes more work. Creating a process is one step; getting it consistently used takes more work. Finding a promising technology is one step; making it useful in someone's day takes more work. That work is especially challenging when teams already have full schedules. Retention is another area where we need to keep improving: understand why clients leave, identify patterns, and turn what we learn into changes that stick.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tiff"/></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Footer Placeholder 2">
            <a:extLst>
              <a:ext uri="{FF2B5EF4-FFF2-40B4-BE49-F238E27FC236}">
                <a16:creationId xmlns:a16="http://schemas.microsoft.com/office/drawing/2014/main" id="{347FA695-301A-D017-5457-21181DB07D41}"/>
              </a:ext>
            </a:extLst>
          </p:cNvPr>
          <p:cNvSpPr txBox="1">
            <a:spLocks/>
          </p:cNvSpPr>
          <p:nvPr userDrawn="1"/>
        </p:nvSpPr>
        <p:spPr>
          <a:xfrm>
            <a:off x="9166380" y="6373917"/>
            <a:ext cx="2092037"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a:solidFill>
                  <a:schemeClr val="accent3"/>
                </a:solidFill>
                <a:latin typeface="Source Sans Pro" panose="020B0503030403020204" pitchFamily="34" charset="0"/>
                <a:cs typeface="Calibri Light" charset="0"/>
              </a:rPr>
              <a:t>© CCIG All Rights Reserved</a:t>
            </a:r>
            <a:endParaRPr lang="en-US">
              <a:solidFill>
                <a:schemeClr val="accent3"/>
              </a:solidFill>
            </a:endParaRPr>
          </a:p>
        </p:txBody>
      </p:sp>
      <p:sp>
        <p:nvSpPr>
          <p:cNvPr id="3" name="Slide Number Placeholder 3">
            <a:extLst>
              <a:ext uri="{FF2B5EF4-FFF2-40B4-BE49-F238E27FC236}">
                <a16:creationId xmlns:a16="http://schemas.microsoft.com/office/drawing/2014/main" id="{423C14C6-1388-88AF-C11C-D78FF338316A}"/>
              </a:ext>
            </a:extLst>
          </p:cNvPr>
          <p:cNvSpPr txBox="1">
            <a:spLocks/>
          </p:cNvSpPr>
          <p:nvPr userDrawn="1"/>
        </p:nvSpPr>
        <p:spPr>
          <a:xfrm>
            <a:off x="11258417" y="6373483"/>
            <a:ext cx="460341"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06A10D1-A153-46BE-963E-0302FA5EFDF9}" type="slidenum">
              <a:rPr lang="en-US" smtClean="0">
                <a:solidFill>
                  <a:schemeClr val="accent3"/>
                </a:solidFill>
              </a:rPr>
              <a:pPr/>
              <a:t>‹#›</a:t>
            </a:fld>
            <a:endParaRPr lang="en-US">
              <a:solidFill>
                <a:schemeClr val="accent3"/>
              </a:solidFill>
            </a:endParaRPr>
          </a:p>
        </p:txBody>
      </p:sp>
      <p:pic>
        <p:nvPicPr>
          <p:cNvPr id="4" name="Picture 3">
            <a:extLst>
              <a:ext uri="{FF2B5EF4-FFF2-40B4-BE49-F238E27FC236}">
                <a16:creationId xmlns:a16="http://schemas.microsoft.com/office/drawing/2014/main" id="{5F2F7BF6-0AA5-9EF5-48DA-31D4B332A449}"/>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272029" y="6373668"/>
            <a:ext cx="1002589" cy="238414"/>
          </a:xfrm>
          <a:prstGeom prst="rect">
            <a:avLst/>
          </a:prstGeom>
        </p:spPr>
      </p:pic>
    </p:spTree>
    <p:extLst>
      <p:ext uri="{BB962C8B-B14F-4D97-AF65-F5344CB8AC3E}">
        <p14:creationId xmlns:p14="http://schemas.microsoft.com/office/powerpoint/2010/main" val="20676727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0555753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Slide">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B4CB7C7-D8DD-A773-3164-BFA6E3CB9549}"/>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272029" y="6362765"/>
            <a:ext cx="1002589" cy="237916"/>
          </a:xfrm>
          <a:prstGeom prst="rect">
            <a:avLst/>
          </a:prstGeom>
        </p:spPr>
      </p:pic>
      <p:sp>
        <p:nvSpPr>
          <p:cNvPr id="3" name="Footer Placeholder 2">
            <a:extLst>
              <a:ext uri="{FF2B5EF4-FFF2-40B4-BE49-F238E27FC236}">
                <a16:creationId xmlns:a16="http://schemas.microsoft.com/office/drawing/2014/main" id="{1C94A90F-9A4B-3A2A-8DA0-6AD36E25DE83}"/>
              </a:ext>
            </a:extLst>
          </p:cNvPr>
          <p:cNvSpPr txBox="1">
            <a:spLocks/>
          </p:cNvSpPr>
          <p:nvPr userDrawn="1"/>
        </p:nvSpPr>
        <p:spPr>
          <a:xfrm>
            <a:off x="9166380" y="6373917"/>
            <a:ext cx="2092037"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a:solidFill>
                  <a:schemeClr val="accent3">
                    <a:lumMod val="75000"/>
                  </a:schemeClr>
                </a:solidFill>
                <a:latin typeface="Source Sans Pro" panose="020B0503030403020204" pitchFamily="34" charset="0"/>
                <a:cs typeface="Calibri Light" charset="0"/>
              </a:rPr>
              <a:t>© CCIG All Rights Reserved</a:t>
            </a:r>
            <a:endParaRPr lang="en-US">
              <a:solidFill>
                <a:schemeClr val="accent3">
                  <a:lumMod val="75000"/>
                </a:schemeClr>
              </a:solidFill>
            </a:endParaRPr>
          </a:p>
        </p:txBody>
      </p:sp>
      <p:sp>
        <p:nvSpPr>
          <p:cNvPr id="4" name="Slide Number Placeholder 3">
            <a:extLst>
              <a:ext uri="{FF2B5EF4-FFF2-40B4-BE49-F238E27FC236}">
                <a16:creationId xmlns:a16="http://schemas.microsoft.com/office/drawing/2014/main" id="{6A743426-97A4-BD34-08E3-B74A56AF5D31}"/>
              </a:ext>
            </a:extLst>
          </p:cNvPr>
          <p:cNvSpPr txBox="1">
            <a:spLocks/>
          </p:cNvSpPr>
          <p:nvPr userDrawn="1"/>
        </p:nvSpPr>
        <p:spPr>
          <a:xfrm>
            <a:off x="11258417" y="6373483"/>
            <a:ext cx="460341"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06A10D1-A153-46BE-963E-0302FA5EFDF9}" type="slidenum">
              <a:rPr lang="en-US" smtClean="0">
                <a:solidFill>
                  <a:schemeClr val="accent3">
                    <a:lumMod val="75000"/>
                  </a:schemeClr>
                </a:solidFill>
              </a:rPr>
              <a:pPr/>
              <a:t>‹#›</a:t>
            </a:fld>
            <a:endParaRPr lang="en-US">
              <a:solidFill>
                <a:schemeClr val="accent3">
                  <a:lumMod val="75000"/>
                </a:schemeClr>
              </a:solidFill>
            </a:endParaRPr>
          </a:p>
        </p:txBody>
      </p:sp>
    </p:spTree>
    <p:extLst>
      <p:ext uri="{BB962C8B-B14F-4D97-AF65-F5344CB8AC3E}">
        <p14:creationId xmlns:p14="http://schemas.microsoft.com/office/powerpoint/2010/main" val="38218500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Title Slide">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878051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losing Slide (Original)">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13AB19A-BD49-0463-11C4-7C72D26FF995}"/>
              </a:ext>
            </a:extLst>
          </p:cNvPr>
          <p:cNvPicPr>
            <a:picLocks noChangeAspect="1"/>
          </p:cNvPicPr>
          <p:nvPr userDrawn="1"/>
        </p:nvPicPr>
        <p:blipFill rotWithShape="1">
          <a:blip r:embed="rId2" cstate="email">
            <a:alphaModFix amt="7000"/>
            <a:extLst>
              <a:ext uri="{28A0092B-C50C-407E-A947-70E740481C1C}">
                <a14:useLocalDpi xmlns:a14="http://schemas.microsoft.com/office/drawing/2010/main"/>
              </a:ext>
            </a:extLst>
          </a:blip>
          <a:srcRect/>
          <a:stretch/>
        </p:blipFill>
        <p:spPr>
          <a:xfrm>
            <a:off x="-2382" y="22859"/>
            <a:ext cx="12192001" cy="6858000"/>
          </a:xfrm>
          <a:prstGeom prst="rect">
            <a:avLst/>
          </a:prstGeom>
        </p:spPr>
      </p:pic>
      <p:cxnSp>
        <p:nvCxnSpPr>
          <p:cNvPr id="3" name="Straight Connector 2">
            <a:extLst>
              <a:ext uri="{FF2B5EF4-FFF2-40B4-BE49-F238E27FC236}">
                <a16:creationId xmlns:a16="http://schemas.microsoft.com/office/drawing/2014/main" id="{34278F2D-46CD-FE13-F2E6-B70B959FF2FE}"/>
              </a:ext>
            </a:extLst>
          </p:cNvPr>
          <p:cNvCxnSpPr>
            <a:cxnSpLocks/>
          </p:cNvCxnSpPr>
          <p:nvPr userDrawn="1"/>
        </p:nvCxnSpPr>
        <p:spPr>
          <a:xfrm>
            <a:off x="-1" y="6835140"/>
            <a:ext cx="12192001" cy="0"/>
          </a:xfrm>
          <a:prstGeom prst="line">
            <a:avLst/>
          </a:prstGeom>
          <a:ln w="346075">
            <a:solidFill>
              <a:schemeClr val="accent3"/>
            </a:solidFill>
          </a:ln>
        </p:spPr>
        <p:style>
          <a:lnRef idx="1">
            <a:schemeClr val="accent1"/>
          </a:lnRef>
          <a:fillRef idx="0">
            <a:schemeClr val="accent1"/>
          </a:fillRef>
          <a:effectRef idx="0">
            <a:schemeClr val="accent1"/>
          </a:effectRef>
          <a:fontRef idx="minor">
            <a:schemeClr val="tx1"/>
          </a:fontRef>
        </p:style>
      </p:cxnSp>
      <p:pic>
        <p:nvPicPr>
          <p:cNvPr id="5" name="Picture 4" descr="A picture containing text, gear, wheel, clipart&#10;&#10;Description automatically generated">
            <a:extLst>
              <a:ext uri="{FF2B5EF4-FFF2-40B4-BE49-F238E27FC236}">
                <a16:creationId xmlns:a16="http://schemas.microsoft.com/office/drawing/2014/main" id="{12DDE39C-E745-9882-755B-90550D318E36}"/>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4831802" y="3129569"/>
            <a:ext cx="2523625" cy="598862"/>
          </a:xfrm>
          <a:prstGeom prst="rect">
            <a:avLst/>
          </a:prstGeom>
        </p:spPr>
      </p:pic>
      <p:sp>
        <p:nvSpPr>
          <p:cNvPr id="6" name="TextBox 5">
            <a:extLst>
              <a:ext uri="{FF2B5EF4-FFF2-40B4-BE49-F238E27FC236}">
                <a16:creationId xmlns:a16="http://schemas.microsoft.com/office/drawing/2014/main" id="{A366612E-BB2B-B588-AF43-DEED86FBFB7A}"/>
              </a:ext>
            </a:extLst>
          </p:cNvPr>
          <p:cNvSpPr txBox="1"/>
          <p:nvPr userDrawn="1"/>
        </p:nvSpPr>
        <p:spPr>
          <a:xfrm>
            <a:off x="4394702" y="5766956"/>
            <a:ext cx="3397827" cy="400110"/>
          </a:xfrm>
          <a:prstGeom prst="rect">
            <a:avLst/>
          </a:prstGeom>
          <a:noFill/>
        </p:spPr>
        <p:txBody>
          <a:bodyPr wrap="square" rtlCol="0">
            <a:spAutoFit/>
          </a:bodyPr>
          <a:lstStyle/>
          <a:p>
            <a:pPr algn="ctr"/>
            <a:r>
              <a:rPr lang="en-US" sz="2000">
                <a:solidFill>
                  <a:schemeClr val="accent3"/>
                </a:solidFill>
              </a:rPr>
              <a:t>Think</a:t>
            </a:r>
            <a:r>
              <a:rPr lang="en-US" sz="2000">
                <a:latin typeface="Source Sans Pro Semibold" panose="020B0603030403020204" pitchFamily="34" charset="0"/>
              </a:rPr>
              <a:t>CCIG</a:t>
            </a:r>
            <a:r>
              <a:rPr lang="en-US" sz="2000">
                <a:solidFill>
                  <a:schemeClr val="accent3"/>
                </a:solidFill>
              </a:rPr>
              <a:t>.com</a:t>
            </a:r>
          </a:p>
        </p:txBody>
      </p:sp>
    </p:spTree>
    <p:extLst>
      <p:ext uri="{BB962C8B-B14F-4D97-AF65-F5344CB8AC3E}">
        <p14:creationId xmlns:p14="http://schemas.microsoft.com/office/powerpoint/2010/main" val="3935688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ransition slide simple ">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A990A3E4-0BDF-56A9-42B7-D1192EDDD891}"/>
              </a:ext>
            </a:extLst>
          </p:cNvPr>
          <p:cNvCxnSpPr>
            <a:cxnSpLocks/>
          </p:cNvCxnSpPr>
          <p:nvPr userDrawn="1"/>
        </p:nvCxnSpPr>
        <p:spPr>
          <a:xfrm>
            <a:off x="-1" y="6835140"/>
            <a:ext cx="12192001" cy="0"/>
          </a:xfrm>
          <a:prstGeom prst="line">
            <a:avLst/>
          </a:prstGeom>
          <a:ln w="346075">
            <a:solidFill>
              <a:schemeClr val="accent3"/>
            </a:solidFill>
          </a:ln>
        </p:spPr>
        <p:style>
          <a:lnRef idx="1">
            <a:schemeClr val="accent1"/>
          </a:lnRef>
          <a:fillRef idx="0">
            <a:schemeClr val="accent1"/>
          </a:fillRef>
          <a:effectRef idx="0">
            <a:schemeClr val="accent1"/>
          </a:effectRef>
          <a:fontRef idx="minor">
            <a:schemeClr val="tx1"/>
          </a:fontRef>
        </p:style>
      </p:cxnSp>
      <p:pic>
        <p:nvPicPr>
          <p:cNvPr id="9" name="Picture 8" descr="A picture containing text, gear, wheel, clipart&#10;&#10;Description automatically generated">
            <a:extLst>
              <a:ext uri="{FF2B5EF4-FFF2-40B4-BE49-F238E27FC236}">
                <a16:creationId xmlns:a16="http://schemas.microsoft.com/office/drawing/2014/main" id="{D9B550F0-F2E9-2A7D-2A5B-F3E8075DC7DD}"/>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4831804" y="3152428"/>
            <a:ext cx="2523625" cy="598862"/>
          </a:xfrm>
          <a:prstGeom prst="rect">
            <a:avLst/>
          </a:prstGeom>
        </p:spPr>
      </p:pic>
      <p:sp>
        <p:nvSpPr>
          <p:cNvPr id="10" name="TextBox 9">
            <a:extLst>
              <a:ext uri="{FF2B5EF4-FFF2-40B4-BE49-F238E27FC236}">
                <a16:creationId xmlns:a16="http://schemas.microsoft.com/office/drawing/2014/main" id="{3FB17FBE-EF74-B466-E154-54F64DC81596}"/>
              </a:ext>
            </a:extLst>
          </p:cNvPr>
          <p:cNvSpPr txBox="1"/>
          <p:nvPr userDrawn="1"/>
        </p:nvSpPr>
        <p:spPr>
          <a:xfrm>
            <a:off x="4394702" y="5766956"/>
            <a:ext cx="3397827" cy="400110"/>
          </a:xfrm>
          <a:prstGeom prst="rect">
            <a:avLst/>
          </a:prstGeom>
          <a:noFill/>
        </p:spPr>
        <p:txBody>
          <a:bodyPr wrap="square" rtlCol="0">
            <a:spAutoFit/>
          </a:bodyPr>
          <a:lstStyle/>
          <a:p>
            <a:pPr algn="ctr"/>
            <a:r>
              <a:rPr lang="en-US" sz="2000">
                <a:solidFill>
                  <a:schemeClr val="accent3"/>
                </a:solidFill>
              </a:rPr>
              <a:t>Think</a:t>
            </a:r>
            <a:r>
              <a:rPr lang="en-US" sz="2000">
                <a:latin typeface="Source Sans Pro Semibold" panose="020B0603030403020204" pitchFamily="34" charset="0"/>
              </a:rPr>
              <a:t>CCIG</a:t>
            </a:r>
            <a:r>
              <a:rPr lang="en-US" sz="2000">
                <a:solidFill>
                  <a:schemeClr val="accent3"/>
                </a:solidFill>
              </a:rPr>
              <a:t>.com</a:t>
            </a:r>
          </a:p>
        </p:txBody>
      </p:sp>
    </p:spTree>
    <p:extLst>
      <p:ext uri="{BB962C8B-B14F-4D97-AF65-F5344CB8AC3E}">
        <p14:creationId xmlns:p14="http://schemas.microsoft.com/office/powerpoint/2010/main" val="331706348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slideLayout" Target="../slideLayouts/slideLayout6.xml"/><Relationship Id="rId3"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79410521"/>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61028029"/>
      </p:ext>
    </p:extLst>
  </p:cSld>
  <p:clrMap bg1="lt1" tx1="dk1" bg2="lt2" tx2="dk2" accent1="accent1" accent2="accent2" accent3="accent3" accent4="accent4" accent5="accent5" accent6="accent6" hlink="hlink" folHlink="folHlink"/>
  <p:sldLayoutIdLst>
    <p:sldLayoutId id="2147483667" r:id="rId1"/>
    <p:sldLayoutId id="2147483668"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1.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png"/><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23.png"/><Relationship Id="rId7" Type="http://schemas.openxmlformats.org/officeDocument/2006/relationships/image" Target="../media/image16.png"/><Relationship Id="rId8" Type="http://schemas.openxmlformats.org/officeDocument/2006/relationships/image" Target="../media/image24.png"/><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25.png"/><Relationship Id="rId6"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C0E2FD-837D-9753-CF85-B96BB0ED339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52C6772-D662-5D65-1798-38644B18B7E5}"/>
              </a:ext>
            </a:extLst>
          </p:cNvPr>
          <p:cNvSpPr txBox="1"/>
          <p:nvPr/>
        </p:nvSpPr>
        <p:spPr>
          <a:xfrm>
            <a:off x="875347" y="368336"/>
            <a:ext cx="10447973"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1" u="none" strike="noStrike" kern="1200" cap="none" spc="0" normalizeH="0" baseline="0" noProof="0" dirty="0">
                <a:ln>
                  <a:noFill/>
                </a:ln>
                <a:solidFill>
                  <a:srgbClr val="EDECED"/>
                </a:solidFill>
                <a:effectLst/>
                <a:uLnTx/>
                <a:uFillTx/>
                <a:latin typeface="Playfair Display" panose="00000500000000000000" pitchFamily="2" charset="0"/>
                <a:ea typeface="+mn-ea"/>
                <a:cs typeface="+mn-cs"/>
              </a:rPr>
              <a:t>The first soft market since 2017</a:t>
            </a:r>
          </a:p>
        </p:txBody>
      </p:sp>
      <p:cxnSp>
        <p:nvCxnSpPr>
          <p:cNvPr id="6" name="Straight Connector 5">
            <a:extLst>
              <a:ext uri="{FF2B5EF4-FFF2-40B4-BE49-F238E27FC236}">
                <a16:creationId xmlns:a16="http://schemas.microsoft.com/office/drawing/2014/main" id="{5E9116D3-F450-4A0A-4B24-450372B6DA92}"/>
              </a:ext>
            </a:extLst>
          </p:cNvPr>
          <p:cNvCxnSpPr>
            <a:cxnSpLocks/>
          </p:cNvCxnSpPr>
          <p:nvPr/>
        </p:nvCxnSpPr>
        <p:spPr>
          <a:xfrm>
            <a:off x="963168" y="1060704"/>
            <a:ext cx="10360152" cy="0"/>
          </a:xfrm>
          <a:prstGeom prst="line">
            <a:avLst/>
          </a:prstGeom>
          <a:ln>
            <a:solidFill>
              <a:schemeClr val="accent3"/>
            </a:solidFill>
          </a:ln>
        </p:spPr>
        <p:style>
          <a:lnRef idx="2">
            <a:schemeClr val="accent3"/>
          </a:lnRef>
          <a:fillRef idx="0">
            <a:schemeClr val="accent3"/>
          </a:fillRef>
          <a:effectRef idx="1">
            <a:schemeClr val="accent3"/>
          </a:effectRef>
          <a:fontRef idx="minor">
            <a:schemeClr val="tx1"/>
          </a:fontRef>
        </p:style>
      </p:cxnSp>
      <p:sp>
        <p:nvSpPr>
          <p:cNvPr id="7" name="Eyebrow"/>
          <p:cNvSpPr txBox="1"/>
          <p:nvPr/>
        </p:nvSpPr>
        <p:spPr>
          <a:xfrm>
            <a:off x="960120" y="1188720"/>
            <a:ext cx="10360152" cy="228600"/>
          </a:xfrm>
          <a:prstGeom prst="rect">
            <a:avLst/>
          </a:prstGeom>
          <a:noFill/>
        </p:spPr>
        <p:txBody>
          <a:bodyPr wrap="square" lIns="0" rIns="0" tIns="0" bIns="0" anchor="t">
            <a:spAutoFit/>
          </a:bodyPr>
          <a:lstStyle/>
          <a:p>
            <a:r>
              <a:rPr sz="1200" b="1" i="0" spc="200">
                <a:solidFill>
                  <a:srgbClr val="8FB24E"/>
                </a:solidFill>
                <a:latin typeface="Source Sans Pro"/>
              </a:rPr>
              <a:t>COMMERCIAL LINES</a:t>
            </a:r>
          </a:p>
        </p:txBody>
      </p:sp>
      <p:sp>
        <p:nvSpPr>
          <p:cNvPr id="8" name="Subtitle"/>
          <p:cNvSpPr txBox="1"/>
          <p:nvPr/>
        </p:nvSpPr>
        <p:spPr>
          <a:xfrm>
            <a:off x="960120" y="1444752"/>
            <a:ext cx="10360152" cy="320040"/>
          </a:xfrm>
          <a:prstGeom prst="rect">
            <a:avLst/>
          </a:prstGeom>
          <a:noFill/>
        </p:spPr>
        <p:txBody>
          <a:bodyPr wrap="square" lIns="0" rIns="0" tIns="0" bIns="0" anchor="t">
            <a:spAutoFit/>
          </a:bodyPr>
          <a:lstStyle/>
          <a:p>
            <a:r>
              <a:rPr sz="1600" b="0" i="0">
                <a:solidFill>
                  <a:srgbClr val="FFFFFF"/>
                </a:solidFill>
                <a:latin typeface="Source Sans Pro"/>
              </a:rPr>
              <a:t>Premiums fell across every account size, but auto keeps climbing.</a:t>
            </a:r>
          </a:p>
        </p:txBody>
      </p:sp>
      <p:sp>
        <p:nvSpPr>
          <p:cNvPr id="9" name="Overall stat card"/>
          <p:cNvSpPr/>
          <p:nvPr/>
        </p:nvSpPr>
        <p:spPr>
          <a:xfrm>
            <a:off x="960120" y="1965960"/>
            <a:ext cx="4572000" cy="1554480"/>
          </a:xfrm>
          <a:prstGeom prst="roundRect">
            <a:avLst>
              <a:gd name="adj" fmla="val 8000"/>
            </a:avLst>
          </a:prstGeom>
          <a:solidFill>
            <a:srgbClr val="8FB2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own arrow"/>
          <p:cNvSpPr/>
          <p:nvPr/>
        </p:nvSpPr>
        <p:spPr>
          <a:xfrm rot="10800000">
            <a:off x="1280160" y="2148840"/>
            <a:ext cx="731520" cy="640080"/>
          </a:xfrm>
          <a:prstGeom prst="triangle">
            <a:avLst/>
          </a:prstGeom>
          <a:solidFill>
            <a:srgbClr val="1532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erall stat"/>
          <p:cNvSpPr txBox="1"/>
          <p:nvPr/>
        </p:nvSpPr>
        <p:spPr>
          <a:xfrm>
            <a:off x="2194560" y="2011680"/>
            <a:ext cx="3200400" cy="914400"/>
          </a:xfrm>
          <a:prstGeom prst="rect">
            <a:avLst/>
          </a:prstGeom>
          <a:noFill/>
        </p:spPr>
        <p:txBody>
          <a:bodyPr wrap="square" lIns="0" rIns="0" tIns="0" bIns="0" anchor="ctr">
            <a:spAutoFit/>
          </a:bodyPr>
          <a:lstStyle/>
          <a:p>
            <a:r>
              <a:rPr sz="5400" b="1" i="0">
                <a:solidFill>
                  <a:srgbClr val="153243"/>
                </a:solidFill>
                <a:latin typeface="Playfair Display"/>
              </a:rPr>
              <a:t>1.2%</a:t>
            </a:r>
          </a:p>
        </p:txBody>
      </p:sp>
      <p:sp>
        <p:nvSpPr>
          <p:cNvPr id="12" name="Overall label"/>
          <p:cNvSpPr txBox="1"/>
          <p:nvPr/>
        </p:nvSpPr>
        <p:spPr>
          <a:xfrm>
            <a:off x="1280160" y="2999232"/>
            <a:ext cx="4023360" cy="320040"/>
          </a:xfrm>
          <a:prstGeom prst="rect">
            <a:avLst/>
          </a:prstGeom>
          <a:noFill/>
        </p:spPr>
        <p:txBody>
          <a:bodyPr wrap="square" lIns="0" rIns="0" tIns="0" bIns="0" anchor="t">
            <a:spAutoFit/>
          </a:bodyPr>
          <a:lstStyle/>
          <a:p>
            <a:r>
              <a:rPr sz="1400" b="1" i="0" spc="250">
                <a:solidFill>
                  <a:srgbClr val="153243"/>
                </a:solidFill>
                <a:latin typeface="Source Sans Pro"/>
              </a:rPr>
              <a:t>OVERALL PREMIUMS</a:t>
            </a:r>
          </a:p>
        </p:txBody>
      </p:sp>
      <p:sp>
        <p:nvSpPr>
          <p:cNvPr id="13" name="Account card 1"/>
          <p:cNvSpPr/>
          <p:nvPr/>
        </p:nvSpPr>
        <p:spPr>
          <a:xfrm>
            <a:off x="960120" y="3703320"/>
            <a:ext cx="2194560" cy="1143000"/>
          </a:xfrm>
          <a:prstGeom prst="roundRect">
            <a:avLst>
              <a:gd name="adj" fmla="val 8000"/>
            </a:avLst>
          </a:prstGeom>
          <a:solidFill>
            <a:srgbClr val="EDEC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own arrow"/>
          <p:cNvSpPr/>
          <p:nvPr/>
        </p:nvSpPr>
        <p:spPr>
          <a:xfrm rot="10800000">
            <a:off x="1188720" y="3931920"/>
            <a:ext cx="347472" cy="301752"/>
          </a:xfrm>
          <a:prstGeom prst="triangle">
            <a:avLst/>
          </a:prstGeom>
          <a:solidFill>
            <a:srgbClr val="1532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Account stat 1"/>
          <p:cNvSpPr txBox="1"/>
          <p:nvPr/>
        </p:nvSpPr>
        <p:spPr>
          <a:xfrm>
            <a:off x="1645920" y="3822191"/>
            <a:ext cx="1371600" cy="548640"/>
          </a:xfrm>
          <a:prstGeom prst="rect">
            <a:avLst/>
          </a:prstGeom>
          <a:noFill/>
        </p:spPr>
        <p:txBody>
          <a:bodyPr wrap="square" lIns="0" rIns="0" tIns="0" bIns="0" anchor="ctr">
            <a:spAutoFit/>
          </a:bodyPr>
          <a:lstStyle/>
          <a:p>
            <a:r>
              <a:rPr sz="2600" b="1" i="0">
                <a:solidFill>
                  <a:srgbClr val="153243"/>
                </a:solidFill>
                <a:latin typeface="Playfair Display"/>
              </a:rPr>
              <a:t>2.7%</a:t>
            </a:r>
          </a:p>
        </p:txBody>
      </p:sp>
      <p:sp>
        <p:nvSpPr>
          <p:cNvPr id="16" name="Account label 1"/>
          <p:cNvSpPr txBox="1"/>
          <p:nvPr/>
        </p:nvSpPr>
        <p:spPr>
          <a:xfrm>
            <a:off x="1188720" y="4389120"/>
            <a:ext cx="1828800" cy="320040"/>
          </a:xfrm>
          <a:prstGeom prst="rect">
            <a:avLst/>
          </a:prstGeom>
          <a:noFill/>
        </p:spPr>
        <p:txBody>
          <a:bodyPr wrap="square" lIns="0" rIns="0" tIns="0" bIns="0" anchor="t">
            <a:spAutoFit/>
          </a:bodyPr>
          <a:lstStyle/>
          <a:p>
            <a:r>
              <a:rPr sz="1400" b="0" i="0">
                <a:solidFill>
                  <a:srgbClr val="153243"/>
                </a:solidFill>
                <a:latin typeface="Source Sans Pro"/>
              </a:rPr>
              <a:t>Large accounts</a:t>
            </a:r>
          </a:p>
        </p:txBody>
      </p:sp>
      <p:sp>
        <p:nvSpPr>
          <p:cNvPr id="17" name="Account card 2"/>
          <p:cNvSpPr/>
          <p:nvPr/>
        </p:nvSpPr>
        <p:spPr>
          <a:xfrm>
            <a:off x="3337560" y="3703320"/>
            <a:ext cx="2194560" cy="1143000"/>
          </a:xfrm>
          <a:prstGeom prst="roundRect">
            <a:avLst>
              <a:gd name="adj" fmla="val 8000"/>
            </a:avLst>
          </a:prstGeom>
          <a:solidFill>
            <a:srgbClr val="EDEC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own arrow"/>
          <p:cNvSpPr/>
          <p:nvPr/>
        </p:nvSpPr>
        <p:spPr>
          <a:xfrm rot="10800000">
            <a:off x="3566160" y="3931920"/>
            <a:ext cx="347472" cy="301752"/>
          </a:xfrm>
          <a:prstGeom prst="triangle">
            <a:avLst/>
          </a:prstGeom>
          <a:solidFill>
            <a:srgbClr val="1532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Account stat 2"/>
          <p:cNvSpPr txBox="1"/>
          <p:nvPr/>
        </p:nvSpPr>
        <p:spPr>
          <a:xfrm>
            <a:off x="4023360" y="3822191"/>
            <a:ext cx="1371600" cy="548640"/>
          </a:xfrm>
          <a:prstGeom prst="rect">
            <a:avLst/>
          </a:prstGeom>
          <a:noFill/>
        </p:spPr>
        <p:txBody>
          <a:bodyPr wrap="square" lIns="0" rIns="0" tIns="0" bIns="0" anchor="ctr">
            <a:spAutoFit/>
          </a:bodyPr>
          <a:lstStyle/>
          <a:p>
            <a:r>
              <a:rPr sz="2600" b="1" i="0">
                <a:solidFill>
                  <a:srgbClr val="153243"/>
                </a:solidFill>
                <a:latin typeface="Playfair Display"/>
              </a:rPr>
              <a:t>1.9%</a:t>
            </a:r>
          </a:p>
        </p:txBody>
      </p:sp>
      <p:sp>
        <p:nvSpPr>
          <p:cNvPr id="20" name="Account label 2"/>
          <p:cNvSpPr txBox="1"/>
          <p:nvPr/>
        </p:nvSpPr>
        <p:spPr>
          <a:xfrm>
            <a:off x="3566160" y="4389120"/>
            <a:ext cx="1828800" cy="320040"/>
          </a:xfrm>
          <a:prstGeom prst="rect">
            <a:avLst/>
          </a:prstGeom>
          <a:noFill/>
        </p:spPr>
        <p:txBody>
          <a:bodyPr wrap="square" lIns="0" rIns="0" tIns="0" bIns="0" anchor="t">
            <a:spAutoFit/>
          </a:bodyPr>
          <a:lstStyle/>
          <a:p>
            <a:r>
              <a:rPr sz="1400" b="0" i="0">
                <a:solidFill>
                  <a:srgbClr val="153243"/>
                </a:solidFill>
                <a:latin typeface="Source Sans Pro"/>
              </a:rPr>
              <a:t>Medium accounts</a:t>
            </a:r>
          </a:p>
        </p:txBody>
      </p:sp>
      <p:sp>
        <p:nvSpPr>
          <p:cNvPr id="21" name="Chart title"/>
          <p:cNvSpPr txBox="1"/>
          <p:nvPr/>
        </p:nvSpPr>
        <p:spPr>
          <a:xfrm>
            <a:off x="5943600" y="1965960"/>
            <a:ext cx="5376672" cy="274320"/>
          </a:xfrm>
          <a:prstGeom prst="rect">
            <a:avLst/>
          </a:prstGeom>
          <a:noFill/>
        </p:spPr>
        <p:txBody>
          <a:bodyPr wrap="square" lIns="0" rIns="0" tIns="0" bIns="0" anchor="t">
            <a:spAutoFit/>
          </a:bodyPr>
          <a:lstStyle/>
          <a:p>
            <a:r>
              <a:rPr sz="1400" b="1" i="0">
                <a:solidFill>
                  <a:srgbClr val="FFFFFF"/>
                </a:solidFill>
                <a:latin typeface="Source Sans Pro"/>
              </a:rPr>
              <a:t>Premium change by line</a:t>
            </a:r>
          </a:p>
        </p:txBody>
      </p:sp>
      <p:graphicFrame>
        <p:nvGraphicFramePr>
          <p:cNvPr id="22" name="Premium change chart"/>
          <p:cNvGraphicFramePr>
            <a:graphicFrameLocks noGrp="1"/>
          </p:cNvGraphicFramePr>
          <p:nvPr/>
        </p:nvGraphicFramePr>
        <p:xfrm>
          <a:off x="5943600" y="2240280"/>
          <a:ext cx="5376672" cy="1828800"/>
        </p:xfrm>
        <a:graphic>
          <a:graphicData uri="http://schemas.openxmlformats.org/drawingml/2006/chart">
            <c:chart xmlns:c="http://schemas.openxmlformats.org/drawingml/2006/chart" r:id="rId2"/>
          </a:graphicData>
        </a:graphic>
      </p:graphicFrame>
      <p:sp>
        <p:nvSpPr>
          <p:cNvPr id="23" name="Property icon circle"/>
          <p:cNvSpPr/>
          <p:nvPr/>
        </p:nvSpPr>
        <p:spPr>
          <a:xfrm>
            <a:off x="5943600" y="4087368"/>
            <a:ext cx="457200" cy="457200"/>
          </a:xfrm>
          <a:prstGeom prst="ellipse">
            <a:avLst/>
          </a:prstGeom>
          <a:solidFill>
            <a:srgbClr val="8FB2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roperty icon" descr="Property icon"/>
          <p:cNvPicPr>
            <a:picLocks noChangeAspect="1"/>
          </p:cNvPicPr>
          <p:nvPr/>
        </p:nvPicPr>
        <p:blipFill>
          <a:blip r:embed="rId3"/>
          <a:stretch>
            <a:fillRect/>
          </a:stretch>
        </p:blipFill>
        <p:spPr>
          <a:xfrm>
            <a:off x="6053328" y="4197096"/>
            <a:ext cx="237744" cy="237744"/>
          </a:xfrm>
          <a:prstGeom prst="rect">
            <a:avLst/>
          </a:prstGeom>
        </p:spPr>
      </p:pic>
      <p:sp>
        <p:nvSpPr>
          <p:cNvPr id="25" name="Property note"/>
          <p:cNvSpPr txBox="1"/>
          <p:nvPr/>
        </p:nvSpPr>
        <p:spPr>
          <a:xfrm>
            <a:off x="6537960" y="4114800"/>
            <a:ext cx="4782312" cy="411480"/>
          </a:xfrm>
          <a:prstGeom prst="rect">
            <a:avLst/>
          </a:prstGeom>
          <a:noFill/>
        </p:spPr>
        <p:txBody>
          <a:bodyPr wrap="square" lIns="0" rIns="0" tIns="0" bIns="0" anchor="ctr">
            <a:spAutoFit/>
          </a:bodyPr>
          <a:lstStyle/>
          <a:p>
            <a:r>
              <a:rPr sz="1200" b="1" i="0">
                <a:solidFill>
                  <a:srgbClr val="FFFFFF"/>
                </a:solidFill>
                <a:latin typeface="Source Sans Pro"/>
              </a:rPr>
              <a:t>Property ▼ 5.8%: </a:t>
            </a:r>
            <a:r>
              <a:rPr sz="1200" b="0" i="0">
                <a:solidFill>
                  <a:srgbClr val="FFFFFF"/>
                </a:solidFill>
                <a:latin typeface="Source Sans Pro"/>
              </a:rPr>
              <a:t>capacity is back and some cat risk moved from E&amp;S to standard markets.</a:t>
            </a:r>
          </a:p>
        </p:txBody>
      </p:sp>
      <p:sp>
        <p:nvSpPr>
          <p:cNvPr id="26" name="Auto icon circle"/>
          <p:cNvSpPr/>
          <p:nvPr/>
        </p:nvSpPr>
        <p:spPr>
          <a:xfrm>
            <a:off x="5943600" y="4617720"/>
            <a:ext cx="457200" cy="457200"/>
          </a:xfrm>
          <a:prstGeom prst="ellipse">
            <a:avLst/>
          </a:prstGeom>
          <a:solidFill>
            <a:srgbClr val="8FB2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Auto icon" descr="Auto icon"/>
          <p:cNvPicPr>
            <a:picLocks noChangeAspect="1"/>
          </p:cNvPicPr>
          <p:nvPr/>
        </p:nvPicPr>
        <p:blipFill>
          <a:blip r:embed="rId4"/>
          <a:stretch>
            <a:fillRect/>
          </a:stretch>
        </p:blipFill>
        <p:spPr>
          <a:xfrm>
            <a:off x="6053328" y="4727448"/>
            <a:ext cx="237744" cy="237744"/>
          </a:xfrm>
          <a:prstGeom prst="rect">
            <a:avLst/>
          </a:prstGeom>
        </p:spPr>
      </p:pic>
      <p:sp>
        <p:nvSpPr>
          <p:cNvPr id="28" name="Auto note"/>
          <p:cNvSpPr txBox="1"/>
          <p:nvPr/>
        </p:nvSpPr>
        <p:spPr>
          <a:xfrm>
            <a:off x="6537960" y="4645152"/>
            <a:ext cx="4782312" cy="411480"/>
          </a:xfrm>
          <a:prstGeom prst="rect">
            <a:avLst/>
          </a:prstGeom>
          <a:noFill/>
        </p:spPr>
        <p:txBody>
          <a:bodyPr wrap="square" lIns="0" rIns="0" tIns="0" bIns="0" anchor="ctr">
            <a:spAutoFit/>
          </a:bodyPr>
          <a:lstStyle/>
          <a:p>
            <a:r>
              <a:rPr sz="1200" b="1" i="0">
                <a:solidFill>
                  <a:srgbClr val="FFFFFF"/>
                </a:solidFill>
                <a:latin typeface="Source Sans Pro"/>
              </a:rPr>
              <a:t>Auto ▲ 5.8%: </a:t>
            </a:r>
            <a:r>
              <a:rPr sz="1200" b="0" i="0">
                <a:solidFill>
                  <a:srgbClr val="FFFFFF"/>
                </a:solidFill>
                <a:latin typeface="Source Sans Pro"/>
              </a:rPr>
              <a:t>59th straight quarterly increase, driven by claim severity and litigation.</a:t>
            </a:r>
          </a:p>
        </p:txBody>
      </p:sp>
      <p:sp>
        <p:nvSpPr>
          <p:cNvPr id="29" name="Bottom line card"/>
          <p:cNvSpPr/>
          <p:nvPr/>
        </p:nvSpPr>
        <p:spPr>
          <a:xfrm>
            <a:off x="960120" y="5166360"/>
            <a:ext cx="10360152" cy="548640"/>
          </a:xfrm>
          <a:prstGeom prst="roundRect">
            <a:avLst>
              <a:gd name="adj" fmla="val 8000"/>
            </a:avLst>
          </a:prstGeom>
          <a:solidFill>
            <a:srgbClr val="366E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Bottom line text"/>
          <p:cNvSpPr txBox="1"/>
          <p:nvPr/>
        </p:nvSpPr>
        <p:spPr>
          <a:xfrm>
            <a:off x="1188720" y="5166360"/>
            <a:ext cx="9902952" cy="548640"/>
          </a:xfrm>
          <a:prstGeom prst="rect">
            <a:avLst/>
          </a:prstGeom>
          <a:noFill/>
        </p:spPr>
        <p:txBody>
          <a:bodyPr wrap="square" lIns="0" rIns="0" tIns="0" bIns="0" anchor="ctr">
            <a:spAutoFit/>
          </a:bodyPr>
          <a:lstStyle/>
          <a:p>
            <a:r>
              <a:rPr sz="1200" b="1" i="0" spc="150">
                <a:solidFill>
                  <a:srgbClr val="FFC666"/>
                </a:solidFill>
                <a:latin typeface="Source Sans Pro"/>
              </a:rPr>
              <a:t>THE BOTTOM LINE   </a:t>
            </a:r>
            <a:r>
              <a:rPr sz="1400" b="0" i="0">
                <a:solidFill>
                  <a:srgbClr val="FFFFFF"/>
                </a:solidFill>
                <a:latin typeface="Source Sans Pro"/>
              </a:rPr>
              <a:t>Expect relief on property lines, but continued pressure on fleet and auto exposures.</a:t>
            </a:r>
          </a:p>
        </p:txBody>
      </p:sp>
      <p:sp>
        <p:nvSpPr>
          <p:cNvPr id="31" name="Source"/>
          <p:cNvSpPr txBox="1"/>
          <p:nvPr/>
        </p:nvSpPr>
        <p:spPr>
          <a:xfrm>
            <a:off x="960120" y="5852160"/>
            <a:ext cx="10360152" cy="274320"/>
          </a:xfrm>
          <a:prstGeom prst="rect">
            <a:avLst/>
          </a:prstGeom>
          <a:noFill/>
        </p:spPr>
        <p:txBody>
          <a:bodyPr wrap="square" lIns="0" rIns="0" tIns="0" bIns="0" anchor="t">
            <a:spAutoFit/>
          </a:bodyPr>
          <a:lstStyle/>
          <a:p>
            <a:r>
              <a:rPr sz="1000" b="0" i="1">
                <a:solidFill>
                  <a:srgbClr val="BFC7CB"/>
                </a:solidFill>
                <a:latin typeface="Source Sans Pro"/>
              </a:rPr>
              <a:t>Source: The Council of Insurance Agents &amp; Brokers, Q1 2026 P&amp;C Market Survey</a:t>
            </a:r>
          </a:p>
        </p:txBody>
      </p:sp>
    </p:spTree>
    <p:extLst>
      <p:ext uri="{BB962C8B-B14F-4D97-AF65-F5344CB8AC3E}">
        <p14:creationId xmlns:p14="http://schemas.microsoft.com/office/powerpoint/2010/main" val="373954796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C0E2FD-837D-9753-CF85-B96BB0ED339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52C6772-D662-5D65-1798-38644B18B7E5}"/>
              </a:ext>
            </a:extLst>
          </p:cNvPr>
          <p:cNvSpPr txBox="1"/>
          <p:nvPr/>
        </p:nvSpPr>
        <p:spPr>
          <a:xfrm>
            <a:off x="875347" y="368336"/>
            <a:ext cx="10447973"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1" u="none" strike="noStrike" kern="1200" cap="none" spc="0" normalizeH="0" baseline="0" noProof="0" dirty="0">
                <a:ln>
                  <a:noFill/>
                </a:ln>
                <a:solidFill>
                  <a:srgbClr val="EDECED"/>
                </a:solidFill>
                <a:effectLst/>
                <a:uLnTx/>
                <a:uFillTx/>
                <a:latin typeface="Playfair Display" panose="00000500000000000000" pitchFamily="2" charset="0"/>
                <a:ea typeface="+mn-ea"/>
                <a:cs typeface="+mn-cs"/>
              </a:rPr>
              <a:t>Strategy matters more than price</a:t>
            </a:r>
          </a:p>
        </p:txBody>
      </p:sp>
      <p:cxnSp>
        <p:nvCxnSpPr>
          <p:cNvPr id="6" name="Straight Connector 5">
            <a:extLst>
              <a:ext uri="{FF2B5EF4-FFF2-40B4-BE49-F238E27FC236}">
                <a16:creationId xmlns:a16="http://schemas.microsoft.com/office/drawing/2014/main" id="{5E9116D3-F450-4A0A-4B24-450372B6DA92}"/>
              </a:ext>
            </a:extLst>
          </p:cNvPr>
          <p:cNvCxnSpPr>
            <a:cxnSpLocks/>
          </p:cNvCxnSpPr>
          <p:nvPr/>
        </p:nvCxnSpPr>
        <p:spPr>
          <a:xfrm>
            <a:off x="963168" y="1060704"/>
            <a:ext cx="10360152" cy="0"/>
          </a:xfrm>
          <a:prstGeom prst="line">
            <a:avLst/>
          </a:prstGeom>
          <a:ln>
            <a:solidFill>
              <a:schemeClr val="accent3"/>
            </a:solidFill>
          </a:ln>
        </p:spPr>
        <p:style>
          <a:lnRef idx="2">
            <a:schemeClr val="accent3"/>
          </a:lnRef>
          <a:fillRef idx="0">
            <a:schemeClr val="accent3"/>
          </a:fillRef>
          <a:effectRef idx="1">
            <a:schemeClr val="accent3"/>
          </a:effectRef>
          <a:fontRef idx="minor">
            <a:schemeClr val="tx1"/>
          </a:fontRef>
        </p:style>
      </p:cxnSp>
      <p:sp>
        <p:nvSpPr>
          <p:cNvPr id="7" name="Eyebrow"/>
          <p:cNvSpPr txBox="1"/>
          <p:nvPr/>
        </p:nvSpPr>
        <p:spPr>
          <a:xfrm>
            <a:off x="960120" y="1188720"/>
            <a:ext cx="10360152" cy="228600"/>
          </a:xfrm>
          <a:prstGeom prst="rect">
            <a:avLst/>
          </a:prstGeom>
          <a:noFill/>
        </p:spPr>
        <p:txBody>
          <a:bodyPr wrap="square" lIns="0" rIns="0" tIns="0" bIns="0" anchor="t">
            <a:spAutoFit/>
          </a:bodyPr>
          <a:lstStyle/>
          <a:p>
            <a:r>
              <a:rPr sz="1200" b="1" i="0" spc="200">
                <a:solidFill>
                  <a:srgbClr val="8FB24E"/>
                </a:solidFill>
                <a:latin typeface="Source Sans Pro"/>
              </a:rPr>
              <a:t>EMPLOYEE BENEFITS + HIGH-NET-WORTH</a:t>
            </a:r>
          </a:p>
        </p:txBody>
      </p:sp>
      <p:sp>
        <p:nvSpPr>
          <p:cNvPr id="8" name="Subtitle"/>
          <p:cNvSpPr txBox="1"/>
          <p:nvPr/>
        </p:nvSpPr>
        <p:spPr>
          <a:xfrm>
            <a:off x="960120" y="1444752"/>
            <a:ext cx="10360152" cy="320040"/>
          </a:xfrm>
          <a:prstGeom prst="rect">
            <a:avLst/>
          </a:prstGeom>
          <a:noFill/>
        </p:spPr>
        <p:txBody>
          <a:bodyPr wrap="square" lIns="0" rIns="0" tIns="0" bIns="0" anchor="t">
            <a:spAutoFit/>
          </a:bodyPr>
          <a:lstStyle/>
          <a:p>
            <a:r>
              <a:rPr sz="1600" b="0" i="0">
                <a:solidFill>
                  <a:srgbClr val="FFFFFF"/>
                </a:solidFill>
                <a:latin typeface="Source Sans Pro"/>
              </a:rPr>
              <a:t>Rising pharmacy costs and sharper underwriting reward a proactive approach.</a:t>
            </a:r>
          </a:p>
        </p:txBody>
      </p:sp>
      <p:sp>
        <p:nvSpPr>
          <p:cNvPr id="9" name="Employee Benefits panel"/>
          <p:cNvSpPr/>
          <p:nvPr/>
        </p:nvSpPr>
        <p:spPr>
          <a:xfrm>
            <a:off x="960120" y="1920240"/>
            <a:ext cx="5029200" cy="3840480"/>
          </a:xfrm>
          <a:prstGeom prst="roundRect">
            <a:avLst>
              <a:gd name="adj" fmla="val 4000"/>
            </a:avLst>
          </a:prstGeom>
          <a:solidFill>
            <a:srgbClr val="EDEC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Employee Benefits icon circle"/>
          <p:cNvSpPr/>
          <p:nvPr/>
        </p:nvSpPr>
        <p:spPr>
          <a:xfrm>
            <a:off x="1188720" y="2148840"/>
            <a:ext cx="548640" cy="548640"/>
          </a:xfrm>
          <a:prstGeom prst="ellipse">
            <a:avLst/>
          </a:prstGeom>
          <a:solidFill>
            <a:srgbClr val="8FB2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Employee Benefits icon" descr="Employee Benefits icon"/>
          <p:cNvPicPr>
            <a:picLocks noChangeAspect="1"/>
          </p:cNvPicPr>
          <p:nvPr/>
        </p:nvPicPr>
        <p:blipFill>
          <a:blip r:embed="rId2"/>
          <a:stretch>
            <a:fillRect/>
          </a:stretch>
        </p:blipFill>
        <p:spPr>
          <a:xfrm>
            <a:off x="1320393" y="2280513"/>
            <a:ext cx="285292" cy="285292"/>
          </a:xfrm>
          <a:prstGeom prst="rect">
            <a:avLst/>
          </a:prstGeom>
        </p:spPr>
      </p:pic>
      <p:sp>
        <p:nvSpPr>
          <p:cNvPr id="12" name="Employee Benefits header"/>
          <p:cNvSpPr txBox="1"/>
          <p:nvPr/>
        </p:nvSpPr>
        <p:spPr>
          <a:xfrm>
            <a:off x="1874519" y="2176272"/>
            <a:ext cx="3931920" cy="274320"/>
          </a:xfrm>
          <a:prstGeom prst="rect">
            <a:avLst/>
          </a:prstGeom>
          <a:noFill/>
        </p:spPr>
        <p:txBody>
          <a:bodyPr wrap="square" lIns="0" rIns="0" tIns="0" bIns="0" anchor="t">
            <a:spAutoFit/>
          </a:bodyPr>
          <a:lstStyle/>
          <a:p>
            <a:r>
              <a:rPr sz="1800" b="1" i="0">
                <a:solidFill>
                  <a:srgbClr val="153243"/>
                </a:solidFill>
                <a:latin typeface="Source Sans Pro"/>
              </a:rPr>
              <a:t>Employee Benefits</a:t>
            </a:r>
          </a:p>
        </p:txBody>
      </p:sp>
      <p:sp>
        <p:nvSpPr>
          <p:cNvPr id="13" name="Employee Benefits subhead"/>
          <p:cNvSpPr txBox="1"/>
          <p:nvPr/>
        </p:nvSpPr>
        <p:spPr>
          <a:xfrm>
            <a:off x="1874519" y="2468880"/>
            <a:ext cx="3931920" cy="274320"/>
          </a:xfrm>
          <a:prstGeom prst="rect">
            <a:avLst/>
          </a:prstGeom>
          <a:noFill/>
        </p:spPr>
        <p:txBody>
          <a:bodyPr wrap="square" lIns="0" rIns="0" tIns="0" bIns="0" anchor="t">
            <a:spAutoFit/>
          </a:bodyPr>
          <a:lstStyle/>
          <a:p>
            <a:r>
              <a:rPr sz="1300" b="0" i="0">
                <a:solidFill>
                  <a:srgbClr val="366E8E"/>
                </a:solidFill>
                <a:latin typeface="Source Sans Pro"/>
              </a:rPr>
              <a:t>Pharmacy is now the dominant cost driver</a:t>
            </a:r>
          </a:p>
        </p:txBody>
      </p:sp>
      <p:sp>
        <p:nvSpPr>
          <p:cNvPr id="14" name="Bottom line card"/>
          <p:cNvSpPr/>
          <p:nvPr/>
        </p:nvSpPr>
        <p:spPr>
          <a:xfrm>
            <a:off x="1188720" y="4754880"/>
            <a:ext cx="4572000" cy="822960"/>
          </a:xfrm>
          <a:prstGeom prst="roundRect">
            <a:avLst>
              <a:gd name="adj" fmla="val 8000"/>
            </a:avLst>
          </a:prstGeom>
          <a:solidFill>
            <a:srgbClr val="366E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Bottom line text"/>
          <p:cNvSpPr txBox="1"/>
          <p:nvPr/>
        </p:nvSpPr>
        <p:spPr>
          <a:xfrm>
            <a:off x="1371600" y="4754880"/>
            <a:ext cx="4206240" cy="822960"/>
          </a:xfrm>
          <a:prstGeom prst="rect">
            <a:avLst/>
          </a:prstGeom>
          <a:noFill/>
        </p:spPr>
        <p:txBody>
          <a:bodyPr wrap="square" lIns="0" rIns="0" tIns="0" bIns="0" anchor="ctr">
            <a:spAutoFit/>
          </a:bodyPr>
          <a:lstStyle/>
          <a:p>
            <a:r>
              <a:rPr sz="1100" b="1" i="0" spc="150">
                <a:solidFill>
                  <a:srgbClr val="FFC666"/>
                </a:solidFill>
                <a:latin typeface="Source Sans Pro"/>
              </a:rPr>
              <a:t>THE BOTTOM LINE  </a:t>
            </a:r>
            <a:r>
              <a:rPr sz="1300" b="0" i="0">
                <a:solidFill>
                  <a:srgbClr val="FFFFFF"/>
                </a:solidFill>
                <a:latin typeface="Source Sans Pro"/>
              </a:rPr>
              <a:t>The gap is strategic, not informational. A data-driven review is overdue.</a:t>
            </a:r>
          </a:p>
        </p:txBody>
      </p:sp>
      <p:sp>
        <p:nvSpPr>
          <p:cNvPr id="16" name="Source"/>
          <p:cNvSpPr txBox="1"/>
          <p:nvPr/>
        </p:nvSpPr>
        <p:spPr>
          <a:xfrm>
            <a:off x="960120" y="5852160"/>
            <a:ext cx="5029200" cy="274320"/>
          </a:xfrm>
          <a:prstGeom prst="rect">
            <a:avLst/>
          </a:prstGeom>
          <a:noFill/>
        </p:spPr>
        <p:txBody>
          <a:bodyPr wrap="square" lIns="0" rIns="0" tIns="0" bIns="0" anchor="t">
            <a:spAutoFit/>
          </a:bodyPr>
          <a:lstStyle/>
          <a:p>
            <a:r>
              <a:rPr sz="1000" b="0" i="1">
                <a:solidFill>
                  <a:srgbClr val="BFC7CB"/>
                </a:solidFill>
                <a:latin typeface="Source Sans Pro"/>
              </a:rPr>
              <a:t>Source: Assurex Global, Employee Benefits Market Check Survey, August 2026</a:t>
            </a:r>
          </a:p>
        </p:txBody>
      </p:sp>
      <p:sp>
        <p:nvSpPr>
          <p:cNvPr id="17" name="High-Net-Worth panel"/>
          <p:cNvSpPr/>
          <p:nvPr/>
        </p:nvSpPr>
        <p:spPr>
          <a:xfrm>
            <a:off x="6291072" y="1920240"/>
            <a:ext cx="5029200" cy="3840480"/>
          </a:xfrm>
          <a:prstGeom prst="roundRect">
            <a:avLst>
              <a:gd name="adj" fmla="val 4000"/>
            </a:avLst>
          </a:prstGeom>
          <a:solidFill>
            <a:srgbClr val="EDEC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High-Net-Worth icon circle"/>
          <p:cNvSpPr/>
          <p:nvPr/>
        </p:nvSpPr>
        <p:spPr>
          <a:xfrm>
            <a:off x="6519672" y="2148840"/>
            <a:ext cx="548640" cy="548640"/>
          </a:xfrm>
          <a:prstGeom prst="ellipse">
            <a:avLst/>
          </a:prstGeom>
          <a:solidFill>
            <a:srgbClr val="8FB2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High-Net-Worth icon" descr="High-Net-Worth icon"/>
          <p:cNvPicPr>
            <a:picLocks noChangeAspect="1"/>
          </p:cNvPicPr>
          <p:nvPr/>
        </p:nvPicPr>
        <p:blipFill>
          <a:blip r:embed="rId3"/>
          <a:stretch>
            <a:fillRect/>
          </a:stretch>
        </p:blipFill>
        <p:spPr>
          <a:xfrm>
            <a:off x="6651345" y="2280513"/>
            <a:ext cx="285292" cy="285292"/>
          </a:xfrm>
          <a:prstGeom prst="rect">
            <a:avLst/>
          </a:prstGeom>
        </p:spPr>
      </p:pic>
      <p:sp>
        <p:nvSpPr>
          <p:cNvPr id="20" name="High-Net-Worth header"/>
          <p:cNvSpPr txBox="1"/>
          <p:nvPr/>
        </p:nvSpPr>
        <p:spPr>
          <a:xfrm>
            <a:off x="7205472" y="2176272"/>
            <a:ext cx="3931920" cy="274320"/>
          </a:xfrm>
          <a:prstGeom prst="rect">
            <a:avLst/>
          </a:prstGeom>
          <a:noFill/>
        </p:spPr>
        <p:txBody>
          <a:bodyPr wrap="square" lIns="0" rIns="0" tIns="0" bIns="0" anchor="t">
            <a:spAutoFit/>
          </a:bodyPr>
          <a:lstStyle/>
          <a:p>
            <a:r>
              <a:rPr sz="1800" b="1" i="0">
                <a:solidFill>
                  <a:srgbClr val="153243"/>
                </a:solidFill>
                <a:latin typeface="Source Sans Pro"/>
              </a:rPr>
              <a:t>High-Net-Worth</a:t>
            </a:r>
          </a:p>
        </p:txBody>
      </p:sp>
      <p:sp>
        <p:nvSpPr>
          <p:cNvPr id="21" name="High-Net-Worth subhead"/>
          <p:cNvSpPr txBox="1"/>
          <p:nvPr/>
        </p:nvSpPr>
        <p:spPr>
          <a:xfrm>
            <a:off x="7205472" y="2468880"/>
            <a:ext cx="3931920" cy="274320"/>
          </a:xfrm>
          <a:prstGeom prst="rect">
            <a:avLst/>
          </a:prstGeom>
          <a:noFill/>
        </p:spPr>
        <p:txBody>
          <a:bodyPr wrap="square" lIns="0" rIns="0" tIns="0" bIns="0" anchor="t">
            <a:spAutoFit/>
          </a:bodyPr>
          <a:lstStyle/>
          <a:p>
            <a:r>
              <a:rPr sz="1300" b="0" i="0">
                <a:solidFill>
                  <a:srgbClr val="366E8E"/>
                </a:solidFill>
                <a:latin typeface="Source Sans Pro"/>
              </a:rPr>
              <a:t>Capacity is improving, underwriting is sharper</a:t>
            </a:r>
          </a:p>
        </p:txBody>
      </p:sp>
      <p:sp>
        <p:nvSpPr>
          <p:cNvPr id="22" name="Bottom line card"/>
          <p:cNvSpPr/>
          <p:nvPr/>
        </p:nvSpPr>
        <p:spPr>
          <a:xfrm>
            <a:off x="6519672" y="4754880"/>
            <a:ext cx="4572000" cy="822960"/>
          </a:xfrm>
          <a:prstGeom prst="roundRect">
            <a:avLst>
              <a:gd name="adj" fmla="val 8000"/>
            </a:avLst>
          </a:prstGeom>
          <a:solidFill>
            <a:srgbClr val="366E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Bottom line text"/>
          <p:cNvSpPr txBox="1"/>
          <p:nvPr/>
        </p:nvSpPr>
        <p:spPr>
          <a:xfrm>
            <a:off x="6702552" y="4754880"/>
            <a:ext cx="4206240" cy="822960"/>
          </a:xfrm>
          <a:prstGeom prst="rect">
            <a:avLst/>
          </a:prstGeom>
          <a:noFill/>
        </p:spPr>
        <p:txBody>
          <a:bodyPr wrap="square" lIns="0" rIns="0" tIns="0" bIns="0" anchor="ctr">
            <a:spAutoFit/>
          </a:bodyPr>
          <a:lstStyle/>
          <a:p>
            <a:r>
              <a:rPr sz="1100" b="1" i="0" spc="150">
                <a:solidFill>
                  <a:srgbClr val="FFC666"/>
                </a:solidFill>
                <a:latin typeface="Source Sans Pro"/>
              </a:rPr>
              <a:t>THE BOTTOM LINE  </a:t>
            </a:r>
            <a:r>
              <a:rPr sz="1300" b="0" i="0">
                <a:solidFill>
                  <a:srgbClr val="FFFFFF"/>
                </a:solidFill>
                <a:latin typeface="Source Sans Pro"/>
              </a:rPr>
              <a:t>Insurability is now an asset families need to actively manage.</a:t>
            </a:r>
          </a:p>
        </p:txBody>
      </p:sp>
      <p:sp>
        <p:nvSpPr>
          <p:cNvPr id="24" name="Source"/>
          <p:cNvSpPr txBox="1"/>
          <p:nvPr/>
        </p:nvSpPr>
        <p:spPr>
          <a:xfrm>
            <a:off x="6291072" y="5852160"/>
            <a:ext cx="5029200" cy="274320"/>
          </a:xfrm>
          <a:prstGeom prst="rect">
            <a:avLst/>
          </a:prstGeom>
          <a:noFill/>
        </p:spPr>
        <p:txBody>
          <a:bodyPr wrap="square" lIns="0" rIns="0" tIns="0" bIns="0" anchor="t">
            <a:spAutoFit/>
          </a:bodyPr>
          <a:lstStyle/>
          <a:p>
            <a:r>
              <a:rPr sz="1000" b="0" i="1">
                <a:solidFill>
                  <a:srgbClr val="BFC7CB"/>
                </a:solidFill>
                <a:latin typeface="Source Sans Pro"/>
              </a:rPr>
              <a:t>Source: Dowling &amp; Partners, HNW Insurance Market Research Report</a:t>
            </a:r>
          </a:p>
        </p:txBody>
      </p:sp>
      <p:sp>
        <p:nvSpPr>
          <p:cNvPr id="25" name="Benefit stat card 1"/>
          <p:cNvSpPr/>
          <p:nvPr/>
        </p:nvSpPr>
        <p:spPr>
          <a:xfrm>
            <a:off x="1188720" y="2926080"/>
            <a:ext cx="2194560" cy="804672"/>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Benefit stat 1"/>
          <p:cNvSpPr txBox="1"/>
          <p:nvPr/>
        </p:nvSpPr>
        <p:spPr>
          <a:xfrm>
            <a:off x="1325880" y="2980944"/>
            <a:ext cx="1965960" cy="320040"/>
          </a:xfrm>
          <a:prstGeom prst="rect">
            <a:avLst/>
          </a:prstGeom>
          <a:noFill/>
        </p:spPr>
        <p:txBody>
          <a:bodyPr wrap="square" lIns="0" rIns="0" tIns="0" bIns="0" anchor="t">
            <a:spAutoFit/>
          </a:bodyPr>
          <a:lstStyle/>
          <a:p>
            <a:r>
              <a:rPr sz="2000" b="1" i="0">
                <a:solidFill>
                  <a:srgbClr val="153243"/>
                </a:solidFill>
                <a:latin typeface="Playfair Display"/>
              </a:rPr>
              <a:t>30%+</a:t>
            </a:r>
          </a:p>
        </p:txBody>
      </p:sp>
      <p:sp>
        <p:nvSpPr>
          <p:cNvPr id="27" name="Benefit label 1"/>
          <p:cNvSpPr txBox="1"/>
          <p:nvPr/>
        </p:nvSpPr>
        <p:spPr>
          <a:xfrm>
            <a:off x="1325880" y="3310128"/>
            <a:ext cx="1965960" cy="384048"/>
          </a:xfrm>
          <a:prstGeom prst="rect">
            <a:avLst/>
          </a:prstGeom>
          <a:noFill/>
        </p:spPr>
        <p:txBody>
          <a:bodyPr wrap="square" lIns="0" rIns="0" tIns="0" bIns="0" anchor="t">
            <a:spAutoFit/>
          </a:bodyPr>
          <a:lstStyle/>
          <a:p>
            <a:r>
              <a:rPr sz="1100" b="0" i="0">
                <a:solidFill>
                  <a:srgbClr val="153243"/>
                </a:solidFill>
                <a:latin typeface="Source Sans Pro"/>
              </a:rPr>
              <a:t>pharmacy share of medical spend, for some</a:t>
            </a:r>
          </a:p>
        </p:txBody>
      </p:sp>
      <p:sp>
        <p:nvSpPr>
          <p:cNvPr id="28" name="Benefit stat card 2"/>
          <p:cNvSpPr/>
          <p:nvPr/>
        </p:nvSpPr>
        <p:spPr>
          <a:xfrm>
            <a:off x="3566160" y="2926080"/>
            <a:ext cx="2194560" cy="804672"/>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enefit stat 2"/>
          <p:cNvSpPr txBox="1"/>
          <p:nvPr/>
        </p:nvSpPr>
        <p:spPr>
          <a:xfrm>
            <a:off x="3703320" y="2980944"/>
            <a:ext cx="1965960" cy="320040"/>
          </a:xfrm>
          <a:prstGeom prst="rect">
            <a:avLst/>
          </a:prstGeom>
          <a:noFill/>
        </p:spPr>
        <p:txBody>
          <a:bodyPr wrap="square" lIns="0" rIns="0" tIns="0" bIns="0" anchor="t">
            <a:spAutoFit/>
          </a:bodyPr>
          <a:lstStyle/>
          <a:p>
            <a:r>
              <a:rPr sz="2000" b="1" i="0">
                <a:solidFill>
                  <a:srgbClr val="153243"/>
                </a:solidFill>
                <a:latin typeface="Playfair Display"/>
              </a:rPr>
              <a:t>3 in 4</a:t>
            </a:r>
          </a:p>
        </p:txBody>
      </p:sp>
      <p:sp>
        <p:nvSpPr>
          <p:cNvPr id="30" name="Benefit label 2"/>
          <p:cNvSpPr txBox="1"/>
          <p:nvPr/>
        </p:nvSpPr>
        <p:spPr>
          <a:xfrm>
            <a:off x="3703320" y="3310128"/>
            <a:ext cx="1965960" cy="384048"/>
          </a:xfrm>
          <a:prstGeom prst="rect">
            <a:avLst/>
          </a:prstGeom>
          <a:noFill/>
        </p:spPr>
        <p:txBody>
          <a:bodyPr wrap="square" lIns="0" rIns="0" tIns="0" bIns="0" anchor="t">
            <a:spAutoFit/>
          </a:bodyPr>
          <a:lstStyle/>
          <a:p>
            <a:r>
              <a:rPr sz="1100" b="0" i="0">
                <a:solidFill>
                  <a:srgbClr val="153243"/>
                </a:solidFill>
                <a:latin typeface="Source Sans Pro"/>
              </a:rPr>
              <a:t>cite drug costs as their top pharmacy challenge</a:t>
            </a:r>
          </a:p>
        </p:txBody>
      </p:sp>
      <p:sp>
        <p:nvSpPr>
          <p:cNvPr id="31" name="Benefit stat card 3"/>
          <p:cNvSpPr/>
          <p:nvPr/>
        </p:nvSpPr>
        <p:spPr>
          <a:xfrm>
            <a:off x="1188720" y="3822191"/>
            <a:ext cx="2194560" cy="804672"/>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Benefit stat 3"/>
          <p:cNvSpPr txBox="1"/>
          <p:nvPr/>
        </p:nvSpPr>
        <p:spPr>
          <a:xfrm>
            <a:off x="1325880" y="3877055"/>
            <a:ext cx="1965960" cy="320040"/>
          </a:xfrm>
          <a:prstGeom prst="rect">
            <a:avLst/>
          </a:prstGeom>
          <a:noFill/>
        </p:spPr>
        <p:txBody>
          <a:bodyPr wrap="square" lIns="0" rIns="0" tIns="0" bIns="0" anchor="t">
            <a:spAutoFit/>
          </a:bodyPr>
          <a:lstStyle/>
          <a:p>
            <a:r>
              <a:rPr sz="2000" b="1" i="0">
                <a:solidFill>
                  <a:srgbClr val="153243"/>
                </a:solidFill>
                <a:latin typeface="Playfair Display"/>
              </a:rPr>
              <a:t>~6 in 10</a:t>
            </a:r>
          </a:p>
        </p:txBody>
      </p:sp>
      <p:sp>
        <p:nvSpPr>
          <p:cNvPr id="33" name="Benefit label 3"/>
          <p:cNvSpPr txBox="1"/>
          <p:nvPr/>
        </p:nvSpPr>
        <p:spPr>
          <a:xfrm>
            <a:off x="1325880" y="4206240"/>
            <a:ext cx="1965960" cy="384048"/>
          </a:xfrm>
          <a:prstGeom prst="rect">
            <a:avLst/>
          </a:prstGeom>
          <a:noFill/>
        </p:spPr>
        <p:txBody>
          <a:bodyPr wrap="square" lIns="0" rIns="0" tIns="0" bIns="0" anchor="t">
            <a:spAutoFit/>
          </a:bodyPr>
          <a:lstStyle/>
          <a:p>
            <a:r>
              <a:rPr sz="1100" b="0" i="0">
                <a:solidFill>
                  <a:srgbClr val="153243"/>
                </a:solidFill>
                <a:latin typeface="Source Sans Pro"/>
              </a:rPr>
              <a:t>feel neutral or unprepared for future cost trends</a:t>
            </a:r>
          </a:p>
        </p:txBody>
      </p:sp>
      <p:sp>
        <p:nvSpPr>
          <p:cNvPr id="34" name="Benefit stat card 4"/>
          <p:cNvSpPr/>
          <p:nvPr/>
        </p:nvSpPr>
        <p:spPr>
          <a:xfrm>
            <a:off x="3566160" y="3822191"/>
            <a:ext cx="2194560" cy="804672"/>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Benefit stat 4"/>
          <p:cNvSpPr txBox="1"/>
          <p:nvPr/>
        </p:nvSpPr>
        <p:spPr>
          <a:xfrm>
            <a:off x="3703320" y="3877055"/>
            <a:ext cx="1965960" cy="320040"/>
          </a:xfrm>
          <a:prstGeom prst="rect">
            <a:avLst/>
          </a:prstGeom>
          <a:noFill/>
        </p:spPr>
        <p:txBody>
          <a:bodyPr wrap="square" lIns="0" rIns="0" tIns="0" bIns="0" anchor="t">
            <a:spAutoFit/>
          </a:bodyPr>
          <a:lstStyle/>
          <a:p>
            <a:r>
              <a:rPr sz="2000" b="1" i="0">
                <a:solidFill>
                  <a:srgbClr val="153243"/>
                </a:solidFill>
                <a:latin typeface="Playfair Display"/>
              </a:rPr>
              <a:t>43%</a:t>
            </a:r>
          </a:p>
        </p:txBody>
      </p:sp>
      <p:sp>
        <p:nvSpPr>
          <p:cNvPr id="36" name="Benefit label 4"/>
          <p:cNvSpPr txBox="1"/>
          <p:nvPr/>
        </p:nvSpPr>
        <p:spPr>
          <a:xfrm>
            <a:off x="3703320" y="4206240"/>
            <a:ext cx="1965960" cy="384048"/>
          </a:xfrm>
          <a:prstGeom prst="rect">
            <a:avLst/>
          </a:prstGeom>
          <a:noFill/>
        </p:spPr>
        <p:txBody>
          <a:bodyPr wrap="square" lIns="0" rIns="0" tIns="0" bIns="0" anchor="t">
            <a:spAutoFit/>
          </a:bodyPr>
          <a:lstStyle/>
          <a:p>
            <a:r>
              <a:rPr sz="1100" b="0" i="0">
                <a:solidFill>
                  <a:srgbClr val="153243"/>
                </a:solidFill>
                <a:latin typeface="Source Sans Pro"/>
              </a:rPr>
              <a:t>unsure when pharmacy strategy was last reviewed</a:t>
            </a:r>
          </a:p>
        </p:txBody>
      </p:sp>
      <p:sp>
        <p:nvSpPr>
          <p:cNvPr id="37" name="HNW row icon 1 circle"/>
          <p:cNvSpPr/>
          <p:nvPr/>
        </p:nvSpPr>
        <p:spPr>
          <a:xfrm>
            <a:off x="6519672" y="2834640"/>
            <a:ext cx="457200" cy="4572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8" name="HNW row icon 1" descr="HNW row icon 1"/>
          <p:cNvPicPr>
            <a:picLocks noChangeAspect="1"/>
          </p:cNvPicPr>
          <p:nvPr/>
        </p:nvPicPr>
        <p:blipFill>
          <a:blip r:embed="rId4"/>
          <a:stretch>
            <a:fillRect/>
          </a:stretch>
        </p:blipFill>
        <p:spPr>
          <a:xfrm>
            <a:off x="6629400" y="2944368"/>
            <a:ext cx="237744" cy="237744"/>
          </a:xfrm>
          <a:prstGeom prst="rect">
            <a:avLst/>
          </a:prstGeom>
        </p:spPr>
      </p:pic>
      <p:sp>
        <p:nvSpPr>
          <p:cNvPr id="39" name="HNW row text 1"/>
          <p:cNvSpPr txBox="1"/>
          <p:nvPr/>
        </p:nvSpPr>
        <p:spPr>
          <a:xfrm>
            <a:off x="7132320" y="2834640"/>
            <a:ext cx="4023360" cy="566928"/>
          </a:xfrm>
          <a:prstGeom prst="rect">
            <a:avLst/>
          </a:prstGeom>
          <a:noFill/>
        </p:spPr>
        <p:txBody>
          <a:bodyPr wrap="square" lIns="0" rIns="0" tIns="0" bIns="0" anchor="t">
            <a:spAutoFit/>
          </a:bodyPr>
          <a:lstStyle/>
          <a:p>
            <a:r>
              <a:rPr sz="1400" b="1" i="0">
                <a:solidFill>
                  <a:srgbClr val="153243"/>
                </a:solidFill>
                <a:latin typeface="Source Sans Pro"/>
              </a:rPr>
              <a:t>Quality over price</a:t>
            </a:r>
          </a:p>
          <a:p>
            <a:r>
              <a:rPr sz="1100" b="0" i="0">
                <a:solidFill>
                  <a:srgbClr val="153243"/>
                </a:solidFill>
                <a:latin typeface="Source Sans Pro"/>
              </a:rPr>
              <a:t>Carriers reward loss prevention and accurate property data.</a:t>
            </a:r>
          </a:p>
        </p:txBody>
      </p:sp>
      <p:sp>
        <p:nvSpPr>
          <p:cNvPr id="40" name="HNW row icon 2 circle"/>
          <p:cNvSpPr/>
          <p:nvPr/>
        </p:nvSpPr>
        <p:spPr>
          <a:xfrm>
            <a:off x="6519672" y="3456432"/>
            <a:ext cx="457200" cy="4572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1" name="HNW row icon 2" descr="HNW row icon 2"/>
          <p:cNvPicPr>
            <a:picLocks noChangeAspect="1"/>
          </p:cNvPicPr>
          <p:nvPr/>
        </p:nvPicPr>
        <p:blipFill>
          <a:blip r:embed="rId5"/>
          <a:stretch>
            <a:fillRect/>
          </a:stretch>
        </p:blipFill>
        <p:spPr>
          <a:xfrm>
            <a:off x="6629400" y="3566160"/>
            <a:ext cx="237744" cy="237744"/>
          </a:xfrm>
          <a:prstGeom prst="rect">
            <a:avLst/>
          </a:prstGeom>
        </p:spPr>
      </p:pic>
      <p:sp>
        <p:nvSpPr>
          <p:cNvPr id="42" name="HNW row text 2"/>
          <p:cNvSpPr txBox="1"/>
          <p:nvPr/>
        </p:nvSpPr>
        <p:spPr>
          <a:xfrm>
            <a:off x="7132320" y="3456432"/>
            <a:ext cx="4023360" cy="566928"/>
          </a:xfrm>
          <a:prstGeom prst="rect">
            <a:avLst/>
          </a:prstGeom>
          <a:noFill/>
        </p:spPr>
        <p:txBody>
          <a:bodyPr wrap="square" lIns="0" rIns="0" tIns="0" bIns="0" anchor="t">
            <a:spAutoFit/>
          </a:bodyPr>
          <a:lstStyle/>
          <a:p>
            <a:r>
              <a:rPr sz="1400" b="1" i="0">
                <a:solidFill>
                  <a:srgbClr val="153243"/>
                </a:solidFill>
                <a:latin typeface="Source Sans Pro"/>
              </a:rPr>
              <a:t>New core factors</a:t>
            </a:r>
          </a:p>
          <a:p>
            <a:r>
              <a:rPr sz="1100" b="0" i="0">
                <a:solidFill>
                  <a:srgbClr val="153243"/>
                </a:solidFill>
                <a:latin typeface="Source Sans Pro"/>
              </a:rPr>
              <a:t>Cat exposure, rebuild cost inflation, and liability severity.</a:t>
            </a:r>
          </a:p>
        </p:txBody>
      </p:sp>
      <p:sp>
        <p:nvSpPr>
          <p:cNvPr id="43" name="HNW row icon 3 circle"/>
          <p:cNvSpPr/>
          <p:nvPr/>
        </p:nvSpPr>
        <p:spPr>
          <a:xfrm>
            <a:off x="6519672" y="4078224"/>
            <a:ext cx="457200" cy="4572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4" name="HNW row icon 3" descr="HNW row icon 3"/>
          <p:cNvPicPr>
            <a:picLocks noChangeAspect="1"/>
          </p:cNvPicPr>
          <p:nvPr/>
        </p:nvPicPr>
        <p:blipFill>
          <a:blip r:embed="rId6"/>
          <a:stretch>
            <a:fillRect/>
          </a:stretch>
        </p:blipFill>
        <p:spPr>
          <a:xfrm>
            <a:off x="6629400" y="4187952"/>
            <a:ext cx="237744" cy="237744"/>
          </a:xfrm>
          <a:prstGeom prst="rect">
            <a:avLst/>
          </a:prstGeom>
        </p:spPr>
      </p:pic>
      <p:sp>
        <p:nvSpPr>
          <p:cNvPr id="45" name="HNW row text 3"/>
          <p:cNvSpPr txBox="1"/>
          <p:nvPr/>
        </p:nvSpPr>
        <p:spPr>
          <a:xfrm>
            <a:off x="7132320" y="4078224"/>
            <a:ext cx="4023360" cy="566928"/>
          </a:xfrm>
          <a:prstGeom prst="rect">
            <a:avLst/>
          </a:prstGeom>
          <a:noFill/>
        </p:spPr>
        <p:txBody>
          <a:bodyPr wrap="square" lIns="0" rIns="0" tIns="0" bIns="0" anchor="t">
            <a:spAutoFit/>
          </a:bodyPr>
          <a:lstStyle/>
          <a:p>
            <a:r>
              <a:rPr sz="1400" b="1" i="0">
                <a:solidFill>
                  <a:srgbClr val="153243"/>
                </a:solidFill>
                <a:latin typeface="Source Sans Pro"/>
              </a:rPr>
              <a:t>Portfolio-level thinking</a:t>
            </a:r>
          </a:p>
          <a:p>
            <a:r>
              <a:rPr sz="1100" b="0" i="0">
                <a:solidFill>
                  <a:srgbClr val="153243"/>
                </a:solidFill>
                <a:latin typeface="Source Sans Pro"/>
              </a:rPr>
              <a:t>What separates strong placements from weak ones.</a:t>
            </a:r>
          </a:p>
        </p:txBody>
      </p:sp>
    </p:spTree>
    <p:extLst>
      <p:ext uri="{BB962C8B-B14F-4D97-AF65-F5344CB8AC3E}">
        <p14:creationId xmlns:p14="http://schemas.microsoft.com/office/powerpoint/2010/main" val="373954796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C0E2FD-837D-9753-CF85-B96BB0ED339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52C6772-D662-5D65-1798-38644B18B7E5}"/>
              </a:ext>
            </a:extLst>
          </p:cNvPr>
          <p:cNvSpPr txBox="1"/>
          <p:nvPr/>
        </p:nvSpPr>
        <p:spPr>
          <a:xfrm>
            <a:off x="875347" y="368336"/>
            <a:ext cx="10447973"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1" u="none" strike="noStrike" kern="1200" cap="none" spc="0" normalizeH="0" baseline="0" noProof="0" dirty="0">
                <a:ln>
                  <a:noFill/>
                </a:ln>
                <a:solidFill>
                  <a:srgbClr val="EDECED"/>
                </a:solidFill>
                <a:effectLst/>
                <a:uLnTx/>
                <a:uFillTx/>
                <a:latin typeface="Playfair Display" panose="00000500000000000000" pitchFamily="2" charset="0"/>
                <a:ea typeface="+mn-ea"/>
                <a:cs typeface="+mn-cs"/>
              </a:rPr>
              <a:t>Top 10% in new business growth</a:t>
            </a:r>
          </a:p>
        </p:txBody>
      </p:sp>
      <p:cxnSp>
        <p:nvCxnSpPr>
          <p:cNvPr id="6" name="Straight Connector 5">
            <a:extLst>
              <a:ext uri="{FF2B5EF4-FFF2-40B4-BE49-F238E27FC236}">
                <a16:creationId xmlns:a16="http://schemas.microsoft.com/office/drawing/2014/main" id="{5E9116D3-F450-4A0A-4B24-450372B6DA92}"/>
              </a:ext>
            </a:extLst>
          </p:cNvPr>
          <p:cNvCxnSpPr>
            <a:cxnSpLocks/>
          </p:cNvCxnSpPr>
          <p:nvPr/>
        </p:nvCxnSpPr>
        <p:spPr>
          <a:xfrm>
            <a:off x="963168" y="1060704"/>
            <a:ext cx="10360152" cy="0"/>
          </a:xfrm>
          <a:prstGeom prst="line">
            <a:avLst/>
          </a:prstGeom>
          <a:ln>
            <a:solidFill>
              <a:schemeClr val="accent3"/>
            </a:solidFill>
          </a:ln>
        </p:spPr>
        <p:style>
          <a:lnRef idx="2">
            <a:schemeClr val="accent3"/>
          </a:lnRef>
          <a:fillRef idx="0">
            <a:schemeClr val="accent3"/>
          </a:fillRef>
          <a:effectRef idx="1">
            <a:schemeClr val="accent3"/>
          </a:effectRef>
          <a:fontRef idx="minor">
            <a:schemeClr val="tx1"/>
          </a:fontRef>
        </p:style>
      </p:cxnSp>
      <p:sp>
        <p:nvSpPr>
          <p:cNvPr id="7" name="Eyebrow"/>
          <p:cNvSpPr txBox="1"/>
          <p:nvPr/>
        </p:nvSpPr>
        <p:spPr>
          <a:xfrm>
            <a:off x="960120" y="1188720"/>
            <a:ext cx="10360152" cy="228600"/>
          </a:xfrm>
          <a:prstGeom prst="rect">
            <a:avLst/>
          </a:prstGeom>
          <a:noFill/>
        </p:spPr>
        <p:txBody>
          <a:bodyPr wrap="square" lIns="0" rIns="0" tIns="0" bIns="0" anchor="t">
            <a:spAutoFit/>
          </a:bodyPr>
          <a:lstStyle/>
          <a:p>
            <a:r>
              <a:rPr sz="1200" b="1" i="0" spc="200">
                <a:solidFill>
                  <a:srgbClr val="8FB24E"/>
                </a:solidFill>
                <a:latin typeface="Source Sans Pro"/>
              </a:rPr>
              <a:t>Q3 2026 RESULTS</a:t>
            </a:r>
          </a:p>
        </p:txBody>
      </p:sp>
      <p:sp>
        <p:nvSpPr>
          <p:cNvPr id="8" name="Subtitle"/>
          <p:cNvSpPr txBox="1"/>
          <p:nvPr/>
        </p:nvSpPr>
        <p:spPr>
          <a:xfrm>
            <a:off x="960120" y="1444752"/>
            <a:ext cx="10360152" cy="320040"/>
          </a:xfrm>
          <a:prstGeom prst="rect">
            <a:avLst/>
          </a:prstGeom>
          <a:noFill/>
        </p:spPr>
        <p:txBody>
          <a:bodyPr wrap="square" lIns="0" rIns="0" tIns="0" bIns="0" anchor="t">
            <a:spAutoFit/>
          </a:bodyPr>
          <a:lstStyle/>
          <a:p>
            <a:r>
              <a:rPr sz="1600" b="0" i="0">
                <a:solidFill>
                  <a:srgbClr val="FFFFFF"/>
                </a:solidFill>
                <a:latin typeface="Source Sans Pro"/>
              </a:rPr>
              <a:t>Growth in revenue, new team members, and promotions. Now we turn it into a great company.</a:t>
            </a:r>
          </a:p>
        </p:txBody>
      </p:sp>
      <p:sp>
        <p:nvSpPr>
          <p:cNvPr id="9" name="Top 10% card"/>
          <p:cNvSpPr/>
          <p:nvPr/>
        </p:nvSpPr>
        <p:spPr>
          <a:xfrm>
            <a:off x="960120" y="1965960"/>
            <a:ext cx="4572000" cy="3566160"/>
          </a:xfrm>
          <a:prstGeom prst="roundRect">
            <a:avLst>
              <a:gd name="adj" fmla="val 8000"/>
            </a:avLst>
          </a:prstGeom>
          <a:solidFill>
            <a:srgbClr val="8FB2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Growth icon circle"/>
          <p:cNvSpPr/>
          <p:nvPr/>
        </p:nvSpPr>
        <p:spPr>
          <a:xfrm>
            <a:off x="1280160" y="2423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Growth icon" descr="Growth icon"/>
          <p:cNvPicPr>
            <a:picLocks noChangeAspect="1"/>
          </p:cNvPicPr>
          <p:nvPr/>
        </p:nvPicPr>
        <p:blipFill>
          <a:blip r:embed="rId2"/>
          <a:stretch>
            <a:fillRect/>
          </a:stretch>
        </p:blipFill>
        <p:spPr>
          <a:xfrm>
            <a:off x="1433779" y="2576779"/>
            <a:ext cx="332841" cy="332841"/>
          </a:xfrm>
          <a:prstGeom prst="rect">
            <a:avLst/>
          </a:prstGeom>
        </p:spPr>
      </p:pic>
      <p:sp>
        <p:nvSpPr>
          <p:cNvPr id="12" name="Top 10% stat"/>
          <p:cNvSpPr txBox="1"/>
          <p:nvPr/>
        </p:nvSpPr>
        <p:spPr>
          <a:xfrm>
            <a:off x="1280160" y="3383280"/>
            <a:ext cx="4023360" cy="1005840"/>
          </a:xfrm>
          <a:prstGeom prst="rect">
            <a:avLst/>
          </a:prstGeom>
          <a:noFill/>
        </p:spPr>
        <p:txBody>
          <a:bodyPr wrap="square" lIns="0" rIns="0" tIns="0" bIns="0" anchor="ctr">
            <a:spAutoFit/>
          </a:bodyPr>
          <a:lstStyle/>
          <a:p>
            <a:r>
              <a:rPr sz="5400" b="1" i="0">
                <a:solidFill>
                  <a:srgbClr val="153243"/>
                </a:solidFill>
                <a:latin typeface="Playfair Display"/>
              </a:rPr>
              <a:t>Top 10%</a:t>
            </a:r>
          </a:p>
        </p:txBody>
      </p:sp>
      <p:sp>
        <p:nvSpPr>
          <p:cNvPr id="13" name="Top 10% label"/>
          <p:cNvSpPr txBox="1"/>
          <p:nvPr/>
        </p:nvSpPr>
        <p:spPr>
          <a:xfrm>
            <a:off x="1280160" y="4434840"/>
            <a:ext cx="4023360" cy="640080"/>
          </a:xfrm>
          <a:prstGeom prst="rect">
            <a:avLst/>
          </a:prstGeom>
          <a:noFill/>
        </p:spPr>
        <p:txBody>
          <a:bodyPr wrap="square" lIns="0" rIns="0" tIns="0" bIns="0" anchor="t">
            <a:spAutoFit/>
          </a:bodyPr>
          <a:lstStyle/>
          <a:p>
            <a:r>
              <a:rPr sz="1300" b="1" i="0" spc="150">
                <a:solidFill>
                  <a:srgbClr val="153243"/>
                </a:solidFill>
                <a:latin typeface="Source Sans Pro"/>
              </a:rPr>
              <a:t>OF BROKERS IN THE COUNTRY FOR NEW BUSINESS GROWTH</a:t>
            </a:r>
          </a:p>
        </p:txBody>
      </p:sp>
      <p:sp>
        <p:nvSpPr>
          <p:cNvPr id="14" name="Stat card 1"/>
          <p:cNvSpPr/>
          <p:nvPr/>
        </p:nvSpPr>
        <p:spPr>
          <a:xfrm>
            <a:off x="5852160" y="1965960"/>
            <a:ext cx="5468112" cy="1645920"/>
          </a:xfrm>
          <a:prstGeom prst="roundRect">
            <a:avLst>
              <a:gd name="adj" fmla="val 5000"/>
            </a:avLst>
          </a:prstGeom>
          <a:solidFill>
            <a:srgbClr val="EDEC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tat icon 1 circle"/>
          <p:cNvSpPr/>
          <p:nvPr/>
        </p:nvSpPr>
        <p:spPr>
          <a:xfrm>
            <a:off x="6149340" y="2491739"/>
            <a:ext cx="594360" cy="594360"/>
          </a:xfrm>
          <a:prstGeom prst="ellipse">
            <a:avLst/>
          </a:prstGeom>
          <a:solidFill>
            <a:srgbClr val="8FB2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Stat icon 1" descr="Stat icon 1"/>
          <p:cNvPicPr>
            <a:picLocks noChangeAspect="1"/>
          </p:cNvPicPr>
          <p:nvPr/>
        </p:nvPicPr>
        <p:blipFill>
          <a:blip r:embed="rId3"/>
          <a:stretch>
            <a:fillRect/>
          </a:stretch>
        </p:blipFill>
        <p:spPr>
          <a:xfrm>
            <a:off x="6291986" y="2634386"/>
            <a:ext cx="309067" cy="309067"/>
          </a:xfrm>
          <a:prstGeom prst="rect">
            <a:avLst/>
          </a:prstGeom>
        </p:spPr>
      </p:pic>
      <p:sp>
        <p:nvSpPr>
          <p:cNvPr id="17" name="Stat 1"/>
          <p:cNvSpPr txBox="1"/>
          <p:nvPr/>
        </p:nvSpPr>
        <p:spPr>
          <a:xfrm>
            <a:off x="6949440" y="2221991"/>
            <a:ext cx="4206240" cy="640080"/>
          </a:xfrm>
          <a:prstGeom prst="rect">
            <a:avLst/>
          </a:prstGeom>
          <a:noFill/>
        </p:spPr>
        <p:txBody>
          <a:bodyPr wrap="square" lIns="0" rIns="0" tIns="0" bIns="0" anchor="ctr">
            <a:spAutoFit/>
          </a:bodyPr>
          <a:lstStyle/>
          <a:p>
            <a:r>
              <a:rPr sz="3200" b="1" i="0">
                <a:solidFill>
                  <a:srgbClr val="153243"/>
                </a:solidFill>
                <a:latin typeface="Playfair Display"/>
              </a:rPr>
              <a:t>24</a:t>
            </a:r>
          </a:p>
        </p:txBody>
      </p:sp>
      <p:sp>
        <p:nvSpPr>
          <p:cNvPr id="18" name="Stat label 1"/>
          <p:cNvSpPr txBox="1"/>
          <p:nvPr/>
        </p:nvSpPr>
        <p:spPr>
          <a:xfrm>
            <a:off x="6949440" y="2880360"/>
            <a:ext cx="4206240" cy="457200"/>
          </a:xfrm>
          <a:prstGeom prst="rect">
            <a:avLst/>
          </a:prstGeom>
          <a:noFill/>
        </p:spPr>
        <p:txBody>
          <a:bodyPr wrap="square" lIns="0" rIns="0" tIns="0" bIns="0" anchor="t">
            <a:spAutoFit/>
          </a:bodyPr>
          <a:lstStyle/>
          <a:p>
            <a:r>
              <a:rPr sz="1400" b="0" i="0">
                <a:solidFill>
                  <a:srgbClr val="153243"/>
                </a:solidFill>
                <a:latin typeface="Source Sans Pro"/>
              </a:rPr>
              <a:t>people promoted in the last 18 months</a:t>
            </a:r>
          </a:p>
        </p:txBody>
      </p:sp>
      <p:sp>
        <p:nvSpPr>
          <p:cNvPr id="19" name="Stat card 2"/>
          <p:cNvSpPr/>
          <p:nvPr/>
        </p:nvSpPr>
        <p:spPr>
          <a:xfrm>
            <a:off x="5852160" y="3886200"/>
            <a:ext cx="5468112" cy="1645920"/>
          </a:xfrm>
          <a:prstGeom prst="roundRect">
            <a:avLst>
              <a:gd name="adj" fmla="val 5000"/>
            </a:avLst>
          </a:prstGeom>
          <a:solidFill>
            <a:srgbClr val="EDEC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tat icon 2 circle"/>
          <p:cNvSpPr/>
          <p:nvPr/>
        </p:nvSpPr>
        <p:spPr>
          <a:xfrm>
            <a:off x="6149340" y="4411980"/>
            <a:ext cx="594360" cy="594360"/>
          </a:xfrm>
          <a:prstGeom prst="ellipse">
            <a:avLst/>
          </a:prstGeom>
          <a:solidFill>
            <a:srgbClr val="8FB2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Stat icon 2" descr="Stat icon 2"/>
          <p:cNvPicPr>
            <a:picLocks noChangeAspect="1"/>
          </p:cNvPicPr>
          <p:nvPr/>
        </p:nvPicPr>
        <p:blipFill>
          <a:blip r:embed="rId4"/>
          <a:stretch>
            <a:fillRect/>
          </a:stretch>
        </p:blipFill>
        <p:spPr>
          <a:xfrm>
            <a:off x="6291986" y="4554626"/>
            <a:ext cx="309067" cy="309067"/>
          </a:xfrm>
          <a:prstGeom prst="rect">
            <a:avLst/>
          </a:prstGeom>
        </p:spPr>
      </p:pic>
      <p:sp>
        <p:nvSpPr>
          <p:cNvPr id="22" name="Stat 2"/>
          <p:cNvSpPr txBox="1"/>
          <p:nvPr/>
        </p:nvSpPr>
        <p:spPr>
          <a:xfrm>
            <a:off x="6949440" y="4142232"/>
            <a:ext cx="4206240" cy="640080"/>
          </a:xfrm>
          <a:prstGeom prst="rect">
            <a:avLst/>
          </a:prstGeom>
          <a:noFill/>
        </p:spPr>
        <p:txBody>
          <a:bodyPr wrap="square" lIns="0" rIns="0" tIns="0" bIns="0" anchor="ctr">
            <a:spAutoFit/>
          </a:bodyPr>
          <a:lstStyle/>
          <a:p>
            <a:r>
              <a:rPr sz="3200" b="1" i="0">
                <a:solidFill>
                  <a:srgbClr val="153243"/>
                </a:solidFill>
                <a:latin typeface="Playfair Display"/>
              </a:rPr>
              <a:t>9 of 11</a:t>
            </a:r>
          </a:p>
        </p:txBody>
      </p:sp>
      <p:sp>
        <p:nvSpPr>
          <p:cNvPr id="23" name="Stat label 2"/>
          <p:cNvSpPr txBox="1"/>
          <p:nvPr/>
        </p:nvSpPr>
        <p:spPr>
          <a:xfrm>
            <a:off x="6949440" y="4800600"/>
            <a:ext cx="4206240" cy="457200"/>
          </a:xfrm>
          <a:prstGeom prst="rect">
            <a:avLst/>
          </a:prstGeom>
          <a:noFill/>
        </p:spPr>
        <p:txBody>
          <a:bodyPr wrap="square" lIns="0" rIns="0" tIns="0" bIns="0" anchor="t">
            <a:spAutoFit/>
          </a:bodyPr>
          <a:lstStyle/>
          <a:p>
            <a:r>
              <a:rPr sz="1400" b="0" i="0">
                <a:solidFill>
                  <a:srgbClr val="153243"/>
                </a:solidFill>
                <a:latin typeface="Source Sans Pro"/>
              </a:rPr>
              <a:t>new employees were referred by someone inside CCIG</a:t>
            </a:r>
          </a:p>
        </p:txBody>
      </p:sp>
    </p:spTree>
    <p:extLst>
      <p:ext uri="{BB962C8B-B14F-4D97-AF65-F5344CB8AC3E}">
        <p14:creationId xmlns:p14="http://schemas.microsoft.com/office/powerpoint/2010/main" val="373954796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C0E2FD-837D-9753-CF85-B96BB0ED339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52C6772-D662-5D65-1798-38644B18B7E5}"/>
              </a:ext>
            </a:extLst>
          </p:cNvPr>
          <p:cNvSpPr txBox="1"/>
          <p:nvPr/>
        </p:nvSpPr>
        <p:spPr>
          <a:xfrm>
            <a:off x="875347" y="368336"/>
            <a:ext cx="10447973"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1" u="none" strike="noStrike" kern="1200" cap="none" spc="0" normalizeH="0" baseline="0" noProof="0" dirty="0">
                <a:ln>
                  <a:noFill/>
                </a:ln>
                <a:solidFill>
                  <a:srgbClr val="EDECED"/>
                </a:solidFill>
                <a:effectLst/>
                <a:uLnTx/>
                <a:uFillTx/>
                <a:latin typeface="Playfair Display" panose="00000500000000000000" pitchFamily="2" charset="0"/>
                <a:ea typeface="+mn-ea"/>
                <a:cs typeface="+mn-cs"/>
              </a:rPr>
              <a:t>What every coworker should focus on in Q4</a:t>
            </a:r>
          </a:p>
        </p:txBody>
      </p:sp>
      <p:cxnSp>
        <p:nvCxnSpPr>
          <p:cNvPr id="6" name="Straight Connector 5">
            <a:extLst>
              <a:ext uri="{FF2B5EF4-FFF2-40B4-BE49-F238E27FC236}">
                <a16:creationId xmlns:a16="http://schemas.microsoft.com/office/drawing/2014/main" id="{5E9116D3-F450-4A0A-4B24-450372B6DA92}"/>
              </a:ext>
            </a:extLst>
          </p:cNvPr>
          <p:cNvCxnSpPr>
            <a:cxnSpLocks/>
          </p:cNvCxnSpPr>
          <p:nvPr/>
        </p:nvCxnSpPr>
        <p:spPr>
          <a:xfrm>
            <a:off x="963168" y="1060704"/>
            <a:ext cx="10360152" cy="0"/>
          </a:xfrm>
          <a:prstGeom prst="line">
            <a:avLst/>
          </a:prstGeom>
          <a:ln>
            <a:solidFill>
              <a:schemeClr val="accent3"/>
            </a:solidFill>
          </a:ln>
        </p:spPr>
        <p:style>
          <a:lnRef idx="2">
            <a:schemeClr val="accent3"/>
          </a:lnRef>
          <a:fillRef idx="0">
            <a:schemeClr val="accent3"/>
          </a:fillRef>
          <a:effectRef idx="1">
            <a:schemeClr val="accent3"/>
          </a:effectRef>
          <a:fontRef idx="minor">
            <a:schemeClr val="tx1"/>
          </a:fontRef>
        </p:style>
      </p:cxnSp>
      <p:sp>
        <p:nvSpPr>
          <p:cNvPr id="7" name="Eyebrow"/>
          <p:cNvSpPr txBox="1"/>
          <p:nvPr/>
        </p:nvSpPr>
        <p:spPr>
          <a:xfrm>
            <a:off x="960120" y="1188720"/>
            <a:ext cx="10360152" cy="228600"/>
          </a:xfrm>
          <a:prstGeom prst="rect">
            <a:avLst/>
          </a:prstGeom>
          <a:noFill/>
        </p:spPr>
        <p:txBody>
          <a:bodyPr wrap="square" lIns="0" rIns="0" tIns="0" bIns="0" anchor="t">
            <a:spAutoFit/>
          </a:bodyPr>
          <a:lstStyle/>
          <a:p>
            <a:r>
              <a:rPr sz="1200" b="1" i="0" spc="200">
                <a:solidFill>
                  <a:srgbClr val="8FB24E"/>
                </a:solidFill>
                <a:latin typeface="Source Sans Pro"/>
              </a:rPr>
              <a:t>Q4 PRIORITIES</a:t>
            </a:r>
          </a:p>
        </p:txBody>
      </p:sp>
      <p:sp>
        <p:nvSpPr>
          <p:cNvPr id="8" name="Subtitle"/>
          <p:cNvSpPr txBox="1"/>
          <p:nvPr/>
        </p:nvSpPr>
        <p:spPr>
          <a:xfrm>
            <a:off x="960120" y="1444752"/>
            <a:ext cx="10360152" cy="320040"/>
          </a:xfrm>
          <a:prstGeom prst="rect">
            <a:avLst/>
          </a:prstGeom>
          <a:noFill/>
        </p:spPr>
        <p:txBody>
          <a:bodyPr wrap="square" lIns="0" rIns="0" tIns="0" bIns="0" anchor="t">
            <a:spAutoFit/>
          </a:bodyPr>
          <a:lstStyle/>
          <a:p>
            <a:r>
              <a:rPr sz="1600" b="0" i="0">
                <a:solidFill>
                  <a:srgbClr val="FFFFFF"/>
                </a:solidFill>
                <a:latin typeface="Source Sans Pro"/>
              </a:rPr>
              <a:t>Know your role, own your commitments, and speak up about what is in the way.</a:t>
            </a:r>
          </a:p>
        </p:txBody>
      </p:sp>
      <p:sp>
        <p:nvSpPr>
          <p:cNvPr id="9" name="Focus card 1"/>
          <p:cNvSpPr/>
          <p:nvPr/>
        </p:nvSpPr>
        <p:spPr>
          <a:xfrm>
            <a:off x="960120" y="1920240"/>
            <a:ext cx="5029200" cy="1737360"/>
          </a:xfrm>
          <a:prstGeom prst="roundRect">
            <a:avLst>
              <a:gd name="adj" fmla="val 5000"/>
            </a:avLst>
          </a:prstGeom>
          <a:solidFill>
            <a:srgbClr val="EDEC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ocus icon 1 circle"/>
          <p:cNvSpPr/>
          <p:nvPr/>
        </p:nvSpPr>
        <p:spPr>
          <a:xfrm>
            <a:off x="1188719" y="2468879"/>
            <a:ext cx="640080" cy="640080"/>
          </a:xfrm>
          <a:prstGeom prst="ellipse">
            <a:avLst/>
          </a:prstGeom>
          <a:solidFill>
            <a:srgbClr val="8FB2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Focus icon 1" descr="Focus icon 1"/>
          <p:cNvPicPr>
            <a:picLocks noChangeAspect="1"/>
          </p:cNvPicPr>
          <p:nvPr/>
        </p:nvPicPr>
        <p:blipFill>
          <a:blip r:embed="rId2"/>
          <a:stretch>
            <a:fillRect/>
          </a:stretch>
        </p:blipFill>
        <p:spPr>
          <a:xfrm>
            <a:off x="1342339" y="2622499"/>
            <a:ext cx="332841" cy="332841"/>
          </a:xfrm>
          <a:prstGeom prst="rect">
            <a:avLst/>
          </a:prstGeom>
        </p:spPr>
      </p:pic>
      <p:sp>
        <p:nvSpPr>
          <p:cNvPr id="12" name="Focus text 1"/>
          <p:cNvSpPr txBox="1"/>
          <p:nvPr/>
        </p:nvSpPr>
        <p:spPr>
          <a:xfrm>
            <a:off x="2011680" y="2084832"/>
            <a:ext cx="3794760" cy="1417320"/>
          </a:xfrm>
          <a:prstGeom prst="rect">
            <a:avLst/>
          </a:prstGeom>
          <a:noFill/>
        </p:spPr>
        <p:txBody>
          <a:bodyPr wrap="square" lIns="0" rIns="0" tIns="0" bIns="0" anchor="ctr">
            <a:spAutoFit/>
          </a:bodyPr>
          <a:lstStyle/>
          <a:p>
            <a:r>
              <a:rPr sz="1600" b="1" i="0">
                <a:solidFill>
                  <a:srgbClr val="153243"/>
                </a:solidFill>
                <a:latin typeface="Source Sans Pro"/>
              </a:rPr>
              <a:t>Accountability chart</a:t>
            </a:r>
          </a:p>
          <a:p>
            <a:r>
              <a:rPr sz="1200" b="0" i="0">
                <a:solidFill>
                  <a:srgbClr val="153243"/>
                </a:solidFill>
                <a:latin typeface="Source Sans Pro"/>
              </a:rPr>
              <a:t>Clarifies what each person owns, who to turn to, and how your work connects to the rest of the company.</a:t>
            </a:r>
          </a:p>
        </p:txBody>
      </p:sp>
      <p:sp>
        <p:nvSpPr>
          <p:cNvPr id="13" name="Focus card 2"/>
          <p:cNvSpPr/>
          <p:nvPr/>
        </p:nvSpPr>
        <p:spPr>
          <a:xfrm>
            <a:off x="6291072" y="1920240"/>
            <a:ext cx="5029200" cy="1737360"/>
          </a:xfrm>
          <a:prstGeom prst="roundRect">
            <a:avLst>
              <a:gd name="adj" fmla="val 5000"/>
            </a:avLst>
          </a:prstGeom>
          <a:solidFill>
            <a:srgbClr val="EDEC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ocus icon 2 circle"/>
          <p:cNvSpPr/>
          <p:nvPr/>
        </p:nvSpPr>
        <p:spPr>
          <a:xfrm>
            <a:off x="6519672" y="2468879"/>
            <a:ext cx="640080" cy="640080"/>
          </a:xfrm>
          <a:prstGeom prst="ellipse">
            <a:avLst/>
          </a:prstGeom>
          <a:solidFill>
            <a:srgbClr val="8FB2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Focus icon 2" descr="Focus icon 2"/>
          <p:cNvPicPr>
            <a:picLocks noChangeAspect="1"/>
          </p:cNvPicPr>
          <p:nvPr/>
        </p:nvPicPr>
        <p:blipFill>
          <a:blip r:embed="rId3"/>
          <a:stretch>
            <a:fillRect/>
          </a:stretch>
        </p:blipFill>
        <p:spPr>
          <a:xfrm>
            <a:off x="6673291" y="2622499"/>
            <a:ext cx="332841" cy="332841"/>
          </a:xfrm>
          <a:prstGeom prst="rect">
            <a:avLst/>
          </a:prstGeom>
        </p:spPr>
      </p:pic>
      <p:sp>
        <p:nvSpPr>
          <p:cNvPr id="16" name="Focus text 2"/>
          <p:cNvSpPr txBox="1"/>
          <p:nvPr/>
        </p:nvSpPr>
        <p:spPr>
          <a:xfrm>
            <a:off x="7342631" y="2084832"/>
            <a:ext cx="3794760" cy="1417320"/>
          </a:xfrm>
          <a:prstGeom prst="rect">
            <a:avLst/>
          </a:prstGeom>
          <a:noFill/>
        </p:spPr>
        <p:txBody>
          <a:bodyPr wrap="square" lIns="0" rIns="0" tIns="0" bIns="0" anchor="ctr">
            <a:spAutoFit/>
          </a:bodyPr>
          <a:lstStyle/>
          <a:p>
            <a:r>
              <a:rPr sz="1600" b="1" i="0">
                <a:solidFill>
                  <a:srgbClr val="153243"/>
                </a:solidFill>
                <a:latin typeface="Source Sans Pro"/>
              </a:rPr>
              <a:t>L10 meetings</a:t>
            </a:r>
          </a:p>
          <a:p>
            <a:r>
              <a:rPr sz="1200" b="0" i="0">
                <a:solidFill>
                  <a:srgbClr val="153243"/>
                </a:solidFill>
                <a:latin typeface="Source Sans Pro"/>
              </a:rPr>
              <a:t>Raise capacity concerns, difficult handoffs, recurring problems, and accounts that need attention.</a:t>
            </a:r>
          </a:p>
        </p:txBody>
      </p:sp>
      <p:sp>
        <p:nvSpPr>
          <p:cNvPr id="17" name="Focus card 3"/>
          <p:cNvSpPr/>
          <p:nvPr/>
        </p:nvSpPr>
        <p:spPr>
          <a:xfrm>
            <a:off x="960120" y="3794760"/>
            <a:ext cx="5029200" cy="1737360"/>
          </a:xfrm>
          <a:prstGeom prst="roundRect">
            <a:avLst>
              <a:gd name="adj" fmla="val 5000"/>
            </a:avLst>
          </a:prstGeom>
          <a:solidFill>
            <a:srgbClr val="EDEC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ocus icon 3 circle"/>
          <p:cNvSpPr/>
          <p:nvPr/>
        </p:nvSpPr>
        <p:spPr>
          <a:xfrm>
            <a:off x="1188719" y="4343400"/>
            <a:ext cx="640080" cy="640080"/>
          </a:xfrm>
          <a:prstGeom prst="ellipse">
            <a:avLst/>
          </a:prstGeom>
          <a:solidFill>
            <a:srgbClr val="8FB2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Focus icon 3" descr="Focus icon 3"/>
          <p:cNvPicPr>
            <a:picLocks noChangeAspect="1"/>
          </p:cNvPicPr>
          <p:nvPr/>
        </p:nvPicPr>
        <p:blipFill>
          <a:blip r:embed="rId4"/>
          <a:stretch>
            <a:fillRect/>
          </a:stretch>
        </p:blipFill>
        <p:spPr>
          <a:xfrm>
            <a:off x="1342339" y="4497019"/>
            <a:ext cx="332841" cy="332841"/>
          </a:xfrm>
          <a:prstGeom prst="rect">
            <a:avLst/>
          </a:prstGeom>
        </p:spPr>
      </p:pic>
      <p:sp>
        <p:nvSpPr>
          <p:cNvPr id="20" name="Focus text 3"/>
          <p:cNvSpPr txBox="1"/>
          <p:nvPr/>
        </p:nvSpPr>
        <p:spPr>
          <a:xfrm>
            <a:off x="2011680" y="3959352"/>
            <a:ext cx="3794760" cy="1417320"/>
          </a:xfrm>
          <a:prstGeom prst="rect">
            <a:avLst/>
          </a:prstGeom>
          <a:noFill/>
        </p:spPr>
        <p:txBody>
          <a:bodyPr wrap="square" lIns="0" rIns="0" tIns="0" bIns="0" anchor="ctr">
            <a:spAutoFit/>
          </a:bodyPr>
          <a:lstStyle/>
          <a:p>
            <a:r>
              <a:rPr sz="1600" b="1" i="0">
                <a:solidFill>
                  <a:srgbClr val="153243"/>
                </a:solidFill>
                <a:latin typeface="Source Sans Pro"/>
              </a:rPr>
              <a:t>Quarterly conversations</a:t>
            </a:r>
          </a:p>
          <a:p>
            <a:r>
              <a:rPr sz="1200" b="0" i="0">
                <a:solidFill>
                  <a:srgbClr val="153243"/>
                </a:solidFill>
                <a:latin typeface="Source Sans Pro"/>
              </a:rPr>
              <a:t>Talk openly about performance, development, and the support you need.</a:t>
            </a:r>
          </a:p>
        </p:txBody>
      </p:sp>
      <p:sp>
        <p:nvSpPr>
          <p:cNvPr id="21" name="Focus card 4"/>
          <p:cNvSpPr/>
          <p:nvPr/>
        </p:nvSpPr>
        <p:spPr>
          <a:xfrm>
            <a:off x="6291072" y="3794760"/>
            <a:ext cx="5029200" cy="1737360"/>
          </a:xfrm>
          <a:prstGeom prst="roundRect">
            <a:avLst>
              <a:gd name="adj" fmla="val 5000"/>
            </a:avLst>
          </a:prstGeom>
          <a:solidFill>
            <a:srgbClr val="EDEC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Focus icon 4 circle"/>
          <p:cNvSpPr/>
          <p:nvPr/>
        </p:nvSpPr>
        <p:spPr>
          <a:xfrm>
            <a:off x="6519672" y="4343400"/>
            <a:ext cx="640080" cy="640080"/>
          </a:xfrm>
          <a:prstGeom prst="ellipse">
            <a:avLst/>
          </a:prstGeom>
          <a:solidFill>
            <a:srgbClr val="8FB2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Focus icon 4" descr="Focus icon 4"/>
          <p:cNvPicPr>
            <a:picLocks noChangeAspect="1"/>
          </p:cNvPicPr>
          <p:nvPr/>
        </p:nvPicPr>
        <p:blipFill>
          <a:blip r:embed="rId5"/>
          <a:stretch>
            <a:fillRect/>
          </a:stretch>
        </p:blipFill>
        <p:spPr>
          <a:xfrm>
            <a:off x="6673291" y="4497019"/>
            <a:ext cx="332841" cy="332841"/>
          </a:xfrm>
          <a:prstGeom prst="rect">
            <a:avLst/>
          </a:prstGeom>
        </p:spPr>
      </p:pic>
      <p:sp>
        <p:nvSpPr>
          <p:cNvPr id="24" name="Focus text 4"/>
          <p:cNvSpPr txBox="1"/>
          <p:nvPr/>
        </p:nvSpPr>
        <p:spPr>
          <a:xfrm>
            <a:off x="7342631" y="3959352"/>
            <a:ext cx="3794760" cy="1417320"/>
          </a:xfrm>
          <a:prstGeom prst="rect">
            <a:avLst/>
          </a:prstGeom>
          <a:noFill/>
        </p:spPr>
        <p:txBody>
          <a:bodyPr wrap="square" lIns="0" rIns="0" tIns="0" bIns="0" anchor="ctr">
            <a:spAutoFit/>
          </a:bodyPr>
          <a:lstStyle/>
          <a:p>
            <a:r>
              <a:rPr sz="1600" b="1" i="0">
                <a:solidFill>
                  <a:srgbClr val="153243"/>
                </a:solidFill>
                <a:latin typeface="Source Sans Pro"/>
              </a:rPr>
              <a:t>Client retention</a:t>
            </a:r>
          </a:p>
          <a:p>
            <a:r>
              <a:rPr sz="1200" b="0" i="0">
                <a:solidFill>
                  <a:srgbClr val="153243"/>
                </a:solidFill>
                <a:latin typeface="Source Sans Pro"/>
              </a:rPr>
              <a:t>Keep the clients who trust us through responsiveness, follow-through, and raising concerns early.</a:t>
            </a:r>
          </a:p>
        </p:txBody>
      </p:sp>
    </p:spTree>
    <p:extLst>
      <p:ext uri="{BB962C8B-B14F-4D97-AF65-F5344CB8AC3E}">
        <p14:creationId xmlns:p14="http://schemas.microsoft.com/office/powerpoint/2010/main" val="373954796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C0E2FD-837D-9753-CF85-B96BB0ED339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52C6772-D662-5D65-1798-38644B18B7E5}"/>
              </a:ext>
            </a:extLst>
          </p:cNvPr>
          <p:cNvSpPr txBox="1"/>
          <p:nvPr/>
        </p:nvSpPr>
        <p:spPr>
          <a:xfrm>
            <a:off x="875347" y="368336"/>
            <a:ext cx="10447973"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1" u="none" strike="noStrike" kern="1200" cap="none" spc="0" normalizeH="0" baseline="0" noProof="0" dirty="0">
                <a:ln>
                  <a:noFill/>
                </a:ln>
                <a:solidFill>
                  <a:srgbClr val="EDECED"/>
                </a:solidFill>
                <a:effectLst/>
                <a:uLnTx/>
                <a:uFillTx/>
                <a:latin typeface="Playfair Display" panose="00000500000000000000" pitchFamily="2" charset="0"/>
                <a:ea typeface="+mn-ea"/>
                <a:cs typeface="+mn-cs"/>
              </a:rPr>
              <a:t>Managing growth few brokers experience</a:t>
            </a:r>
          </a:p>
        </p:txBody>
      </p:sp>
      <p:cxnSp>
        <p:nvCxnSpPr>
          <p:cNvPr id="6" name="Straight Connector 5">
            <a:extLst>
              <a:ext uri="{FF2B5EF4-FFF2-40B4-BE49-F238E27FC236}">
                <a16:creationId xmlns:a16="http://schemas.microsoft.com/office/drawing/2014/main" id="{5E9116D3-F450-4A0A-4B24-450372B6DA92}"/>
              </a:ext>
            </a:extLst>
          </p:cNvPr>
          <p:cNvCxnSpPr>
            <a:cxnSpLocks/>
          </p:cNvCxnSpPr>
          <p:nvPr/>
        </p:nvCxnSpPr>
        <p:spPr>
          <a:xfrm>
            <a:off x="963168" y="1060704"/>
            <a:ext cx="10360152" cy="0"/>
          </a:xfrm>
          <a:prstGeom prst="line">
            <a:avLst/>
          </a:prstGeom>
          <a:ln>
            <a:solidFill>
              <a:schemeClr val="accent3"/>
            </a:solidFill>
          </a:ln>
        </p:spPr>
        <p:style>
          <a:lnRef idx="2">
            <a:schemeClr val="accent3"/>
          </a:lnRef>
          <a:fillRef idx="0">
            <a:schemeClr val="accent3"/>
          </a:fillRef>
          <a:effectRef idx="1">
            <a:schemeClr val="accent3"/>
          </a:effectRef>
          <a:fontRef idx="minor">
            <a:schemeClr val="tx1"/>
          </a:fontRef>
        </p:style>
      </p:cxnSp>
      <p:sp>
        <p:nvSpPr>
          <p:cNvPr id="7" name="Eyebrow"/>
          <p:cNvSpPr txBox="1"/>
          <p:nvPr/>
        </p:nvSpPr>
        <p:spPr>
          <a:xfrm>
            <a:off x="960120" y="1188720"/>
            <a:ext cx="10360152" cy="228600"/>
          </a:xfrm>
          <a:prstGeom prst="rect">
            <a:avLst/>
          </a:prstGeom>
          <a:noFill/>
        </p:spPr>
        <p:txBody>
          <a:bodyPr wrap="square" lIns="0" rIns="0" tIns="0" bIns="0" anchor="t">
            <a:spAutoFit/>
          </a:bodyPr>
          <a:lstStyle/>
          <a:p>
            <a:r>
              <a:rPr sz="1200" b="1" i="0" spc="200">
                <a:solidFill>
                  <a:srgbClr val="8FB24E"/>
                </a:solidFill>
                <a:latin typeface="Source Sans Pro"/>
              </a:rPr>
              <a:t>TOP OF MIND</a:t>
            </a:r>
          </a:p>
        </p:txBody>
      </p:sp>
      <p:sp>
        <p:nvSpPr>
          <p:cNvPr id="8" name="Subtitle"/>
          <p:cNvSpPr txBox="1"/>
          <p:nvPr/>
        </p:nvSpPr>
        <p:spPr>
          <a:xfrm>
            <a:off x="960120" y="1444752"/>
            <a:ext cx="10360152" cy="320040"/>
          </a:xfrm>
          <a:prstGeom prst="rect">
            <a:avLst/>
          </a:prstGeom>
          <a:noFill/>
        </p:spPr>
        <p:txBody>
          <a:bodyPr wrap="square" lIns="0" rIns="0" tIns="0" bIns="0" anchor="t">
            <a:spAutoFit/>
          </a:bodyPr>
          <a:lstStyle/>
          <a:p>
            <a:r>
              <a:rPr sz="1600" b="0" i="0">
                <a:solidFill>
                  <a:srgbClr val="FFFFFF"/>
                </a:solidFill>
                <a:latin typeface="Source Sans Pro"/>
              </a:rPr>
              <a:t>More clients bring more responsibility, more complexity, and more demand on our teams.</a:t>
            </a:r>
          </a:p>
        </p:txBody>
      </p:sp>
      <p:sp>
        <p:nvSpPr>
          <p:cNvPr id="9" name="Getting ahead of capacity panel"/>
          <p:cNvSpPr/>
          <p:nvPr/>
        </p:nvSpPr>
        <p:spPr>
          <a:xfrm>
            <a:off x="960120" y="1920240"/>
            <a:ext cx="5029200" cy="3611880"/>
          </a:xfrm>
          <a:prstGeom prst="roundRect">
            <a:avLst>
              <a:gd name="adj" fmla="val 4000"/>
            </a:avLst>
          </a:prstGeom>
          <a:solidFill>
            <a:srgbClr val="EDEC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Getting ahead of capacity header"/>
          <p:cNvSpPr txBox="1"/>
          <p:nvPr/>
        </p:nvSpPr>
        <p:spPr>
          <a:xfrm>
            <a:off x="1234440" y="2103120"/>
            <a:ext cx="4480560" cy="292608"/>
          </a:xfrm>
          <a:prstGeom prst="rect">
            <a:avLst/>
          </a:prstGeom>
          <a:noFill/>
        </p:spPr>
        <p:txBody>
          <a:bodyPr wrap="square" lIns="0" rIns="0" tIns="0" bIns="0" anchor="t">
            <a:spAutoFit/>
          </a:bodyPr>
          <a:lstStyle/>
          <a:p>
            <a:r>
              <a:rPr sz="1800" b="1" i="0">
                <a:solidFill>
                  <a:srgbClr val="153243"/>
                </a:solidFill>
                <a:latin typeface="Source Sans Pro"/>
              </a:rPr>
              <a:t>Getting ahead of capacity</a:t>
            </a:r>
          </a:p>
        </p:txBody>
      </p:sp>
      <p:sp>
        <p:nvSpPr>
          <p:cNvPr id="11" name="Getting ahead of capacity subhead"/>
          <p:cNvSpPr txBox="1"/>
          <p:nvPr/>
        </p:nvSpPr>
        <p:spPr>
          <a:xfrm>
            <a:off x="1234440" y="2395728"/>
            <a:ext cx="4480560" cy="274320"/>
          </a:xfrm>
          <a:prstGeom prst="rect">
            <a:avLst/>
          </a:prstGeom>
          <a:noFill/>
        </p:spPr>
        <p:txBody>
          <a:bodyPr wrap="square" lIns="0" rIns="0" tIns="0" bIns="0" anchor="t">
            <a:spAutoFit/>
          </a:bodyPr>
          <a:lstStyle/>
          <a:p>
            <a:r>
              <a:rPr sz="1300" b="0" i="0">
                <a:solidFill>
                  <a:srgbClr val="366E8E"/>
                </a:solidFill>
                <a:latin typeface="Source Sans Pro"/>
              </a:rPr>
              <a:t>Support growth without losing service</a:t>
            </a:r>
          </a:p>
        </p:txBody>
      </p:sp>
      <p:sp>
        <p:nvSpPr>
          <p:cNvPr id="12" name="Row icon 1 circle"/>
          <p:cNvSpPr/>
          <p:nvPr/>
        </p:nvSpPr>
        <p:spPr>
          <a:xfrm>
            <a:off x="1234440" y="2944368"/>
            <a:ext cx="457200" cy="4572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Row icon 1" descr="Row icon 1"/>
          <p:cNvPicPr>
            <a:picLocks noChangeAspect="1"/>
          </p:cNvPicPr>
          <p:nvPr/>
        </p:nvPicPr>
        <p:blipFill>
          <a:blip r:embed="rId2"/>
          <a:stretch>
            <a:fillRect/>
          </a:stretch>
        </p:blipFill>
        <p:spPr>
          <a:xfrm>
            <a:off x="1344168" y="3054096"/>
            <a:ext cx="237744" cy="237744"/>
          </a:xfrm>
          <a:prstGeom prst="rect">
            <a:avLst/>
          </a:prstGeom>
        </p:spPr>
      </p:pic>
      <p:sp>
        <p:nvSpPr>
          <p:cNvPr id="14" name="Row text 1"/>
          <p:cNvSpPr txBox="1"/>
          <p:nvPr/>
        </p:nvSpPr>
        <p:spPr>
          <a:xfrm>
            <a:off x="1874519" y="2926080"/>
            <a:ext cx="4023360" cy="530352"/>
          </a:xfrm>
          <a:prstGeom prst="rect">
            <a:avLst/>
          </a:prstGeom>
          <a:noFill/>
        </p:spPr>
        <p:txBody>
          <a:bodyPr wrap="square" lIns="0" rIns="0" tIns="0" bIns="0" anchor="t">
            <a:spAutoFit/>
          </a:bodyPr>
          <a:lstStyle/>
          <a:p>
            <a:r>
              <a:rPr sz="1400" b="1" i="0">
                <a:solidFill>
                  <a:srgbClr val="153243"/>
                </a:solidFill>
                <a:latin typeface="Source Sans Pro"/>
              </a:rPr>
              <a:t>Hire great people</a:t>
            </a:r>
          </a:p>
          <a:p>
            <a:r>
              <a:rPr sz="1200" b="0" i="0">
                <a:solidFill>
                  <a:srgbClr val="153243"/>
                </a:solidFill>
                <a:latin typeface="Source Sans Pro"/>
              </a:rPr>
              <a:t>Get ahead of capacity constraints</a:t>
            </a:r>
          </a:p>
        </p:txBody>
      </p:sp>
      <p:sp>
        <p:nvSpPr>
          <p:cNvPr id="15" name="Row icon 2 circle"/>
          <p:cNvSpPr/>
          <p:nvPr/>
        </p:nvSpPr>
        <p:spPr>
          <a:xfrm>
            <a:off x="1234440" y="3630168"/>
            <a:ext cx="457200" cy="4572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Row icon 2" descr="Row icon 2"/>
          <p:cNvPicPr>
            <a:picLocks noChangeAspect="1"/>
          </p:cNvPicPr>
          <p:nvPr/>
        </p:nvPicPr>
        <p:blipFill>
          <a:blip r:embed="rId3"/>
          <a:stretch>
            <a:fillRect/>
          </a:stretch>
        </p:blipFill>
        <p:spPr>
          <a:xfrm>
            <a:off x="1344168" y="3739896"/>
            <a:ext cx="237744" cy="237744"/>
          </a:xfrm>
          <a:prstGeom prst="rect">
            <a:avLst/>
          </a:prstGeom>
        </p:spPr>
      </p:pic>
      <p:sp>
        <p:nvSpPr>
          <p:cNvPr id="17" name="Row text 2"/>
          <p:cNvSpPr txBox="1"/>
          <p:nvPr/>
        </p:nvSpPr>
        <p:spPr>
          <a:xfrm>
            <a:off x="1874519" y="3611880"/>
            <a:ext cx="4023360" cy="530352"/>
          </a:xfrm>
          <a:prstGeom prst="rect">
            <a:avLst/>
          </a:prstGeom>
          <a:noFill/>
        </p:spPr>
        <p:txBody>
          <a:bodyPr wrap="square" lIns="0" rIns="0" tIns="0" bIns="0" anchor="t">
            <a:spAutoFit/>
          </a:bodyPr>
          <a:lstStyle/>
          <a:p>
            <a:r>
              <a:rPr sz="1400" b="1" i="0">
                <a:solidFill>
                  <a:srgbClr val="153243"/>
                </a:solidFill>
                <a:latin typeface="Source Sans Pro"/>
              </a:rPr>
              <a:t>Build consistent processes</a:t>
            </a:r>
          </a:p>
          <a:p>
            <a:r>
              <a:rPr sz="1200" b="0" i="0">
                <a:solidFill>
                  <a:srgbClr val="153243"/>
                </a:solidFill>
                <a:latin typeface="Source Sans Pro"/>
              </a:rPr>
              <a:t>Make the way we work repeatable</a:t>
            </a:r>
          </a:p>
        </p:txBody>
      </p:sp>
      <p:sp>
        <p:nvSpPr>
          <p:cNvPr id="18" name="Row icon 3 circle"/>
          <p:cNvSpPr/>
          <p:nvPr/>
        </p:nvSpPr>
        <p:spPr>
          <a:xfrm>
            <a:off x="1234440" y="4315968"/>
            <a:ext cx="457200" cy="4572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Row icon 3" descr="Row icon 3"/>
          <p:cNvPicPr>
            <a:picLocks noChangeAspect="1"/>
          </p:cNvPicPr>
          <p:nvPr/>
        </p:nvPicPr>
        <p:blipFill>
          <a:blip r:embed="rId4"/>
          <a:stretch>
            <a:fillRect/>
          </a:stretch>
        </p:blipFill>
        <p:spPr>
          <a:xfrm>
            <a:off x="1344168" y="4425696"/>
            <a:ext cx="237744" cy="237744"/>
          </a:xfrm>
          <a:prstGeom prst="rect">
            <a:avLst/>
          </a:prstGeom>
        </p:spPr>
      </p:pic>
      <p:sp>
        <p:nvSpPr>
          <p:cNvPr id="20" name="Row text 3"/>
          <p:cNvSpPr txBox="1"/>
          <p:nvPr/>
        </p:nvSpPr>
        <p:spPr>
          <a:xfrm>
            <a:off x="1874519" y="4297680"/>
            <a:ext cx="4023360" cy="530352"/>
          </a:xfrm>
          <a:prstGeom prst="rect">
            <a:avLst/>
          </a:prstGeom>
          <a:noFill/>
        </p:spPr>
        <p:txBody>
          <a:bodyPr wrap="square" lIns="0" rIns="0" tIns="0" bIns="0" anchor="t">
            <a:spAutoFit/>
          </a:bodyPr>
          <a:lstStyle/>
          <a:p>
            <a:r>
              <a:rPr sz="1400" b="1" i="0">
                <a:solidFill>
                  <a:srgbClr val="153243"/>
                </a:solidFill>
                <a:latin typeface="Source Sans Pro"/>
              </a:rPr>
              <a:t>Use technology</a:t>
            </a:r>
          </a:p>
          <a:p>
            <a:r>
              <a:rPr sz="1200" b="0" i="0">
                <a:solidFill>
                  <a:srgbClr val="153243"/>
                </a:solidFill>
                <a:latin typeface="Source Sans Pro"/>
              </a:rPr>
              <a:t>More time on work that needs your expertise</a:t>
            </a:r>
          </a:p>
        </p:txBody>
      </p:sp>
      <p:sp>
        <p:nvSpPr>
          <p:cNvPr id="21" name="Row icon 4 circle"/>
          <p:cNvSpPr/>
          <p:nvPr/>
        </p:nvSpPr>
        <p:spPr>
          <a:xfrm>
            <a:off x="1234440" y="5001768"/>
            <a:ext cx="457200" cy="4572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Row icon 4" descr="Row icon 4"/>
          <p:cNvPicPr>
            <a:picLocks noChangeAspect="1"/>
          </p:cNvPicPr>
          <p:nvPr/>
        </p:nvPicPr>
        <p:blipFill>
          <a:blip r:embed="rId5"/>
          <a:stretch>
            <a:fillRect/>
          </a:stretch>
        </p:blipFill>
        <p:spPr>
          <a:xfrm>
            <a:off x="1344168" y="5111496"/>
            <a:ext cx="237744" cy="237744"/>
          </a:xfrm>
          <a:prstGeom prst="rect">
            <a:avLst/>
          </a:prstGeom>
        </p:spPr>
      </p:pic>
      <p:sp>
        <p:nvSpPr>
          <p:cNvPr id="23" name="Row text 4"/>
          <p:cNvSpPr txBox="1"/>
          <p:nvPr/>
        </p:nvSpPr>
        <p:spPr>
          <a:xfrm>
            <a:off x="1874519" y="4983480"/>
            <a:ext cx="4023360" cy="530352"/>
          </a:xfrm>
          <a:prstGeom prst="rect">
            <a:avLst/>
          </a:prstGeom>
          <a:noFill/>
        </p:spPr>
        <p:txBody>
          <a:bodyPr wrap="square" lIns="0" rIns="0" tIns="0" bIns="0" anchor="t">
            <a:spAutoFit/>
          </a:bodyPr>
          <a:lstStyle/>
          <a:p>
            <a:r>
              <a:rPr sz="1400" b="1" i="0">
                <a:solidFill>
                  <a:srgbClr val="153243"/>
                </a:solidFill>
                <a:latin typeface="Source Sans Pro"/>
              </a:rPr>
              <a:t>Delegate and elevate</a:t>
            </a:r>
          </a:p>
          <a:p>
            <a:r>
              <a:rPr sz="1200" b="0" i="0">
                <a:solidFill>
                  <a:srgbClr val="153243"/>
                </a:solidFill>
                <a:latin typeface="Source Sans Pro"/>
              </a:rPr>
              <a:t>What should each person own, and what can move?</a:t>
            </a:r>
          </a:p>
        </p:txBody>
      </p:sp>
      <p:sp>
        <p:nvSpPr>
          <p:cNvPr id="24" name="How EOS connects it panel"/>
          <p:cNvSpPr/>
          <p:nvPr/>
        </p:nvSpPr>
        <p:spPr>
          <a:xfrm>
            <a:off x="6291072" y="1920240"/>
            <a:ext cx="5029200" cy="3611880"/>
          </a:xfrm>
          <a:prstGeom prst="roundRect">
            <a:avLst>
              <a:gd name="adj" fmla="val 4000"/>
            </a:avLst>
          </a:prstGeom>
          <a:solidFill>
            <a:srgbClr val="EDEC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How EOS connects it header"/>
          <p:cNvSpPr txBox="1"/>
          <p:nvPr/>
        </p:nvSpPr>
        <p:spPr>
          <a:xfrm>
            <a:off x="6565392" y="2103120"/>
            <a:ext cx="4480560" cy="292608"/>
          </a:xfrm>
          <a:prstGeom prst="rect">
            <a:avLst/>
          </a:prstGeom>
          <a:noFill/>
        </p:spPr>
        <p:txBody>
          <a:bodyPr wrap="square" lIns="0" rIns="0" tIns="0" bIns="0" anchor="t">
            <a:spAutoFit/>
          </a:bodyPr>
          <a:lstStyle/>
          <a:p>
            <a:r>
              <a:rPr sz="1800" b="1" i="0">
                <a:solidFill>
                  <a:srgbClr val="153243"/>
                </a:solidFill>
                <a:latin typeface="Source Sans Pro"/>
              </a:rPr>
              <a:t>How EOS connects it</a:t>
            </a:r>
          </a:p>
        </p:txBody>
      </p:sp>
      <p:sp>
        <p:nvSpPr>
          <p:cNvPr id="26" name="How EOS connects it subhead"/>
          <p:cNvSpPr txBox="1"/>
          <p:nvPr/>
        </p:nvSpPr>
        <p:spPr>
          <a:xfrm>
            <a:off x="6565392" y="2395728"/>
            <a:ext cx="4480560" cy="274320"/>
          </a:xfrm>
          <a:prstGeom prst="rect">
            <a:avLst/>
          </a:prstGeom>
          <a:noFill/>
        </p:spPr>
        <p:txBody>
          <a:bodyPr wrap="square" lIns="0" rIns="0" tIns="0" bIns="0" anchor="t">
            <a:spAutoFit/>
          </a:bodyPr>
          <a:lstStyle/>
          <a:p>
            <a:r>
              <a:rPr sz="1300" b="0" i="0">
                <a:solidFill>
                  <a:srgbClr val="366E8E"/>
                </a:solidFill>
                <a:latin typeface="Source Sans Pro"/>
              </a:rPr>
              <a:t>Three tools, one rhythm</a:t>
            </a:r>
          </a:p>
        </p:txBody>
      </p:sp>
      <p:sp>
        <p:nvSpPr>
          <p:cNvPr id="27" name="Row icon 1 circle"/>
          <p:cNvSpPr/>
          <p:nvPr/>
        </p:nvSpPr>
        <p:spPr>
          <a:xfrm>
            <a:off x="6565392" y="2944368"/>
            <a:ext cx="457200" cy="4572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Row icon 1" descr="Row icon 1"/>
          <p:cNvPicPr>
            <a:picLocks noChangeAspect="1"/>
          </p:cNvPicPr>
          <p:nvPr/>
        </p:nvPicPr>
        <p:blipFill>
          <a:blip r:embed="rId6"/>
          <a:stretch>
            <a:fillRect/>
          </a:stretch>
        </p:blipFill>
        <p:spPr>
          <a:xfrm>
            <a:off x="6675120" y="3054096"/>
            <a:ext cx="237744" cy="237744"/>
          </a:xfrm>
          <a:prstGeom prst="rect">
            <a:avLst/>
          </a:prstGeom>
        </p:spPr>
      </p:pic>
      <p:sp>
        <p:nvSpPr>
          <p:cNvPr id="29" name="Row text 1"/>
          <p:cNvSpPr txBox="1"/>
          <p:nvPr/>
        </p:nvSpPr>
        <p:spPr>
          <a:xfrm>
            <a:off x="7205472" y="2926080"/>
            <a:ext cx="4023360" cy="530352"/>
          </a:xfrm>
          <a:prstGeom prst="rect">
            <a:avLst/>
          </a:prstGeom>
          <a:noFill/>
        </p:spPr>
        <p:txBody>
          <a:bodyPr wrap="square" lIns="0" rIns="0" tIns="0" bIns="0" anchor="t">
            <a:spAutoFit/>
          </a:bodyPr>
          <a:lstStyle/>
          <a:p>
            <a:r>
              <a:rPr sz="1400" b="1" i="0">
                <a:solidFill>
                  <a:srgbClr val="153243"/>
                </a:solidFill>
                <a:latin typeface="Source Sans Pro"/>
              </a:rPr>
              <a:t>Scorecards</a:t>
            </a:r>
          </a:p>
          <a:p>
            <a:r>
              <a:rPr sz="1200" b="0" i="0">
                <a:solidFill>
                  <a:srgbClr val="153243"/>
                </a:solidFill>
                <a:latin typeface="Source Sans Pro"/>
              </a:rPr>
              <a:t>Show us where attention is needed</a:t>
            </a:r>
          </a:p>
        </p:txBody>
      </p:sp>
      <p:sp>
        <p:nvSpPr>
          <p:cNvPr id="30" name="Row icon 2 circle"/>
          <p:cNvSpPr/>
          <p:nvPr/>
        </p:nvSpPr>
        <p:spPr>
          <a:xfrm>
            <a:off x="6565392" y="3813048"/>
            <a:ext cx="457200" cy="4572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1" name="Row icon 2" descr="Row icon 2"/>
          <p:cNvPicPr>
            <a:picLocks noChangeAspect="1"/>
          </p:cNvPicPr>
          <p:nvPr/>
        </p:nvPicPr>
        <p:blipFill>
          <a:blip r:embed="rId7"/>
          <a:stretch>
            <a:fillRect/>
          </a:stretch>
        </p:blipFill>
        <p:spPr>
          <a:xfrm>
            <a:off x="6675120" y="3922776"/>
            <a:ext cx="237744" cy="237744"/>
          </a:xfrm>
          <a:prstGeom prst="rect">
            <a:avLst/>
          </a:prstGeom>
        </p:spPr>
      </p:pic>
      <p:sp>
        <p:nvSpPr>
          <p:cNvPr id="32" name="Row text 2"/>
          <p:cNvSpPr txBox="1"/>
          <p:nvPr/>
        </p:nvSpPr>
        <p:spPr>
          <a:xfrm>
            <a:off x="7205472" y="3794760"/>
            <a:ext cx="4023360" cy="530352"/>
          </a:xfrm>
          <a:prstGeom prst="rect">
            <a:avLst/>
          </a:prstGeom>
          <a:noFill/>
        </p:spPr>
        <p:txBody>
          <a:bodyPr wrap="square" lIns="0" rIns="0" tIns="0" bIns="0" anchor="t">
            <a:spAutoFit/>
          </a:bodyPr>
          <a:lstStyle/>
          <a:p>
            <a:r>
              <a:rPr sz="1400" b="1" i="0">
                <a:solidFill>
                  <a:srgbClr val="153243"/>
                </a:solidFill>
                <a:latin typeface="Source Sans Pro"/>
              </a:rPr>
              <a:t>L10s</a:t>
            </a:r>
          </a:p>
          <a:p>
            <a:r>
              <a:rPr sz="1200" b="0" i="0">
                <a:solidFill>
                  <a:srgbClr val="153243"/>
                </a:solidFill>
                <a:latin typeface="Source Sans Pro"/>
              </a:rPr>
              <a:t>Help us understand and solve the underlying issues</a:t>
            </a:r>
          </a:p>
        </p:txBody>
      </p:sp>
      <p:sp>
        <p:nvSpPr>
          <p:cNvPr id="33" name="Row icon 3 circle"/>
          <p:cNvSpPr/>
          <p:nvPr/>
        </p:nvSpPr>
        <p:spPr>
          <a:xfrm>
            <a:off x="6565392" y="4681727"/>
            <a:ext cx="457200" cy="4572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 name="Row icon 3" descr="Row icon 3"/>
          <p:cNvPicPr>
            <a:picLocks noChangeAspect="1"/>
          </p:cNvPicPr>
          <p:nvPr/>
        </p:nvPicPr>
        <p:blipFill>
          <a:blip r:embed="rId8"/>
          <a:stretch>
            <a:fillRect/>
          </a:stretch>
        </p:blipFill>
        <p:spPr>
          <a:xfrm>
            <a:off x="6675120" y="4791455"/>
            <a:ext cx="237744" cy="237744"/>
          </a:xfrm>
          <a:prstGeom prst="rect">
            <a:avLst/>
          </a:prstGeom>
        </p:spPr>
      </p:pic>
      <p:sp>
        <p:nvSpPr>
          <p:cNvPr id="35" name="Row text 3"/>
          <p:cNvSpPr txBox="1"/>
          <p:nvPr/>
        </p:nvSpPr>
        <p:spPr>
          <a:xfrm>
            <a:off x="7205472" y="4663440"/>
            <a:ext cx="4023360" cy="530352"/>
          </a:xfrm>
          <a:prstGeom prst="rect">
            <a:avLst/>
          </a:prstGeom>
          <a:noFill/>
        </p:spPr>
        <p:txBody>
          <a:bodyPr wrap="square" lIns="0" rIns="0" tIns="0" bIns="0" anchor="t">
            <a:spAutoFit/>
          </a:bodyPr>
          <a:lstStyle/>
          <a:p>
            <a:r>
              <a:rPr sz="1400" b="1" i="0">
                <a:solidFill>
                  <a:srgbClr val="153243"/>
                </a:solidFill>
                <a:latin typeface="Source Sans Pro"/>
              </a:rPr>
              <a:t>Rocks</a:t>
            </a:r>
          </a:p>
          <a:p>
            <a:r>
              <a:rPr sz="1200" b="0" i="0">
                <a:solidFill>
                  <a:srgbClr val="153243"/>
                </a:solidFill>
                <a:latin typeface="Source Sans Pro"/>
              </a:rPr>
              <a:t>Move the most important improvements forward</a:t>
            </a:r>
          </a:p>
        </p:txBody>
      </p:sp>
    </p:spTree>
    <p:extLst>
      <p:ext uri="{BB962C8B-B14F-4D97-AF65-F5344CB8AC3E}">
        <p14:creationId xmlns:p14="http://schemas.microsoft.com/office/powerpoint/2010/main" val="373954796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C0E2FD-837D-9753-CF85-B96BB0ED339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52C6772-D662-5D65-1798-38644B18B7E5}"/>
              </a:ext>
            </a:extLst>
          </p:cNvPr>
          <p:cNvSpPr txBox="1"/>
          <p:nvPr/>
        </p:nvSpPr>
        <p:spPr>
          <a:xfrm>
            <a:off x="875347" y="368336"/>
            <a:ext cx="10447973"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1" u="none" strike="noStrike" kern="1200" cap="none" spc="0" normalizeH="0" baseline="0" noProof="0" dirty="0">
                <a:ln>
                  <a:noFill/>
                </a:ln>
                <a:solidFill>
                  <a:srgbClr val="EDECED"/>
                </a:solidFill>
                <a:effectLst/>
                <a:uLnTx/>
                <a:uFillTx/>
                <a:latin typeface="Playfair Display" panose="00000500000000000000" pitchFamily="2" charset="0"/>
                <a:ea typeface="+mn-ea"/>
                <a:cs typeface="+mn-cs"/>
              </a:rPr>
              <a:t>What was harder than expected</a:t>
            </a:r>
          </a:p>
        </p:txBody>
      </p:sp>
      <p:cxnSp>
        <p:nvCxnSpPr>
          <p:cNvPr id="6" name="Straight Connector 5">
            <a:extLst>
              <a:ext uri="{FF2B5EF4-FFF2-40B4-BE49-F238E27FC236}">
                <a16:creationId xmlns:a16="http://schemas.microsoft.com/office/drawing/2014/main" id="{5E9116D3-F450-4A0A-4B24-450372B6DA92}"/>
              </a:ext>
            </a:extLst>
          </p:cNvPr>
          <p:cNvCxnSpPr>
            <a:cxnSpLocks/>
          </p:cNvCxnSpPr>
          <p:nvPr/>
        </p:nvCxnSpPr>
        <p:spPr>
          <a:xfrm>
            <a:off x="963168" y="1060704"/>
            <a:ext cx="10360152" cy="0"/>
          </a:xfrm>
          <a:prstGeom prst="line">
            <a:avLst/>
          </a:prstGeom>
          <a:ln>
            <a:solidFill>
              <a:schemeClr val="accent3"/>
            </a:solidFill>
          </a:ln>
        </p:spPr>
        <p:style>
          <a:lnRef idx="2">
            <a:schemeClr val="accent3"/>
          </a:lnRef>
          <a:fillRef idx="0">
            <a:schemeClr val="accent3"/>
          </a:fillRef>
          <a:effectRef idx="1">
            <a:schemeClr val="accent3"/>
          </a:effectRef>
          <a:fontRef idx="minor">
            <a:schemeClr val="tx1"/>
          </a:fontRef>
        </p:style>
      </p:cxnSp>
      <p:sp>
        <p:nvSpPr>
          <p:cNvPr id="7" name="Eyebrow"/>
          <p:cNvSpPr txBox="1"/>
          <p:nvPr/>
        </p:nvSpPr>
        <p:spPr>
          <a:xfrm>
            <a:off x="960120" y="1188720"/>
            <a:ext cx="10360152" cy="228600"/>
          </a:xfrm>
          <a:prstGeom prst="rect">
            <a:avLst/>
          </a:prstGeom>
          <a:noFill/>
        </p:spPr>
        <p:txBody>
          <a:bodyPr wrap="square" lIns="0" rIns="0" tIns="0" bIns="0" anchor="t">
            <a:spAutoFit/>
          </a:bodyPr>
          <a:lstStyle/>
          <a:p>
            <a:r>
              <a:rPr sz="1200" b="1" i="0" spc="200">
                <a:solidFill>
                  <a:srgbClr val="8FB24E"/>
                </a:solidFill>
                <a:latin typeface="Source Sans Pro"/>
              </a:rPr>
              <a:t>LESSONS LEARNED</a:t>
            </a:r>
          </a:p>
        </p:txBody>
      </p:sp>
      <p:sp>
        <p:nvSpPr>
          <p:cNvPr id="8" name="Subtitle"/>
          <p:cNvSpPr txBox="1"/>
          <p:nvPr/>
        </p:nvSpPr>
        <p:spPr>
          <a:xfrm>
            <a:off x="960120" y="1444752"/>
            <a:ext cx="10360152" cy="320040"/>
          </a:xfrm>
          <a:prstGeom prst="rect">
            <a:avLst/>
          </a:prstGeom>
          <a:noFill/>
        </p:spPr>
        <p:txBody>
          <a:bodyPr wrap="square" lIns="0" rIns="0" tIns="0" bIns="0" anchor="t">
            <a:spAutoFit/>
          </a:bodyPr>
          <a:lstStyle/>
          <a:p>
            <a:r>
              <a:rPr sz="1600" b="0" i="0">
                <a:solidFill>
                  <a:srgbClr val="FFFFFF"/>
                </a:solidFill>
                <a:latin typeface="Source Sans Pro"/>
              </a:rPr>
              <a:t>Building the capacity and structure to keep pace while serving existing clients well.</a:t>
            </a:r>
          </a:p>
        </p:txBody>
      </p:sp>
      <p:sp>
        <p:nvSpPr>
          <p:cNvPr id="9" name="Hiring card"/>
          <p:cNvSpPr/>
          <p:nvPr/>
        </p:nvSpPr>
        <p:spPr>
          <a:xfrm>
            <a:off x="960120" y="1920240"/>
            <a:ext cx="3200400" cy="2743200"/>
          </a:xfrm>
          <a:prstGeom prst="roundRect">
            <a:avLst>
              <a:gd name="adj" fmla="val 5000"/>
            </a:avLst>
          </a:prstGeom>
          <a:solidFill>
            <a:srgbClr val="EDEC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Hiring icon circle"/>
          <p:cNvSpPr/>
          <p:nvPr/>
        </p:nvSpPr>
        <p:spPr>
          <a:xfrm>
            <a:off x="1211580" y="2034540"/>
            <a:ext cx="502920" cy="502920"/>
          </a:xfrm>
          <a:prstGeom prst="ellipse">
            <a:avLst/>
          </a:prstGeom>
          <a:solidFill>
            <a:srgbClr val="8FB2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Hiring icon" descr="Hiring icon"/>
          <p:cNvPicPr>
            <a:picLocks noChangeAspect="1"/>
          </p:cNvPicPr>
          <p:nvPr/>
        </p:nvPicPr>
        <p:blipFill>
          <a:blip r:embed="rId2"/>
          <a:stretch>
            <a:fillRect/>
          </a:stretch>
        </p:blipFill>
        <p:spPr>
          <a:xfrm>
            <a:off x="1332280" y="2155240"/>
            <a:ext cx="261518" cy="261518"/>
          </a:xfrm>
          <a:prstGeom prst="rect">
            <a:avLst/>
          </a:prstGeom>
        </p:spPr>
      </p:pic>
      <p:sp>
        <p:nvSpPr>
          <p:cNvPr id="12" name="Hiring header"/>
          <p:cNvSpPr txBox="1"/>
          <p:nvPr/>
        </p:nvSpPr>
        <p:spPr>
          <a:xfrm>
            <a:off x="1874519" y="2103120"/>
            <a:ext cx="2103120" cy="365760"/>
          </a:xfrm>
          <a:prstGeom prst="rect">
            <a:avLst/>
          </a:prstGeom>
          <a:noFill/>
        </p:spPr>
        <p:txBody>
          <a:bodyPr wrap="square" lIns="0" rIns="0" tIns="0" bIns="0" anchor="ctr">
            <a:spAutoFit/>
          </a:bodyPr>
          <a:lstStyle/>
          <a:p>
            <a:r>
              <a:rPr sz="1800" b="1" i="0">
                <a:solidFill>
                  <a:srgbClr val="153243"/>
                </a:solidFill>
                <a:latin typeface="Source Sans Pro"/>
              </a:rPr>
              <a:t>Hiring</a:t>
            </a:r>
          </a:p>
        </p:txBody>
      </p:sp>
      <p:sp>
        <p:nvSpPr>
          <p:cNvPr id="13" name="Hiring step"/>
          <p:cNvSpPr/>
          <p:nvPr/>
        </p:nvSpPr>
        <p:spPr>
          <a:xfrm>
            <a:off x="1143000" y="2834640"/>
            <a:ext cx="2834640" cy="621792"/>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Hiring step text"/>
          <p:cNvSpPr txBox="1"/>
          <p:nvPr/>
        </p:nvSpPr>
        <p:spPr>
          <a:xfrm>
            <a:off x="1280160" y="2834640"/>
            <a:ext cx="2560320" cy="621792"/>
          </a:xfrm>
          <a:prstGeom prst="rect">
            <a:avLst/>
          </a:prstGeom>
          <a:noFill/>
        </p:spPr>
        <p:txBody>
          <a:bodyPr wrap="square" lIns="0" rIns="0" tIns="0" bIns="0" anchor="ctr">
            <a:spAutoFit/>
          </a:bodyPr>
          <a:lstStyle/>
          <a:p>
            <a:r>
              <a:rPr sz="1000" b="1" i="0" spc="100">
                <a:solidFill>
                  <a:srgbClr val="366E8E"/>
                </a:solidFill>
                <a:latin typeface="Source Sans Pro"/>
              </a:rPr>
              <a:t>ONE STEP  </a:t>
            </a:r>
          </a:p>
          <a:p>
            <a:r>
              <a:rPr sz="1300" b="0" i="0">
                <a:solidFill>
                  <a:srgbClr val="153243"/>
                </a:solidFill>
                <a:latin typeface="Source Sans Pro"/>
              </a:rPr>
              <a:t>Hire someone</a:t>
            </a:r>
          </a:p>
        </p:txBody>
      </p:sp>
      <p:sp>
        <p:nvSpPr>
          <p:cNvPr id="15" name="Hiring harder"/>
          <p:cNvSpPr/>
          <p:nvPr/>
        </p:nvSpPr>
        <p:spPr>
          <a:xfrm>
            <a:off x="1143000" y="3703320"/>
            <a:ext cx="2834640" cy="685800"/>
          </a:xfrm>
          <a:prstGeom prst="roundRect">
            <a:avLst>
              <a:gd name="adj" fmla="val 8000"/>
            </a:avLst>
          </a:prstGeom>
          <a:solidFill>
            <a:srgbClr val="8FB2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Hiring harder text"/>
          <p:cNvSpPr txBox="1"/>
          <p:nvPr/>
        </p:nvSpPr>
        <p:spPr>
          <a:xfrm>
            <a:off x="1280160" y="3703320"/>
            <a:ext cx="2560320" cy="685800"/>
          </a:xfrm>
          <a:prstGeom prst="rect">
            <a:avLst/>
          </a:prstGeom>
          <a:noFill/>
        </p:spPr>
        <p:txBody>
          <a:bodyPr wrap="square" lIns="0" rIns="0" tIns="0" bIns="0" anchor="ctr">
            <a:spAutoFit/>
          </a:bodyPr>
          <a:lstStyle/>
          <a:p>
            <a:r>
              <a:rPr sz="1000" b="1" i="0" spc="100">
                <a:solidFill>
                  <a:srgbClr val="153243"/>
                </a:solidFill>
                <a:latin typeface="Source Sans Pro"/>
              </a:rPr>
              <a:t>MORE WORK  </a:t>
            </a:r>
          </a:p>
          <a:p>
            <a:r>
              <a:rPr sz="1300" b="1" i="0">
                <a:solidFill>
                  <a:srgbClr val="153243"/>
                </a:solidFill>
                <a:latin typeface="Source Sans Pro"/>
              </a:rPr>
              <a:t>Train and support them</a:t>
            </a:r>
          </a:p>
        </p:txBody>
      </p:sp>
      <p:sp>
        <p:nvSpPr>
          <p:cNvPr id="17" name="Process card"/>
          <p:cNvSpPr/>
          <p:nvPr/>
        </p:nvSpPr>
        <p:spPr>
          <a:xfrm>
            <a:off x="4539996" y="1920240"/>
            <a:ext cx="3200400" cy="2743200"/>
          </a:xfrm>
          <a:prstGeom prst="roundRect">
            <a:avLst>
              <a:gd name="adj" fmla="val 5000"/>
            </a:avLst>
          </a:prstGeom>
          <a:solidFill>
            <a:srgbClr val="EDEC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Process icon circle"/>
          <p:cNvSpPr/>
          <p:nvPr/>
        </p:nvSpPr>
        <p:spPr>
          <a:xfrm>
            <a:off x="4791455" y="2034540"/>
            <a:ext cx="502920" cy="502920"/>
          </a:xfrm>
          <a:prstGeom prst="ellipse">
            <a:avLst/>
          </a:prstGeom>
          <a:solidFill>
            <a:srgbClr val="8FB2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rocess icon" descr="Process icon"/>
          <p:cNvPicPr>
            <a:picLocks noChangeAspect="1"/>
          </p:cNvPicPr>
          <p:nvPr/>
        </p:nvPicPr>
        <p:blipFill>
          <a:blip r:embed="rId3"/>
          <a:stretch>
            <a:fillRect/>
          </a:stretch>
        </p:blipFill>
        <p:spPr>
          <a:xfrm>
            <a:off x="4912156" y="2155240"/>
            <a:ext cx="261518" cy="261518"/>
          </a:xfrm>
          <a:prstGeom prst="rect">
            <a:avLst/>
          </a:prstGeom>
        </p:spPr>
      </p:pic>
      <p:sp>
        <p:nvSpPr>
          <p:cNvPr id="20" name="Process header"/>
          <p:cNvSpPr txBox="1"/>
          <p:nvPr/>
        </p:nvSpPr>
        <p:spPr>
          <a:xfrm>
            <a:off x="5454396" y="2103120"/>
            <a:ext cx="2103120" cy="365760"/>
          </a:xfrm>
          <a:prstGeom prst="rect">
            <a:avLst/>
          </a:prstGeom>
          <a:noFill/>
        </p:spPr>
        <p:txBody>
          <a:bodyPr wrap="square" lIns="0" rIns="0" tIns="0" bIns="0" anchor="ctr">
            <a:spAutoFit/>
          </a:bodyPr>
          <a:lstStyle/>
          <a:p>
            <a:r>
              <a:rPr sz="1800" b="1" i="0">
                <a:solidFill>
                  <a:srgbClr val="153243"/>
                </a:solidFill>
                <a:latin typeface="Source Sans Pro"/>
              </a:rPr>
              <a:t>Process</a:t>
            </a:r>
          </a:p>
        </p:txBody>
      </p:sp>
      <p:sp>
        <p:nvSpPr>
          <p:cNvPr id="21" name="Process step"/>
          <p:cNvSpPr/>
          <p:nvPr/>
        </p:nvSpPr>
        <p:spPr>
          <a:xfrm>
            <a:off x="4722876" y="2834640"/>
            <a:ext cx="2834640" cy="621792"/>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Process step text"/>
          <p:cNvSpPr txBox="1"/>
          <p:nvPr/>
        </p:nvSpPr>
        <p:spPr>
          <a:xfrm>
            <a:off x="4860036" y="2834640"/>
            <a:ext cx="2560320" cy="621792"/>
          </a:xfrm>
          <a:prstGeom prst="rect">
            <a:avLst/>
          </a:prstGeom>
          <a:noFill/>
        </p:spPr>
        <p:txBody>
          <a:bodyPr wrap="square" lIns="0" rIns="0" tIns="0" bIns="0" anchor="ctr">
            <a:spAutoFit/>
          </a:bodyPr>
          <a:lstStyle/>
          <a:p>
            <a:r>
              <a:rPr sz="1000" b="1" i="0" spc="100">
                <a:solidFill>
                  <a:srgbClr val="366E8E"/>
                </a:solidFill>
                <a:latin typeface="Source Sans Pro"/>
              </a:rPr>
              <a:t>ONE STEP  </a:t>
            </a:r>
          </a:p>
          <a:p>
            <a:r>
              <a:rPr sz="1300" b="0" i="0">
                <a:solidFill>
                  <a:srgbClr val="153243"/>
                </a:solidFill>
                <a:latin typeface="Source Sans Pro"/>
              </a:rPr>
              <a:t>Create a process</a:t>
            </a:r>
          </a:p>
        </p:txBody>
      </p:sp>
      <p:sp>
        <p:nvSpPr>
          <p:cNvPr id="23" name="Process harder"/>
          <p:cNvSpPr/>
          <p:nvPr/>
        </p:nvSpPr>
        <p:spPr>
          <a:xfrm>
            <a:off x="4722876" y="3703320"/>
            <a:ext cx="2834640" cy="685800"/>
          </a:xfrm>
          <a:prstGeom prst="roundRect">
            <a:avLst>
              <a:gd name="adj" fmla="val 8000"/>
            </a:avLst>
          </a:prstGeom>
          <a:solidFill>
            <a:srgbClr val="8FB2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Process harder text"/>
          <p:cNvSpPr txBox="1"/>
          <p:nvPr/>
        </p:nvSpPr>
        <p:spPr>
          <a:xfrm>
            <a:off x="4860036" y="3703320"/>
            <a:ext cx="2560320" cy="685800"/>
          </a:xfrm>
          <a:prstGeom prst="rect">
            <a:avLst/>
          </a:prstGeom>
          <a:noFill/>
        </p:spPr>
        <p:txBody>
          <a:bodyPr wrap="square" lIns="0" rIns="0" tIns="0" bIns="0" anchor="ctr">
            <a:spAutoFit/>
          </a:bodyPr>
          <a:lstStyle/>
          <a:p>
            <a:r>
              <a:rPr sz="1000" b="1" i="0" spc="100">
                <a:solidFill>
                  <a:srgbClr val="153243"/>
                </a:solidFill>
                <a:latin typeface="Source Sans Pro"/>
              </a:rPr>
              <a:t>MORE WORK  </a:t>
            </a:r>
          </a:p>
          <a:p>
            <a:r>
              <a:rPr sz="1300" b="1" i="0">
                <a:solidFill>
                  <a:srgbClr val="153243"/>
                </a:solidFill>
                <a:latin typeface="Source Sans Pro"/>
              </a:rPr>
              <a:t>Get it used consistently</a:t>
            </a:r>
          </a:p>
        </p:txBody>
      </p:sp>
      <p:sp>
        <p:nvSpPr>
          <p:cNvPr id="25" name="Technology card"/>
          <p:cNvSpPr/>
          <p:nvPr/>
        </p:nvSpPr>
        <p:spPr>
          <a:xfrm>
            <a:off x="8119872" y="1920240"/>
            <a:ext cx="3200400" cy="2743200"/>
          </a:xfrm>
          <a:prstGeom prst="roundRect">
            <a:avLst>
              <a:gd name="adj" fmla="val 5000"/>
            </a:avLst>
          </a:prstGeom>
          <a:solidFill>
            <a:srgbClr val="EDEC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chnology icon circle"/>
          <p:cNvSpPr/>
          <p:nvPr/>
        </p:nvSpPr>
        <p:spPr>
          <a:xfrm>
            <a:off x="8371332" y="2034540"/>
            <a:ext cx="502920" cy="502920"/>
          </a:xfrm>
          <a:prstGeom prst="ellipse">
            <a:avLst/>
          </a:prstGeom>
          <a:solidFill>
            <a:srgbClr val="8FB2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Technology icon" descr="Technology icon"/>
          <p:cNvPicPr>
            <a:picLocks noChangeAspect="1"/>
          </p:cNvPicPr>
          <p:nvPr/>
        </p:nvPicPr>
        <p:blipFill>
          <a:blip r:embed="rId4"/>
          <a:stretch>
            <a:fillRect/>
          </a:stretch>
        </p:blipFill>
        <p:spPr>
          <a:xfrm>
            <a:off x="8492032" y="2155240"/>
            <a:ext cx="261518" cy="261518"/>
          </a:xfrm>
          <a:prstGeom prst="rect">
            <a:avLst/>
          </a:prstGeom>
        </p:spPr>
      </p:pic>
      <p:sp>
        <p:nvSpPr>
          <p:cNvPr id="28" name="Technology header"/>
          <p:cNvSpPr txBox="1"/>
          <p:nvPr/>
        </p:nvSpPr>
        <p:spPr>
          <a:xfrm>
            <a:off x="9034272" y="2103120"/>
            <a:ext cx="2103120" cy="365760"/>
          </a:xfrm>
          <a:prstGeom prst="rect">
            <a:avLst/>
          </a:prstGeom>
          <a:noFill/>
        </p:spPr>
        <p:txBody>
          <a:bodyPr wrap="square" lIns="0" rIns="0" tIns="0" bIns="0" anchor="ctr">
            <a:spAutoFit/>
          </a:bodyPr>
          <a:lstStyle/>
          <a:p>
            <a:r>
              <a:rPr sz="1800" b="1" i="0">
                <a:solidFill>
                  <a:srgbClr val="153243"/>
                </a:solidFill>
                <a:latin typeface="Source Sans Pro"/>
              </a:rPr>
              <a:t>Technology</a:t>
            </a:r>
          </a:p>
        </p:txBody>
      </p:sp>
      <p:sp>
        <p:nvSpPr>
          <p:cNvPr id="29" name="Technology step"/>
          <p:cNvSpPr/>
          <p:nvPr/>
        </p:nvSpPr>
        <p:spPr>
          <a:xfrm>
            <a:off x="8302752" y="2834640"/>
            <a:ext cx="2834640" cy="621792"/>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chnology step text"/>
          <p:cNvSpPr txBox="1"/>
          <p:nvPr/>
        </p:nvSpPr>
        <p:spPr>
          <a:xfrm>
            <a:off x="8439912" y="2834640"/>
            <a:ext cx="2560320" cy="621792"/>
          </a:xfrm>
          <a:prstGeom prst="rect">
            <a:avLst/>
          </a:prstGeom>
          <a:noFill/>
        </p:spPr>
        <p:txBody>
          <a:bodyPr wrap="square" lIns="0" rIns="0" tIns="0" bIns="0" anchor="ctr">
            <a:spAutoFit/>
          </a:bodyPr>
          <a:lstStyle/>
          <a:p>
            <a:r>
              <a:rPr sz="1000" b="1" i="0" spc="100">
                <a:solidFill>
                  <a:srgbClr val="366E8E"/>
                </a:solidFill>
                <a:latin typeface="Source Sans Pro"/>
              </a:rPr>
              <a:t>ONE STEP  </a:t>
            </a:r>
          </a:p>
          <a:p>
            <a:r>
              <a:rPr sz="1300" b="0" i="0">
                <a:solidFill>
                  <a:srgbClr val="153243"/>
                </a:solidFill>
                <a:latin typeface="Source Sans Pro"/>
              </a:rPr>
              <a:t>Find a promising tool</a:t>
            </a:r>
          </a:p>
        </p:txBody>
      </p:sp>
      <p:sp>
        <p:nvSpPr>
          <p:cNvPr id="31" name="Technology harder"/>
          <p:cNvSpPr/>
          <p:nvPr/>
        </p:nvSpPr>
        <p:spPr>
          <a:xfrm>
            <a:off x="8302752" y="3703320"/>
            <a:ext cx="2834640" cy="685800"/>
          </a:xfrm>
          <a:prstGeom prst="roundRect">
            <a:avLst>
              <a:gd name="adj" fmla="val 8000"/>
            </a:avLst>
          </a:prstGeom>
          <a:solidFill>
            <a:srgbClr val="8FB2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chnology harder text"/>
          <p:cNvSpPr txBox="1"/>
          <p:nvPr/>
        </p:nvSpPr>
        <p:spPr>
          <a:xfrm>
            <a:off x="8439912" y="3703320"/>
            <a:ext cx="2560320" cy="685800"/>
          </a:xfrm>
          <a:prstGeom prst="rect">
            <a:avLst/>
          </a:prstGeom>
          <a:noFill/>
        </p:spPr>
        <p:txBody>
          <a:bodyPr wrap="square" lIns="0" rIns="0" tIns="0" bIns="0" anchor="ctr">
            <a:spAutoFit/>
          </a:bodyPr>
          <a:lstStyle/>
          <a:p>
            <a:r>
              <a:rPr sz="1000" b="1" i="0" spc="100">
                <a:solidFill>
                  <a:srgbClr val="153243"/>
                </a:solidFill>
                <a:latin typeface="Source Sans Pro"/>
              </a:rPr>
              <a:t>MORE WORK  </a:t>
            </a:r>
          </a:p>
          <a:p>
            <a:r>
              <a:rPr sz="1300" b="1" i="0">
                <a:solidFill>
                  <a:srgbClr val="153243"/>
                </a:solidFill>
                <a:latin typeface="Source Sans Pro"/>
              </a:rPr>
              <a:t>Make it useful day to day</a:t>
            </a:r>
          </a:p>
        </p:txBody>
      </p:sp>
      <p:sp>
        <p:nvSpPr>
          <p:cNvPr id="33" name="Retention card"/>
          <p:cNvSpPr/>
          <p:nvPr/>
        </p:nvSpPr>
        <p:spPr>
          <a:xfrm>
            <a:off x="960120" y="4846320"/>
            <a:ext cx="10360152" cy="777240"/>
          </a:xfrm>
          <a:prstGeom prst="roundRect">
            <a:avLst>
              <a:gd name="adj" fmla="val 5000"/>
            </a:avLst>
          </a:prstGeom>
          <a:solidFill>
            <a:srgbClr val="EDEC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tention icon circle"/>
          <p:cNvSpPr/>
          <p:nvPr/>
        </p:nvSpPr>
        <p:spPr>
          <a:xfrm>
            <a:off x="1280160" y="4960620"/>
            <a:ext cx="548640" cy="548640"/>
          </a:xfrm>
          <a:prstGeom prst="ellipse">
            <a:avLst/>
          </a:prstGeom>
          <a:solidFill>
            <a:srgbClr val="8FB2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 name="Retention icon" descr="Retention icon"/>
          <p:cNvPicPr>
            <a:picLocks noChangeAspect="1"/>
          </p:cNvPicPr>
          <p:nvPr/>
        </p:nvPicPr>
        <p:blipFill>
          <a:blip r:embed="rId5"/>
          <a:stretch>
            <a:fillRect/>
          </a:stretch>
        </p:blipFill>
        <p:spPr>
          <a:xfrm>
            <a:off x="1411833" y="5092293"/>
            <a:ext cx="285292" cy="285292"/>
          </a:xfrm>
          <a:prstGeom prst="rect">
            <a:avLst/>
          </a:prstGeom>
        </p:spPr>
      </p:pic>
      <p:sp>
        <p:nvSpPr>
          <p:cNvPr id="36" name="Retention text"/>
          <p:cNvSpPr txBox="1"/>
          <p:nvPr/>
        </p:nvSpPr>
        <p:spPr>
          <a:xfrm>
            <a:off x="2057400" y="4846320"/>
            <a:ext cx="9144000" cy="777240"/>
          </a:xfrm>
          <a:prstGeom prst="rect">
            <a:avLst/>
          </a:prstGeom>
          <a:noFill/>
        </p:spPr>
        <p:txBody>
          <a:bodyPr wrap="square" lIns="0" rIns="0" tIns="0" bIns="0" anchor="ctr">
            <a:spAutoFit/>
          </a:bodyPr>
          <a:lstStyle/>
          <a:p>
            <a:r>
              <a:rPr sz="1400" b="1" i="0">
                <a:solidFill>
                  <a:srgbClr val="153243"/>
                </a:solidFill>
                <a:latin typeface="Source Sans Pro"/>
              </a:rPr>
              <a:t>Retention: </a:t>
            </a:r>
            <a:r>
              <a:rPr sz="1400" b="0" i="0">
                <a:solidFill>
                  <a:srgbClr val="153243"/>
                </a:solidFill>
                <a:latin typeface="Source Sans Pro"/>
              </a:rPr>
              <a:t>understand why clients leave, identify patterns, and turn what we learn into changes that stick.</a:t>
            </a:r>
          </a:p>
        </p:txBody>
      </p:sp>
    </p:spTree>
    <p:extLst>
      <p:ext uri="{BB962C8B-B14F-4D97-AF65-F5344CB8AC3E}">
        <p14:creationId xmlns:p14="http://schemas.microsoft.com/office/powerpoint/2010/main" val="373954796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1_Office Theme">
  <a:themeElements>
    <a:clrScheme name="CCIG Brand Standard">
      <a:dk1>
        <a:srgbClr val="153243"/>
      </a:dk1>
      <a:lt1>
        <a:srgbClr val="FFFFFF"/>
      </a:lt1>
      <a:dk2>
        <a:srgbClr val="153243"/>
      </a:dk2>
      <a:lt2>
        <a:srgbClr val="EDECED"/>
      </a:lt2>
      <a:accent1>
        <a:srgbClr val="153243"/>
      </a:accent1>
      <a:accent2>
        <a:srgbClr val="FFC666"/>
      </a:accent2>
      <a:accent3>
        <a:srgbClr val="BFC7CB"/>
      </a:accent3>
      <a:accent4>
        <a:srgbClr val="8FB24E"/>
      </a:accent4>
      <a:accent5>
        <a:srgbClr val="366E8E"/>
      </a:accent5>
      <a:accent6>
        <a:srgbClr val="153243"/>
      </a:accent6>
      <a:hlink>
        <a:srgbClr val="4472C4"/>
      </a:hlink>
      <a:folHlink>
        <a:srgbClr val="954F72"/>
      </a:folHlink>
    </a:clrScheme>
    <a:fontScheme name="CCIG Standard Fonts">
      <a:majorFont>
        <a:latin typeface="Playfair Display Bold italic"/>
        <a:ea typeface=""/>
        <a:cs typeface=""/>
      </a:majorFont>
      <a:minorFont>
        <a:latin typeface="Source Sans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Closing Slide">
  <a:themeElements>
    <a:clrScheme name="CCIG Pallet">
      <a:dk1>
        <a:srgbClr val="FFFFFF"/>
      </a:dk1>
      <a:lt1>
        <a:srgbClr val="153243"/>
      </a:lt1>
      <a:dk2>
        <a:srgbClr val="FFFFFF"/>
      </a:dk2>
      <a:lt2>
        <a:srgbClr val="153243"/>
      </a:lt2>
      <a:accent1>
        <a:srgbClr val="366E8E"/>
      </a:accent1>
      <a:accent2>
        <a:srgbClr val="EDECED"/>
      </a:accent2>
      <a:accent3>
        <a:srgbClr val="8FB24E"/>
      </a:accent3>
      <a:accent4>
        <a:srgbClr val="FFC666"/>
      </a:accent4>
      <a:accent5>
        <a:srgbClr val="BFC7CB"/>
      </a:accent5>
      <a:accent6>
        <a:srgbClr val="FFFFFF"/>
      </a:accent6>
      <a:hlink>
        <a:srgbClr val="FFFFFF"/>
      </a:hlink>
      <a:folHlink>
        <a:srgbClr val="FFFFFF"/>
      </a:folHlink>
    </a:clrScheme>
    <a:fontScheme name="CCIG Fonts">
      <a:majorFont>
        <a:latin typeface="Playfair Display"/>
        <a:ea typeface=""/>
        <a:cs typeface=""/>
      </a:majorFont>
      <a:minorFont>
        <a:latin typeface="Source Sans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2025 Pre Renewal Presentation Template DRAFT.pptx" id="{828A087C-E37D-43CB-A519-71B798F826F0}" vid="{AA9F9857-78CF-4B9F-B020-64C60EB5DBE4}"/>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d14c050f-9054-4904-b6aa-0409f5b4e18f">
      <Terms xmlns="http://schemas.microsoft.com/office/infopath/2007/PartnerControls"/>
    </lcf76f155ced4ddcb4097134ff3c332f>
    <TaxCatchAll xmlns="30d15d4e-f454-4b92-8875-408134dc12c6"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DC9725B309581840A0A100831E684272" ma:contentTypeVersion="20" ma:contentTypeDescription="Create a new document." ma:contentTypeScope="" ma:versionID="27caaa922bf644da1ac0edb9850b251b">
  <xsd:schema xmlns:xsd="http://www.w3.org/2001/XMLSchema" xmlns:xs="http://www.w3.org/2001/XMLSchema" xmlns:p="http://schemas.microsoft.com/office/2006/metadata/properties" xmlns:ns2="d14c050f-9054-4904-b6aa-0409f5b4e18f" xmlns:ns3="30d15d4e-f454-4b92-8875-408134dc12c6" targetNamespace="http://schemas.microsoft.com/office/2006/metadata/properties" ma:root="true" ma:fieldsID="09138be5e88f50bb9190cdd3e4074cd5" ns2:_="" ns3:_="">
    <xsd:import namespace="d14c050f-9054-4904-b6aa-0409f5b4e18f"/>
    <xsd:import namespace="30d15d4e-f454-4b92-8875-408134dc12c6"/>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LengthInSeconds" minOccurs="0"/>
                <xsd:element ref="ns3:TaxCatchAll" minOccurs="0"/>
                <xsd:element ref="ns2:MediaServiceGenerationTime" minOccurs="0"/>
                <xsd:element ref="ns2:MediaServiceEventHashCode" minOccurs="0"/>
                <xsd:element ref="ns2:lcf76f155ced4ddcb4097134ff3c332f" minOccurs="0"/>
                <xsd:element ref="ns2:MediaServiceOCR" minOccurs="0"/>
                <xsd:element ref="ns2:MediaServiceLocation" minOccurs="0"/>
                <xsd:element ref="ns2:MediaServiceObjectDetectorVersions" minOccurs="0"/>
                <xsd:element ref="ns3:SharedWithUsers" minOccurs="0"/>
                <xsd:element ref="ns3:SharedWithDetail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14c050f-9054-4904-b6aa-0409f5b4e18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lcf76f155ced4ddcb4097134ff3c332f" ma:index="18" nillable="true" ma:taxonomy="true" ma:internalName="lcf76f155ced4ddcb4097134ff3c332f" ma:taxonomyFieldName="MediaServiceImageTags" ma:displayName="Image Tags" ma:readOnly="false" ma:fieldId="{5cf76f15-5ced-4ddc-b409-7134ff3c332f}" ma:taxonomyMulti="true" ma:sspId="84f06319-ea36-4de0-a4ff-0b283733ffbe"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0" nillable="true" ma:displayName="Location" ma:indexed="true" ma:internalName="MediaServiceLocation" ma:readOnly="true">
      <xsd:simpleType>
        <xsd:restriction base="dms:Text"/>
      </xsd:simple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BillingMetadata" ma:index="25"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0d15d4e-f454-4b92-8875-408134dc12c6"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30bd52f1-f66a-499f-9159-e87069d78626}" ma:internalName="TaxCatchAll" ma:showField="CatchAllData" ma:web="30d15d4e-f454-4b92-8875-408134dc12c6">
      <xsd:complexType>
        <xsd:complexContent>
          <xsd:extension base="dms:MultiChoiceLookup">
            <xsd:sequence>
              <xsd:element name="Value" type="dms:Lookup" maxOccurs="unbounded" minOccurs="0" nillable="true"/>
            </xsd:sequence>
          </xsd:extension>
        </xsd:complexContent>
      </xsd:complexType>
    </xsd:element>
    <xsd:element name="SharedWithUsers" ma:index="2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34FCD18-CF1F-49EB-83DE-4BD8ABBA53DE}">
  <ds:schemaRefs>
    <ds:schemaRef ds:uri="http://schemas.microsoft.com/office/2006/metadata/properties"/>
    <ds:schemaRef ds:uri="http://schemas.microsoft.com/office/infopath/2007/PartnerControls"/>
    <ds:schemaRef ds:uri="d14c050f-9054-4904-b6aa-0409f5b4e18f"/>
    <ds:schemaRef ds:uri="30d15d4e-f454-4b92-8875-408134dc12c6"/>
  </ds:schemaRefs>
</ds:datastoreItem>
</file>

<file path=customXml/itemProps2.xml><?xml version="1.0" encoding="utf-8"?>
<ds:datastoreItem xmlns:ds="http://schemas.openxmlformats.org/officeDocument/2006/customXml" ds:itemID="{4223B997-459F-4F07-80F9-0B92B3A8E13B}">
  <ds:schemaRefs>
    <ds:schemaRef ds:uri="http://schemas.microsoft.com/sharepoint/v3/contenttype/forms"/>
  </ds:schemaRefs>
</ds:datastoreItem>
</file>

<file path=customXml/itemProps3.xml><?xml version="1.0" encoding="utf-8"?>
<ds:datastoreItem xmlns:ds="http://schemas.openxmlformats.org/officeDocument/2006/customXml" ds:itemID="{624C3F88-6D58-423A-84ED-4469C477BA2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14c050f-9054-4904-b6aa-0409f5b4e18f"/>
    <ds:schemaRef ds:uri="30d15d4e-f454-4b92-8875-408134dc12c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2236</TotalTime>
  <Words>375</Words>
  <Application>Microsoft Office PowerPoint</Application>
  <PresentationFormat>Widescreen</PresentationFormat>
  <Paragraphs>88</Paragraphs>
  <Slides>9</Slides>
  <Notes>5</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9</vt:i4>
      </vt:variant>
    </vt:vector>
  </HeadingPairs>
  <TitlesOfParts>
    <vt:vector size="20" baseType="lpstr">
      <vt:lpstr>Aptos</vt:lpstr>
      <vt:lpstr>Arial</vt:lpstr>
      <vt:lpstr>Calibri</vt:lpstr>
      <vt:lpstr>Playfair Display</vt:lpstr>
      <vt:lpstr>Source Sans Pro</vt:lpstr>
      <vt:lpstr>Source Sans Pro Light</vt:lpstr>
      <vt:lpstr>Source Sans Pro Semibold</vt:lpstr>
      <vt:lpstr>Source Sans Pro Semibold</vt:lpstr>
      <vt:lpstr>Wingdings</vt:lpstr>
      <vt:lpstr>1_Office Theme</vt:lpstr>
      <vt:lpstr>Closing Slide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Nick Kokat</dc:creator>
  <cp:lastModifiedBy>Nick Kokat</cp:lastModifiedBy>
  <cp:revision>4</cp:revision>
  <dcterms:created xsi:type="dcterms:W3CDTF">2025-04-17T14:49:04Z</dcterms:created>
  <dcterms:modified xsi:type="dcterms:W3CDTF">2026-08-19T21:27:53Z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0x010100DC9725B309581840A0A100831E684272</vt:lpwstr>
  </property>
  <property fmtid="{D5CDD505-2E9C-101B-9397-08002B2CF9AE}" pid="3" name="MediaServiceImageTags">
    <vt:lpwstr/>
  </property>
</Properties>
</file>