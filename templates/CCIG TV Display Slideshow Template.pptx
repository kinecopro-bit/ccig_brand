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Playfair Display"/>
      <p:regular r:id="rId100"/>
      <p:italic r:id="rId101"/>
    </p:embeddedFont>
    <p:embeddedFont>
      <p:font typeface="Source Sans Pro"/>
      <p:regular r:id="rId102"/>
      <p:bold r:id="rId103"/>
      <p:italic r:id="rId104"/>
      <p:boldItalic r:id="rId105"/>
    </p:embeddedFont>
    <p:embeddedFont>
      <p:font typeface="Source Sans Pro Semibold"/>
      <p:regular r:id="rId106"/>
      <p:italic r:id="rId10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00" Type="http://schemas.openxmlformats.org/officeDocument/2006/relationships/font" Target="fonts/font1.fntdata"/><Relationship Id="rId101" Type="http://schemas.openxmlformats.org/officeDocument/2006/relationships/font" Target="fonts/font2.fntdata"/><Relationship Id="rId102" Type="http://schemas.openxmlformats.org/officeDocument/2006/relationships/font" Target="fonts/font3.fntdata"/><Relationship Id="rId103" Type="http://schemas.openxmlformats.org/officeDocument/2006/relationships/font" Target="fonts/font4.fntdata"/><Relationship Id="rId104" Type="http://schemas.openxmlformats.org/officeDocument/2006/relationships/font" Target="fonts/font5.fntdata"/><Relationship Id="rId105" Type="http://schemas.openxmlformats.org/officeDocument/2006/relationships/font" Target="fonts/font6.fntdata"/><Relationship Id="rId106" Type="http://schemas.openxmlformats.org/officeDocument/2006/relationships/font" Target="fonts/font7.fntdata"/><Relationship Id="rId107" Type="http://schemas.openxmlformats.org/officeDocument/2006/relationships/font" Target="fonts/font8.fntdata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Goal</c:v>
                </c:pt>
              </c:strCache>
            </c:strRef>
          </c:tx>
          <c:spPr>
            <a:solidFill>
              <a:srgbClr val="BFC7CB"/>
            </a:solidFill>
            <a:ln w="38100" cap="flat">
              <a:solidFill>
                <a:srgbClr val="BFC7C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BFC7CB"/>
              </a:solidFill>
              <a:ln w="9525" cap="flat">
                <a:solidFill>
                  <a:srgbClr val="BFC7C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8</c:v>
                </c:pt>
                <c:pt idx="1">
                  <c:v>17</c:v>
                </c:pt>
                <c:pt idx="2">
                  <c:v>25</c:v>
                </c:pt>
                <c:pt idx="3">
                  <c:v>33</c:v>
                </c:pt>
                <c:pt idx="4">
                  <c:v>42</c:v>
                </c:pt>
                <c:pt idx="5">
                  <c:v>50</c:v>
                </c:pt>
                <c:pt idx="6">
                  <c:v>58</c:v>
                </c:pt>
                <c:pt idx="7">
                  <c:v>67</c:v>
                </c:pt>
                <c:pt idx="8">
                  <c:v>75</c:v>
                </c:pt>
                <c:pt idx="9">
                  <c:v>83</c:v>
                </c:pt>
                <c:pt idx="10">
                  <c:v>92</c:v>
                </c:pt>
                <c:pt idx="11">
                  <c:v>100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8FB24E"/>
            </a:solidFill>
            <a:ln w="38100" cap="flat">
              <a:solidFill>
                <a:srgbClr val="8FB24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8FB24E"/>
              </a:solidFill>
              <a:ln w="9525" cap="flat">
                <a:solidFill>
                  <a:srgbClr val="8FB24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</c:v>
                </c:pt>
                <c:pt idx="1">
                  <c:v>6</c:v>
                </c:pt>
                <c:pt idx="2">
                  <c:v>15</c:v>
                </c:pt>
                <c:pt idx="3">
                  <c:v>24</c:v>
                </c:pt>
                <c:pt idx="4">
                  <c:v>31</c:v>
                </c:pt>
                <c:pt idx="5">
                  <c:v>38</c:v>
                </c:pt>
                <c:pt idx="6">
                  <c:v>50</c:v>
                </c:pt>
                <c:pt idx="7">
                  <c:v>60</c:v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366E8E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BFC7CB"/>
                </a:solidFill>
                <a:latin typeface="Source Sans Pr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366E8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366E8E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BFC7CB"/>
                </a:solidFill>
                <a:latin typeface="Source Sans Pr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EDECED"/>
              </a:solidFill>
              <a:latin typeface="Source Sans Pro"/>
              <a:cs typeface="Source Sans Pro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LAYOUT: Cover.
Edit: swap [Month Year] for the current cycle. This is the first slide of every rotation — keep the subtitle short (one line).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LAYOUT: Section Divider.
Use between topic groups (e.g. before 'Wins &amp; Recognition' or 'Around the Office'). Keep the title to 2-4 words. Use sparingly — one or two per rotation is plenty.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LAYOUT: Announcement.
Use for news, welcomes, farewells, and updates. Swap the placeholder box on the right for a real photo (Insert &gt; Pictures, then resize to match). If there's no photo, delete the box and widen the text column to fill the space instead of leaving it empty.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LAYOUT: Recognition Grid.
Works for President's Club, new hires, anniversaries, or team wins. Ships with 4 cards — copy/paste a photo+name+detail group to add more, or delete a group (all three pieces) if you have fewer. Keep card widths equal by nudging with arrow keys, not free-dragging.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LAYOUT: Leaderboard.
Use for challenge results, contests, or any ranked list. Ships with 5 rows — copy/paste a row group (badge + name + result) to add more, matching the rowH spacing. First three badges use Yellow/Grey/Light Blue for 1st-3rd; later rows default to Light Blue.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LAYOUT: Upcoming Events.
Ships with 3 rows — copy/paste a row group to add more (fits up to ~4 comfortably at this size). Keep event names short; long titles will wrap and crowd the row below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LAYOUT: Data / KPI Chart.
Double-click the chart to edit data in the linked sheet — colors and fonts are pre-set and will hold. Update the stat card on the right to match whatever number you want to headline. Swap chart type (bar, etc.) via Chart Design if a metric fits better as columns; keep the same two brand colors (Grey = goal/baseline, Green = actual).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LAYOUT: Full Photo Feature.
Use for a single strong photo moment (events, office life, groups). Replace the placeholder with a photo cropped to fill the full top area — the solid caption band at the bottom stays legible no matter what the photo looks like, so don't switch it to a gradient-over-photo overlay.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LAYOUT: Quote / Culture Spotlight.
Use for values callouts, a leadership quote, or a culture moment. Keep the quote to one or two sentences so it stays large and readable from across the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documentation, not display content. In PowerPoint: right-click the slide thumbnail &gt; Hide Slide (or delete it) before running the TV loop.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Slide-7-image-1.png"/><Relationship Id="rId3" Type="http://schemas.openxmlformats.org/officeDocument/2006/relationships/image" Target="../media/image-7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331720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200" kern="0" dirty="0">
                <a:solidFill>
                  <a:srgbClr val="FFC666"/>
                </a:solidFill>
                <a:latin typeface="Source Sans Pro Semibold" pitchFamily="34" charset="0"/>
                <a:ea typeface="Source Sans Pro Semibold" pitchFamily="34" charset="-122"/>
                <a:cs typeface="Source Sans Pro Semibold" pitchFamily="34" charset="-120"/>
              </a:rPr>
              <a:t>CCIG NEWS &amp; UPDATES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0" y="2651760"/>
            <a:ext cx="121916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0" i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[Month Year] Update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5592928" y="3822192"/>
            <a:ext cx="1005840" cy="36576"/>
          </a:xfrm>
          <a:prstGeom prst="rect">
            <a:avLst/>
          </a:prstGeom>
          <a:solidFill>
            <a:srgbClr val="8FB24E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402336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FC7CB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 monthly look at what's happening across CCIG</a:t>
            </a:r>
            <a:endParaRPr lang="en-US" sz="1800" dirty="0"/>
          </a:p>
        </p:txBody>
      </p:sp>
      <p:pic>
        <p:nvPicPr>
          <p:cNvPr id="6" name="Image 0" descr="/tmp/claude-0/-home-user-CCIG-Brand/58ba04e9-89ff-5433-9706-f645b4ad3f46/scratchpad/tv-template/assets/logo_rever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3167" y="5911139"/>
            <a:ext cx="1371600" cy="37993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8FB2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69748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300" kern="0" dirty="0">
                <a:solidFill>
                  <a:srgbClr val="153243"/>
                </a:solidFill>
                <a:latin typeface="Source Sans Pro Semibold" pitchFamily="34" charset="0"/>
                <a:ea typeface="Source Sans Pro Semibold" pitchFamily="34" charset="-122"/>
                <a:cs typeface="Source Sans Pro Semibold" pitchFamily="34" charset="-120"/>
              </a:rPr>
              <a:t>SECTION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3017520"/>
            <a:ext cx="1072865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i="1" dirty="0">
                <a:solidFill>
                  <a:srgbClr val="15324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[Section Title]</a:t>
            </a:r>
            <a:endParaRPr lang="en-US" sz="5400" dirty="0"/>
          </a:p>
        </p:txBody>
      </p:sp>
      <p:pic>
        <p:nvPicPr>
          <p:cNvPr id="4" name="Image 0" descr="/tmp/claude-0/-home-user-CCIG-Brand/58ba04e9-89ff-5433-9706-f645b4ad3f46/scratchpad/tv-template/assets/logo_dark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3167" y="5911139"/>
            <a:ext cx="1371600" cy="37993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30352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i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[Announcement Headline]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66928" y="1316736"/>
            <a:ext cx="777240" cy="32004"/>
          </a:xfrm>
          <a:prstGeom prst="rect">
            <a:avLst/>
          </a:prstGeom>
          <a:solidFill>
            <a:srgbClr val="8FB24E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600200"/>
            <a:ext cx="62636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spcAft>
                <a:spcPts val="1400"/>
              </a:spcAft>
              <a:buNone/>
            </a:pPr>
            <a:r>
              <a:rPr lang="en-US" sz="1900" dirty="0">
                <a:solidFill>
                  <a:srgbClr val="EDECED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Lead with one sentence of context, then use this space for the full story. Keep paragraphs short — three to four sentences reads comfortably from across the room.</a:t>
            </a:r>
            <a:endParaRPr lang="en-US" sz="19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900" dirty="0">
                <a:solidFill>
                  <a:srgbClr val="EDECED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Add a second paragraph for additional detail, a quote, or a call to action. Replace this placeholder copy with the real update.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8104327" y="1600200"/>
            <a:ext cx="3520440" cy="4343400"/>
          </a:xfrm>
          <a:prstGeom prst="roundRect">
            <a:avLst>
              <a:gd name="adj" fmla="val 2078"/>
            </a:avLst>
          </a:prstGeom>
          <a:solidFill>
            <a:srgbClr val="366E8E">
              <a:alpha val="22000"/>
            </a:srgbClr>
          </a:solidFill>
          <a:ln w="15875">
            <a:solidFill>
              <a:srgbClr val="BFC7CB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9480499" y="3296412"/>
            <a:ext cx="768096" cy="512064"/>
          </a:xfrm>
          <a:prstGeom prst="roundRect">
            <a:avLst>
              <a:gd name="adj" fmla="val 10714"/>
            </a:avLst>
          </a:prstGeom>
          <a:solidFill>
            <a:srgbClr val="FFFFFF">
              <a:alpha val="30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718243" y="3396996"/>
            <a:ext cx="292608" cy="292608"/>
          </a:xfrm>
          <a:prstGeom prst="ellipse">
            <a:avLst/>
          </a:prstGeom>
          <a:solidFill>
            <a:srgbClr val="153243">
              <a:alpha val="60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04327" y="3826764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150" kern="0" dirty="0">
                <a:solidFill>
                  <a:srgbClr val="FFFFFF"/>
                </a:solidFill>
                <a:latin typeface="Source Sans Pro Semibold" pitchFamily="34" charset="0"/>
                <a:ea typeface="Source Sans Pro Semibold" pitchFamily="34" charset="-122"/>
                <a:cs typeface="Source Sans Pro Semibold" pitchFamily="34" charset="-120"/>
              </a:rPr>
              <a:t>ADD PHOTO</a:t>
            </a:r>
            <a:endParaRPr lang="en-US" sz="1200" dirty="0"/>
          </a:p>
        </p:txBody>
      </p:sp>
      <p:pic>
        <p:nvPicPr>
          <p:cNvPr id="9" name="Image 0" descr="/tmp/claude-0/-home-user-CCIG-Brand/58ba04e9-89ff-5433-9706-f645b4ad3f46/scratchpad/tv-template/assets/logo_rever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3167" y="5911139"/>
            <a:ext cx="1371600" cy="37993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30352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i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[Recognition Title]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66928" y="1316736"/>
            <a:ext cx="777240" cy="32004"/>
          </a:xfrm>
          <a:prstGeom prst="rect">
            <a:avLst/>
          </a:prstGeom>
          <a:solidFill>
            <a:srgbClr val="8FB24E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481328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FC7CB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[One line describing what's being recognized]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66928" y="2148840"/>
            <a:ext cx="2476424" cy="2476424"/>
          </a:xfrm>
          <a:prstGeom prst="roundRect">
            <a:avLst>
              <a:gd name="adj" fmla="val 2954"/>
            </a:avLst>
          </a:prstGeom>
          <a:solidFill>
            <a:srgbClr val="366E8E">
              <a:alpha val="22000"/>
            </a:srgbClr>
          </a:solidFill>
          <a:ln w="15875">
            <a:solidFill>
              <a:srgbClr val="BFC7CB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1421092" y="2911564"/>
            <a:ext cx="768096" cy="512064"/>
          </a:xfrm>
          <a:prstGeom prst="roundRect">
            <a:avLst>
              <a:gd name="adj" fmla="val 10714"/>
            </a:avLst>
          </a:prstGeom>
          <a:solidFill>
            <a:srgbClr val="FFFFFF">
              <a:alpha val="30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58836" y="3012148"/>
            <a:ext cx="292608" cy="292608"/>
          </a:xfrm>
          <a:prstGeom prst="ellipse">
            <a:avLst/>
          </a:prstGeom>
          <a:solidFill>
            <a:srgbClr val="153243">
              <a:alpha val="60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3441916"/>
            <a:ext cx="2476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150" kern="0" dirty="0">
                <a:solidFill>
                  <a:srgbClr val="FFFFFF"/>
                </a:solidFill>
                <a:latin typeface="Source Sans Pro Semibold" pitchFamily="34" charset="0"/>
                <a:ea typeface="Source Sans Pro Semibold" pitchFamily="34" charset="-122"/>
                <a:cs typeface="Source Sans Pro Semibold" pitchFamily="34" charset="-120"/>
              </a:rPr>
              <a:t>PHOTO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4771568"/>
            <a:ext cx="2476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ource Sans Pro Semibold" pitchFamily="34" charset="0"/>
                <a:ea typeface="Source Sans Pro Semibold" pitchFamily="34" charset="-122"/>
                <a:cs typeface="Source Sans Pro Semibold" pitchFamily="34" charset="-120"/>
              </a:rPr>
              <a:t>[Name 1]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66928" y="5119040"/>
            <a:ext cx="2476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C66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[Detail / stat]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27400" y="2148840"/>
            <a:ext cx="2476424" cy="2476424"/>
          </a:xfrm>
          <a:prstGeom prst="roundRect">
            <a:avLst>
              <a:gd name="adj" fmla="val 2954"/>
            </a:avLst>
          </a:prstGeom>
          <a:solidFill>
            <a:srgbClr val="366E8E">
              <a:alpha val="22000"/>
            </a:srgbClr>
          </a:solidFill>
          <a:ln w="15875">
            <a:solidFill>
              <a:srgbClr val="BFC7CB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4281564" y="2911564"/>
            <a:ext cx="768096" cy="512064"/>
          </a:xfrm>
          <a:prstGeom prst="roundRect">
            <a:avLst>
              <a:gd name="adj" fmla="val 10714"/>
            </a:avLst>
          </a:prstGeom>
          <a:solidFill>
            <a:srgbClr val="FFFFFF">
              <a:alpha val="30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19308" y="3012148"/>
            <a:ext cx="292608" cy="292608"/>
          </a:xfrm>
          <a:prstGeom prst="ellipse">
            <a:avLst/>
          </a:prstGeom>
          <a:solidFill>
            <a:srgbClr val="153243">
              <a:alpha val="60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27400" y="3441916"/>
            <a:ext cx="2476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150" kern="0" dirty="0">
                <a:solidFill>
                  <a:srgbClr val="FFFFFF"/>
                </a:solidFill>
                <a:latin typeface="Source Sans Pro Semibold" pitchFamily="34" charset="0"/>
                <a:ea typeface="Source Sans Pro Semibold" pitchFamily="34" charset="-122"/>
                <a:cs typeface="Source Sans Pro Semibold" pitchFamily="34" charset="-120"/>
              </a:rPr>
              <a:t>PHOTO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27400" y="4771568"/>
            <a:ext cx="2476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ource Sans Pro Semibold" pitchFamily="34" charset="0"/>
                <a:ea typeface="Source Sans Pro Semibold" pitchFamily="34" charset="-122"/>
                <a:cs typeface="Source Sans Pro Semibold" pitchFamily="34" charset="-120"/>
              </a:rPr>
              <a:t>[Name 2]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427400" y="5119040"/>
            <a:ext cx="2476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C66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[Detail / stat]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87872" y="2148840"/>
            <a:ext cx="2476424" cy="2476424"/>
          </a:xfrm>
          <a:prstGeom prst="roundRect">
            <a:avLst>
              <a:gd name="adj" fmla="val 2954"/>
            </a:avLst>
          </a:prstGeom>
          <a:solidFill>
            <a:srgbClr val="366E8E">
              <a:alpha val="22000"/>
            </a:srgbClr>
          </a:solidFill>
          <a:ln w="15875">
            <a:solidFill>
              <a:srgbClr val="BFC7CB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7142036" y="2911564"/>
            <a:ext cx="768096" cy="512064"/>
          </a:xfrm>
          <a:prstGeom prst="roundRect">
            <a:avLst>
              <a:gd name="adj" fmla="val 10714"/>
            </a:avLst>
          </a:prstGeom>
          <a:solidFill>
            <a:srgbClr val="FFFFFF">
              <a:alpha val="30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79780" y="3012148"/>
            <a:ext cx="292608" cy="292608"/>
          </a:xfrm>
          <a:prstGeom prst="ellipse">
            <a:avLst/>
          </a:prstGeom>
          <a:solidFill>
            <a:srgbClr val="153243">
              <a:alpha val="60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87872" y="3441916"/>
            <a:ext cx="2476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150" kern="0" dirty="0">
                <a:solidFill>
                  <a:srgbClr val="FFFFFF"/>
                </a:solidFill>
                <a:latin typeface="Source Sans Pro Semibold" pitchFamily="34" charset="0"/>
                <a:ea typeface="Source Sans Pro Semibold" pitchFamily="34" charset="-122"/>
                <a:cs typeface="Source Sans Pro Semibold" pitchFamily="34" charset="-120"/>
              </a:rPr>
              <a:t>PHOTO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87872" y="4771568"/>
            <a:ext cx="2476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ource Sans Pro Semibold" pitchFamily="34" charset="0"/>
                <a:ea typeface="Source Sans Pro Semibold" pitchFamily="34" charset="-122"/>
                <a:cs typeface="Source Sans Pro Semibold" pitchFamily="34" charset="-120"/>
              </a:rPr>
              <a:t>[Name 3]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287872" y="5119040"/>
            <a:ext cx="2476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C66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[Detail / stat]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148343" y="2148840"/>
            <a:ext cx="2476424" cy="2476424"/>
          </a:xfrm>
          <a:prstGeom prst="roundRect">
            <a:avLst>
              <a:gd name="adj" fmla="val 2954"/>
            </a:avLst>
          </a:prstGeom>
          <a:solidFill>
            <a:srgbClr val="366E8E">
              <a:alpha val="22000"/>
            </a:srgbClr>
          </a:solidFill>
          <a:ln w="15875">
            <a:solidFill>
              <a:srgbClr val="BFC7CB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10002507" y="2911564"/>
            <a:ext cx="768096" cy="512064"/>
          </a:xfrm>
          <a:prstGeom prst="roundRect">
            <a:avLst>
              <a:gd name="adj" fmla="val 10714"/>
            </a:avLst>
          </a:prstGeom>
          <a:solidFill>
            <a:srgbClr val="FFFFFF">
              <a:alpha val="30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240251" y="3012148"/>
            <a:ext cx="292608" cy="292608"/>
          </a:xfrm>
          <a:prstGeom prst="ellipse">
            <a:avLst/>
          </a:prstGeom>
          <a:solidFill>
            <a:srgbClr val="153243">
              <a:alpha val="60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8343" y="3441916"/>
            <a:ext cx="2476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150" kern="0" dirty="0">
                <a:solidFill>
                  <a:srgbClr val="FFFFFF"/>
                </a:solidFill>
                <a:latin typeface="Source Sans Pro Semibold" pitchFamily="34" charset="0"/>
                <a:ea typeface="Source Sans Pro Semibold" pitchFamily="34" charset="-122"/>
                <a:cs typeface="Source Sans Pro Semibold" pitchFamily="34" charset="-120"/>
              </a:rPr>
              <a:t>PHOTO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148343" y="4771568"/>
            <a:ext cx="2476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ource Sans Pro Semibold" pitchFamily="34" charset="0"/>
                <a:ea typeface="Source Sans Pro Semibold" pitchFamily="34" charset="-122"/>
                <a:cs typeface="Source Sans Pro Semibold" pitchFamily="34" charset="-120"/>
              </a:rPr>
              <a:t>[Name 4]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148343" y="5119040"/>
            <a:ext cx="2476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C66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[Detail / stat]</a:t>
            </a:r>
            <a:endParaRPr lang="en-US" sz="1300" dirty="0"/>
          </a:p>
        </p:txBody>
      </p:sp>
      <p:pic>
        <p:nvPicPr>
          <p:cNvPr id="29" name="Image 0" descr="/tmp/claude-0/-home-user-CCIG-Brand/58ba04e9-89ff-5433-9706-f645b4ad3f46/scratchpad/tv-template/assets/logo_rever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3167" y="5911139"/>
            <a:ext cx="1371600" cy="37993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30352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i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[Challenge / Results Title]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66928" y="1316736"/>
            <a:ext cx="777240" cy="32004"/>
          </a:xfrm>
          <a:prstGeom prst="rect">
            <a:avLst/>
          </a:prstGeom>
          <a:solidFill>
            <a:srgbClr val="8FB24E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481328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FC7CB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Add one to two sentences of context for the results below — what the challenge was and why it mattered.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66928" y="2386584"/>
            <a:ext cx="457200" cy="457200"/>
          </a:xfrm>
          <a:prstGeom prst="ellipse">
            <a:avLst/>
          </a:prstGeom>
          <a:solidFill>
            <a:srgbClr val="FFC666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3865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53243"/>
                </a:solidFill>
                <a:latin typeface="Source Sans Pro Semibold" pitchFamily="34" charset="0"/>
                <a:ea typeface="Source Sans Pro Semibold" pitchFamily="34" charset="-122"/>
                <a:cs typeface="Source Sans Pro Semibold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52728" y="2331720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[Team / Person 1]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698687" y="233172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C66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[Result]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66928" y="2907792"/>
            <a:ext cx="11057839" cy="0"/>
          </a:xfrm>
          <a:prstGeom prst="line">
            <a:avLst/>
          </a:prstGeom>
          <a:noFill/>
          <a:ln w="9525">
            <a:solidFill>
              <a:srgbClr val="366E8E">
                <a:alpha val="6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" y="2990088"/>
            <a:ext cx="457200" cy="457200"/>
          </a:xfrm>
          <a:prstGeom prst="ellipse">
            <a:avLst/>
          </a:prstGeom>
          <a:solidFill>
            <a:srgbClr val="BFC7CB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2990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53243"/>
                </a:solidFill>
                <a:latin typeface="Source Sans Pro Semibold" pitchFamily="34" charset="0"/>
                <a:ea typeface="Source Sans Pro Semibold" pitchFamily="34" charset="-122"/>
                <a:cs typeface="Source Sans Pro Semibold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52728" y="2935224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[Team / Person 2]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698687" y="2935224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C66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[Result]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66928" y="3511296"/>
            <a:ext cx="11057839" cy="0"/>
          </a:xfrm>
          <a:prstGeom prst="line">
            <a:avLst/>
          </a:prstGeom>
          <a:noFill/>
          <a:ln w="9525">
            <a:solidFill>
              <a:srgbClr val="366E8E">
                <a:alpha val="6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6928" y="3593592"/>
            <a:ext cx="457200" cy="457200"/>
          </a:xfrm>
          <a:prstGeom prst="ellipse">
            <a:avLst/>
          </a:prstGeom>
          <a:solidFill>
            <a:srgbClr val="366E8E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3593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53243"/>
                </a:solidFill>
                <a:latin typeface="Source Sans Pro Semibold" pitchFamily="34" charset="0"/>
                <a:ea typeface="Source Sans Pro Semibold" pitchFamily="34" charset="-122"/>
                <a:cs typeface="Source Sans Pro Semibold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52728" y="3538728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[Team / Person 3]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698687" y="353872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C66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[Result]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66928" y="4114800"/>
            <a:ext cx="11057839" cy="0"/>
          </a:xfrm>
          <a:prstGeom prst="line">
            <a:avLst/>
          </a:prstGeom>
          <a:noFill/>
          <a:ln w="9525">
            <a:solidFill>
              <a:srgbClr val="366E8E">
                <a:alpha val="6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6928" y="4197096"/>
            <a:ext cx="457200" cy="457200"/>
          </a:xfrm>
          <a:prstGeom prst="ellipse">
            <a:avLst/>
          </a:prstGeom>
          <a:solidFill>
            <a:srgbClr val="366E8E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4197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53243"/>
                </a:solidFill>
                <a:latin typeface="Source Sans Pro Semibold" pitchFamily="34" charset="0"/>
                <a:ea typeface="Source Sans Pro Semibold" pitchFamily="34" charset="-122"/>
                <a:cs typeface="Source Sans Pro Semibold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52728" y="4142232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[Team / Person 4]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698687" y="4142232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C66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[Result]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566928" y="4718304"/>
            <a:ext cx="11057839" cy="0"/>
          </a:xfrm>
          <a:prstGeom prst="line">
            <a:avLst/>
          </a:prstGeom>
          <a:noFill/>
          <a:ln w="9525">
            <a:solidFill>
              <a:srgbClr val="366E8E">
                <a:alpha val="6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66928" y="4800600"/>
            <a:ext cx="457200" cy="457200"/>
          </a:xfrm>
          <a:prstGeom prst="ellipse">
            <a:avLst/>
          </a:prstGeom>
          <a:solidFill>
            <a:srgbClr val="366E8E"/>
          </a:solidFill>
          <a:ln/>
        </p:spPr>
      </p:sp>
      <p:sp>
        <p:nvSpPr>
          <p:cNvPr id="26" name="Text 24"/>
          <p:cNvSpPr/>
          <p:nvPr/>
        </p:nvSpPr>
        <p:spPr>
          <a:xfrm>
            <a:off x="566928" y="4800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53243"/>
                </a:solidFill>
                <a:latin typeface="Source Sans Pro Semibold" pitchFamily="34" charset="0"/>
                <a:ea typeface="Source Sans Pro Semibold" pitchFamily="34" charset="-122"/>
                <a:cs typeface="Source Sans Pro Semibold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252728" y="4745736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[Team / Person 5]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8698687" y="4745736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C66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[Result]</a:t>
            </a:r>
            <a:endParaRPr lang="en-US" sz="2000" dirty="0"/>
          </a:p>
        </p:txBody>
      </p:sp>
      <p:pic>
        <p:nvPicPr>
          <p:cNvPr id="29" name="Image 0" descr="/tmp/claude-0/-home-user-CCIG-Brand/58ba04e9-89ff-5433-9706-f645b4ad3f46/scratchpad/tv-template/assets/logo_rever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3167" y="5911139"/>
            <a:ext cx="1371600" cy="37993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30352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i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Upcoming Events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66928" y="1316736"/>
            <a:ext cx="777240" cy="32004"/>
          </a:xfrm>
          <a:prstGeom prst="rect">
            <a:avLst/>
          </a:prstGeom>
          <a:solidFill>
            <a:srgbClr val="8FB24E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7830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8FB24E"/>
                </a:solidFill>
                <a:latin typeface="Source Sans Pro Semibold" pitchFamily="34" charset="0"/>
                <a:ea typeface="Source Sans Pro Semibold" pitchFamily="34" charset="-122"/>
                <a:cs typeface="Source Sans Pro Semibold" pitchFamily="34" charset="-120"/>
              </a:rPr>
              <a:t>[DAY]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66928" y="207568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[Mon ##]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66928" y="264261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C7CB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[Time]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401568" y="1947672"/>
            <a:ext cx="822319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DECED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[Event name]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66928" y="2825496"/>
            <a:ext cx="11057839" cy="0"/>
          </a:xfrm>
          <a:prstGeom prst="line">
            <a:avLst/>
          </a:prstGeom>
          <a:noFill/>
          <a:ln w="9525">
            <a:solidFill>
              <a:srgbClr val="366E8E">
                <a:alpha val="6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95351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8FB24E"/>
                </a:solidFill>
                <a:latin typeface="Source Sans Pro Semibold" pitchFamily="34" charset="0"/>
                <a:ea typeface="Source Sans Pro Semibold" pitchFamily="34" charset="-122"/>
                <a:cs typeface="Source Sans Pro Semibold" pitchFamily="34" charset="-120"/>
              </a:rPr>
              <a:t>[DAY]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66928" y="32461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[Mon ##]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66928" y="381304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C7CB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[Time]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01568" y="3118104"/>
            <a:ext cx="822319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DECED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[Event name]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566928" y="3995928"/>
            <a:ext cx="11057839" cy="0"/>
          </a:xfrm>
          <a:prstGeom prst="line">
            <a:avLst/>
          </a:prstGeom>
          <a:noFill/>
          <a:ln w="9525">
            <a:solidFill>
              <a:srgbClr val="366E8E">
                <a:alpha val="6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412394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8FB24E"/>
                </a:solidFill>
                <a:latin typeface="Source Sans Pro Semibold" pitchFamily="34" charset="0"/>
                <a:ea typeface="Source Sans Pro Semibold" pitchFamily="34" charset="-122"/>
                <a:cs typeface="Source Sans Pro Semibold" pitchFamily="34" charset="-120"/>
              </a:rPr>
              <a:t>[DAY]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66928" y="441655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[Mon ##]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66928" y="49834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C7CB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[Time]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401568" y="4288536"/>
            <a:ext cx="822319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DECED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[Event name]</a:t>
            </a:r>
            <a:endParaRPr lang="en-US" sz="2400" dirty="0"/>
          </a:p>
        </p:txBody>
      </p:sp>
      <p:pic>
        <p:nvPicPr>
          <p:cNvPr id="18" name="Image 0" descr="/tmp/claude-0/-home-user-CCIG-Brand/58ba04e9-89ff-5433-9706-f645b4ad3f46/scratchpad/tv-template/assets/logo_rever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3167" y="5911139"/>
            <a:ext cx="1371600" cy="37993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30352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i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[Metric] — Progress to Goal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66928" y="1316736"/>
            <a:ext cx="777240" cy="32004"/>
          </a:xfrm>
          <a:prstGeom prst="rect">
            <a:avLst/>
          </a:prstGeom>
          <a:solidFill>
            <a:srgbClr val="8FB24E"/>
          </a:solidFill>
          <a:ln/>
        </p:spPr>
      </p:sp>
      <p:graphicFrame>
        <p:nvGraphicFramePr>
          <p:cNvPr id="4" name="Chart 0" descr=""/>
          <p:cNvGraphicFramePr/>
          <p:nvPr/>
        </p:nvGraphicFramePr>
        <p:xfrm>
          <a:off x="566928" y="1554480"/>
          <a:ext cx="7772400" cy="4434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Shape 2"/>
          <p:cNvSpPr/>
          <p:nvPr/>
        </p:nvSpPr>
        <p:spPr>
          <a:xfrm>
            <a:off x="8698687" y="1554480"/>
            <a:ext cx="2926080" cy="1828800"/>
          </a:xfrm>
          <a:prstGeom prst="roundRect">
            <a:avLst>
              <a:gd name="adj" fmla="val 5000"/>
            </a:avLst>
          </a:prstGeom>
          <a:solidFill>
            <a:srgbClr val="366E8E">
              <a:alpha val="28000"/>
            </a:srgbClr>
          </a:solidFill>
          <a:ln w="12700">
            <a:solidFill>
              <a:srgbClr val="366E8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98687" y="178308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C66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[60%]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8927287" y="26517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DECED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of annual goal — through [Month]</a:t>
            </a:r>
            <a:endParaRPr lang="en-US" sz="1400" dirty="0"/>
          </a:p>
        </p:txBody>
      </p:sp>
      <p:pic>
        <p:nvPicPr>
          <p:cNvPr id="8" name="Image 0" descr="/tmp/claude-0/-home-user-CCIG-Brand/58ba04e9-89ff-5433-9706-f645b4ad3f46/scratchpad/tv-template/assets/logo_rever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3167" y="5911139"/>
            <a:ext cx="1371600" cy="37993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532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617720"/>
          </a:xfrm>
          <a:prstGeom prst="roundRect">
            <a:avLst>
              <a:gd name="adj" fmla="val 1584"/>
            </a:avLst>
          </a:prstGeom>
          <a:solidFill>
            <a:srgbClr val="366E8E">
              <a:alpha val="22000"/>
            </a:srgbClr>
          </a:solidFill>
          <a:ln w="15875">
            <a:solidFill>
              <a:srgbClr val="BFC7CB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5711800" y="1833372"/>
            <a:ext cx="768096" cy="512064"/>
          </a:xfrm>
          <a:prstGeom prst="roundRect">
            <a:avLst>
              <a:gd name="adj" fmla="val 10714"/>
            </a:avLst>
          </a:prstGeom>
          <a:solidFill>
            <a:srgbClr val="FFFFFF">
              <a:alpha val="30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9544" y="1933956"/>
            <a:ext cx="292608" cy="292608"/>
          </a:xfrm>
          <a:prstGeom prst="ellipse">
            <a:avLst/>
          </a:prstGeom>
          <a:solidFill>
            <a:srgbClr val="153243">
              <a:alpha val="60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2363724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150" kern="0" dirty="0">
                <a:solidFill>
                  <a:srgbClr val="FFFFFF"/>
                </a:solidFill>
                <a:latin typeface="Source Sans Pro Semibold" pitchFamily="34" charset="0"/>
                <a:ea typeface="Source Sans Pro Semibold" pitchFamily="34" charset="-122"/>
                <a:cs typeface="Source Sans Pro Semibold" pitchFamily="34" charset="-120"/>
              </a:rPr>
              <a:t>ADD PHOTO — FULL WIDTH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617720"/>
            <a:ext cx="12191695" cy="2240280"/>
          </a:xfrm>
          <a:prstGeom prst="rect">
            <a:avLst/>
          </a:prstGeom>
          <a:solidFill>
            <a:srgbClr val="153243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4873752"/>
            <a:ext cx="941191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i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[Moment / Caption Headline]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66928" y="5394960"/>
            <a:ext cx="941191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FC7CB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One short line of caption text goes here.</a:t>
            </a:r>
            <a:endParaRPr lang="en-US" sz="1600" dirty="0"/>
          </a:p>
        </p:txBody>
      </p:sp>
      <p:pic>
        <p:nvPicPr>
          <p:cNvPr id="9" name="Image 0" descr="/tmp/claude-0/-home-user-CCIG-Brand/58ba04e9-89ff-5433-9706-f645b4ad3f46/scratchpad/tv-template/assets/logo_rever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3167" y="5911139"/>
            <a:ext cx="1371600" cy="37993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366E8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0160" y="2331720"/>
            <a:ext cx="963137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i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“[Insert a short quote or culture note here.]”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592928" y="4160520"/>
            <a:ext cx="1005840" cy="36576"/>
          </a:xfrm>
          <a:prstGeom prst="rect">
            <a:avLst/>
          </a:prstGeom>
          <a:solidFill>
            <a:srgbClr val="FFC666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429768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DECED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— [Attribution, Title]</a:t>
            </a:r>
            <a:endParaRPr lang="en-US" sz="1600" dirty="0"/>
          </a:p>
        </p:txBody>
      </p:sp>
      <p:pic>
        <p:nvPicPr>
          <p:cNvPr id="5" name="Image 0" descr="/tmp/claude-0/-home-user-CCIG-Brand/58ba04e9-89ff-5433-9706-f645b4ad3f46/scratchpad/tv-template/assets/logo_rever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3167" y="5911139"/>
            <a:ext cx="1371600" cy="37993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53243"/>
                </a:solidFill>
                <a:latin typeface="Source Sans Pro Semibold" pitchFamily="34" charset="0"/>
                <a:ea typeface="Source Sans Pro Semibold" pitchFamily="34" charset="-122"/>
                <a:cs typeface="Source Sans Pro Semibold" pitchFamily="34" charset="-120"/>
              </a:rPr>
              <a:t>Template Guide — remove or hide before presenting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66928" y="1097280"/>
            <a:ext cx="11057839" cy="5303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53243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Slide size is locked to 1920×1080px (16:9) — don't change it in Design &gt; Slide Size.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53243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Keep content inside the margin guide most slides already use; many TVs crop a few % at the edges.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53243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Fonts: Playfair Display (italic) for headlines, Source Sans Pro for everything else. Install the CCIG font pack (typography/fonts/CCIG Fonts.zip in the brand repo) on any machine used to edit or run this deck, or text will silently substitute to a fallback font.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53243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Colors: CCIG Dark Blue background is the default for most slides; Green is reserved for section dividers; Yellow highlights the one number or stat you want noticed; Light Blue is for supporting cards and chart lines.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53243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To add a new slide: duplicate the layout closest to your content (right-click the slide thumbnail &gt; Duplicate Slide) rather than building from a blank slide — this keeps margins, fonts, and logo placement consistent.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53243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Logo stays bottom-right at the same size on every slide — reverse (white) mark on dark backgrounds, dark mark on light/green backgrounds.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53243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Duplicate a photo placeholder box's size/position when you need another photo slot, then Insert &gt; Pictures to replace it.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CCIG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CCIG TV Display Slideshow Template</dc:title>
  <dc:subject>CCIG TV Display Template</dc:subject>
  <dc:creator>CCIG</dc:creator>
  <cp:lastModifiedBy>CCIG</cp:lastModifiedBy>
  <cp:revision>1</cp:revision>
  <dcterms:created xsi:type="dcterms:W3CDTF">2026-09-01T14:18:29Z</dcterms:created>
  <dcterms:modified xsi:type="dcterms:W3CDTF">2026-09-01T14:18:29Z</dcterms:modified>
</cp:coreProperties>
</file>