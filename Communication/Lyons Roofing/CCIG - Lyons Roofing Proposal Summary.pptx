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66" r:id="rId5"/>
  </p:sldMasterIdLst>
  <p:notesMasterIdLst>
    <p:notesMasterId r:id="rId15"/>
  </p:notesMasterIdLst>
  <p:sldIdLst>
    <p:sldId id="260" r:id="rId6"/>
    <p:sldId id="309" r:id="rId7"/>
    <p:sldId id="262" r:id="rId8"/>
    <p:sldId id="333" r:id="rId9"/>
    <p:sldId id="269" r:id="rId10"/>
    <p:sldId id="268" r:id="rId11"/>
    <p:sldId id="334" r:id="rId12"/>
    <p:sldId id="335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139180080730612E-2"/>
          <c:y val="0.16048956634316081"/>
          <c:w val="0.89166863912845251"/>
          <c:h val="0.617359495169997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0.0%</c:formatCode>
                <c:ptCount val="3"/>
                <c:pt idx="0">
                  <c:v>7.3999999999999996E-2</c:v>
                </c:pt>
                <c:pt idx="1">
                  <c:v>7.0000000000000007E-2</c:v>
                </c:pt>
                <c:pt idx="2">
                  <c:v>7.6999999999999999E-2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0-4A88-A74A-619D24DC1E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Sheet1!$C$2:$C$4</c:f>
              <c:numCache>
                <c:formatCode>0.0%</c:formatCode>
                <c:ptCount val="3"/>
                <c:pt idx="0">
                  <c:v>6.8000000000000005E-2</c:v>
                </c:pt>
                <c:pt idx="1">
                  <c:v>7.5999999999999998E-2</c:v>
                </c:pt>
                <c:pt idx="2">
                  <c:v>7.4999999999999997E-2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9A-4CFD-AD4B-67F3B09DDA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E89A-4CFD-AD4B-67F3B09DDA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Sheet1!$D$2:$D$4</c:f>
              <c:numCache>
                <c:formatCode>0.0%</c:formatCode>
                <c:ptCount val="3"/>
                <c:pt idx="0">
                  <c:v>7.9000000000000001E-2</c:v>
                </c:pt>
                <c:pt idx="1">
                  <c:v>7.8E-2</c:v>
                </c:pt>
                <c:pt idx="2">
                  <c:v>8.3000000000000004E-2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9A-4CFD-AD4B-67F3B09DD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4017583"/>
        <c:axId val="324010927"/>
      </c:barChart>
      <c:catAx>
        <c:axId val="32401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0927"/>
        <c:crosses val="autoZero"/>
        <c:auto val="1"/>
        <c:lblAlgn val="ctr"/>
        <c:lblOffset val="100"/>
        <c:noMultiLvlLbl val="0"/>
      </c:catAx>
      <c:valAx>
        <c:axId val="324010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3">
                  <a:lumMod val="50000"/>
                  <a:alpha val="33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7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12165434013278"/>
          <c:y val="0.92910326021723144"/>
          <c:w val="0.16480559358588562"/>
          <c:h val="7.08967397827685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52473-4CCE-426E-ADDC-CB6E6EAC5CD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14C03-8685-4AC7-94E4-F6077D277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9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AB2D1-CDE6-4D39-B626-086A27DF92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96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EB81-0A81-4B64-B569-5C3FFC6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51456-48F2-9745-8F3F-09C7863E4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39249-A229-826A-9B13-8A6A69860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365EF-26BA-5BD7-6AEE-2376C4DD8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 need updated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9759-4BC9-9064-021C-32E55DDD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3E8DB-EAF6-146F-EEF3-E67FD1666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0E0A1-96AD-4D8D-6BD3-06AB9ADE3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3615-DB52-86E2-8618-A5675F864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0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14C03-8685-4AC7-94E4-F6077D2778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4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7FA695-301A-D017-5457-21181DB07D41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23C14C6-1388-88AF-C11C-D78FF338316A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F7BF6-0AA5-9EF5-48DA-31D4B332A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7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57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CB7C7-D8DD-A773-3164-BFA6E3CB95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029" y="6362765"/>
            <a:ext cx="1002589" cy="23791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4A90F-9A4B-3A2A-8DA0-6AD36E25DE83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43426-97A4-BD34-08E3-B74A56AF5D31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>
                    <a:lumMod val="75000"/>
                  </a:schemeClr>
                </a:solidFill>
              </a:rPr>
              <a:pPr/>
              <a:t>‹#›</a:t>
            </a:fld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85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80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3AB19A-BD49-0463-11C4-7C72D26FF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2" y="22859"/>
            <a:ext cx="12192001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278F2D-46CD-FE13-F2E6-B70B959FF2FE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12DDE39C-E745-9882-755B-90550D318E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2" y="3129569"/>
            <a:ext cx="2523625" cy="598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6612E-BB2B-B588-AF43-DEED86FBFB7A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9356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simp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90A3E4-0BDF-56A9-42B7-D1192EDDD891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D9B550F0-F2E9-2A7D-2A5B-F3E8075DC7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4" y="3152428"/>
            <a:ext cx="2523625" cy="598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17FBE-EF74-B466-E154-54F64DC81596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31706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02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F99-F556-88DF-9E08-158FB441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striped building&#10;&#10;AI-generated content may be incorrect.">
            <a:extLst>
              <a:ext uri="{FF2B5EF4-FFF2-40B4-BE49-F238E27FC236}">
                <a16:creationId xmlns:a16="http://schemas.microsoft.com/office/drawing/2014/main" id="{85F1A110-57E8-F1B1-7075-844A296322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83"/>
          <a:stretch/>
        </p:blipFill>
        <p:spPr>
          <a:xfrm>
            <a:off x="4999573" y="0"/>
            <a:ext cx="7192427" cy="6858000"/>
          </a:xfrm>
          <a:prstGeom prst="rect">
            <a:avLst/>
          </a:prstGeom>
        </p:spPr>
      </p:pic>
      <p:pic>
        <p:nvPicPr>
          <p:cNvPr id="16" name="Picture 15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6E01315A-B72B-30EE-DB03-419E41BD38F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3" r="11819"/>
          <a:stretch/>
        </p:blipFill>
        <p:spPr>
          <a:xfrm>
            <a:off x="4993541" y="7794"/>
            <a:ext cx="7198460" cy="685800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BB134071-5F25-FA2B-039B-1DABC5A7B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9A93A9-C703-B2A8-1C9F-EBEFD895A53D}"/>
              </a:ext>
            </a:extLst>
          </p:cNvPr>
          <p:cNvSpPr/>
          <p:nvPr/>
        </p:nvSpPr>
        <p:spPr>
          <a:xfrm rot="946665">
            <a:off x="371378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24634-1D05-DD52-C26C-489F37F8D8A9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V="1">
            <a:off x="4993541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E1BA571-5267-EFA9-F122-1666D2F18055}"/>
              </a:ext>
            </a:extLst>
          </p:cNvPr>
          <p:cNvSpPr txBox="1">
            <a:spLocks/>
          </p:cNvSpPr>
          <p:nvPr/>
        </p:nvSpPr>
        <p:spPr>
          <a:xfrm>
            <a:off x="471269" y="2213487"/>
            <a:ext cx="4522271" cy="1148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Title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A7D42-B016-3ECF-CF94-3DAF34AD0577}"/>
              </a:ext>
            </a:extLst>
          </p:cNvPr>
          <p:cNvCxnSpPr>
            <a:cxnSpLocks/>
          </p:cNvCxnSpPr>
          <p:nvPr/>
        </p:nvCxnSpPr>
        <p:spPr>
          <a:xfrm>
            <a:off x="384048" y="3434937"/>
            <a:ext cx="440740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321E56E-8D04-22EF-BD7F-C0297118F345}"/>
              </a:ext>
            </a:extLst>
          </p:cNvPr>
          <p:cNvSpPr txBox="1">
            <a:spLocks/>
          </p:cNvSpPr>
          <p:nvPr/>
        </p:nvSpPr>
        <p:spPr>
          <a:xfrm>
            <a:off x="388058" y="6210545"/>
            <a:ext cx="2630487" cy="323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FFC666"/>
                </a:solidFill>
                <a:latin typeface="Source Sans Pro"/>
              </a:rPr>
              <a:t>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666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D50F0-AF92-9CA5-2FF3-AED800F5EE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269" y="4107405"/>
            <a:ext cx="1263788" cy="1263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8BC079-D598-CBCE-04F7-3DDDA69AFF39}"/>
              </a:ext>
            </a:extLst>
          </p:cNvPr>
          <p:cNvSpPr txBox="1"/>
          <p:nvPr/>
        </p:nvSpPr>
        <p:spPr>
          <a:xfrm>
            <a:off x="384048" y="3614057"/>
            <a:ext cx="178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Presenter: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37B57AF-009E-41E6-1AA2-ADDC2BEC5AE3}"/>
              </a:ext>
            </a:extLst>
          </p:cNvPr>
          <p:cNvSpPr txBox="1">
            <a:spLocks/>
          </p:cNvSpPr>
          <p:nvPr/>
        </p:nvSpPr>
        <p:spPr>
          <a:xfrm>
            <a:off x="1951270" y="4139134"/>
            <a:ext cx="2719053" cy="120032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5000"/>
              <a:buFont typeface="Wingdings" panose="05000000000000000000" pitchFamily="2" charset="2"/>
              <a:buNone/>
              <a:defRPr sz="65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  <a:latin typeface="Source Sans Pro Semibold" charset="0"/>
                <a:ea typeface="Source Sans Pro Semibold" charset="0"/>
                <a:cs typeface="Source Sans Pro Semibold" charset="0"/>
              </a:rPr>
              <a:t>Name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i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Title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email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Phone</a:t>
            </a:r>
          </a:p>
        </p:txBody>
      </p:sp>
    </p:spTree>
    <p:extLst>
      <p:ext uri="{BB962C8B-B14F-4D97-AF65-F5344CB8AC3E}">
        <p14:creationId xmlns:p14="http://schemas.microsoft.com/office/powerpoint/2010/main" val="245859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F80C-DB2D-67E1-63BC-33C83581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3353E-8F67-B637-4B22-3D3250AABE67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About CCIG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2A3267-E78D-6FB0-BFEB-0CD8CF1CC60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7484146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C2B4BCC-53A5-898A-7288-30383C0E93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3" t="-50" r="48813" b="50"/>
          <a:stretch/>
        </p:blipFill>
        <p:spPr>
          <a:xfrm>
            <a:off x="8447314" y="-3449"/>
            <a:ext cx="3744686" cy="68614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5D50EE-4D12-3E21-CCAE-618760B3F40D}"/>
              </a:ext>
            </a:extLst>
          </p:cNvPr>
          <p:cNvCxnSpPr/>
          <p:nvPr/>
        </p:nvCxnSpPr>
        <p:spPr>
          <a:xfrm>
            <a:off x="8447314" y="0"/>
            <a:ext cx="0" cy="6858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46C6CCD-0A94-7F24-5F0C-11B0D524DAB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EBE5F281-1022-38EB-8522-31F4D1B9C7CC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2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01E035-315A-6A7A-62CE-5387BF812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  <p:sp>
        <p:nvSpPr>
          <p:cNvPr id="17" name="Text - CCIG introduction">
            <a:extLst>
              <a:ext uri="{FF2B5EF4-FFF2-40B4-BE49-F238E27FC236}">
                <a16:creationId xmlns:a16="http://schemas.microsoft.com/office/drawing/2014/main" id="{900EB3FA-6000-A036-7950-9F94DACAF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690975"/>
            <a:ext cx="3728242" cy="173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50000"/>
              </a:lnSpc>
            </a:pPr>
            <a:r>
              <a:rPr lang="en-US" sz="1000" dirty="0">
                <a:solidFill>
                  <a:srgbClr val="FFFFFF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1985, CCIG has been a fiercely independent, rapidly growing insurance brokerage, delivering comprehensive risk management and insurance solutions to our diverse clientele. With a national presence, we employ over 100 seasoned insurance professionals and operate from our offices in Denver, CO, Austin, TX, and Pheonix, AZ.</a:t>
            </a:r>
            <a:endParaRPr lang="en-US" sz="1000" dirty="0">
              <a:solidFill>
                <a:srgbClr val="153243"/>
              </a:solidFill>
              <a:effectLst/>
              <a:latin typeface="Source Sans Pro Light" panose="020B04030304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- CCIG introduction">
            <a:extLst>
              <a:ext uri="{FF2B5EF4-FFF2-40B4-BE49-F238E27FC236}">
                <a16:creationId xmlns:a16="http://schemas.microsoft.com/office/drawing/2014/main" id="{1318B132-EDAB-B2E5-FB19-9FBBCF588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321447"/>
            <a:ext cx="373946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rgbClr val="8FB24E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CCIG IS A FULL-SERVICE PRIVATE CLIENT, COMMERCIAL LINES, AND EMPLOYEE BENEFITS INSURANCE BROKERAGE.</a:t>
            </a:r>
            <a:endParaRPr lang="en-US" sz="1100" dirty="0">
              <a:solidFill>
                <a:srgbClr val="15324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D1A4D58-83EF-F769-36D0-2C926B6FB9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9" y="1168298"/>
            <a:ext cx="3562350" cy="1731645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9D05C7-D2E7-2766-B31D-BE3875821648}"/>
              </a:ext>
            </a:extLst>
          </p:cNvPr>
          <p:cNvSpPr/>
          <p:nvPr/>
        </p:nvSpPr>
        <p:spPr>
          <a:xfrm>
            <a:off x="963167" y="3159074"/>
            <a:ext cx="2286000" cy="3300184"/>
          </a:xfrm>
          <a:prstGeom prst="roundRect">
            <a:avLst>
              <a:gd name="adj" fmla="val 896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CCIG's Private Client Group consists of 17 insurance professionals. This group of high-caliber experts focuses exclusively on providing tailored, strategic risk management solutions for your lifestyle and financial milestones.</a:t>
            </a:r>
            <a:endParaRPr lang="en-US" sz="1000" b="0" i="0" dirty="0">
              <a:solidFill>
                <a:schemeClr val="bg1"/>
              </a:solidFill>
              <a:effectLst/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Family insurance program review, analysis, and recommendation summary. 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Proactive renewal touchpoints at 60 days and 30 days before renewal.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263092-1AD4-A15D-8B1D-80EE5B15D98C}"/>
              </a:ext>
            </a:extLst>
          </p:cNvPr>
          <p:cNvSpPr/>
          <p:nvPr/>
        </p:nvSpPr>
        <p:spPr>
          <a:xfrm>
            <a:off x="3376133" y="3159074"/>
            <a:ext cx="2472108" cy="3300184"/>
          </a:xfrm>
          <a:prstGeom prst="roundRect">
            <a:avLst>
              <a:gd name="adj" fmla="val 828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 provides the most comprehensive advice and tools needed to control costs and structure plans that meet the business’s strategic long-term goals.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  <a:latin typeface="Source Sans Pro"/>
              </a:rPr>
              <a:t>We provide Program design and deductible optimization claims advocacy, cl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aims reporting and trends, coverage review, and negotiation.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</a:rPr>
              <a:t>As well as safety Consulting, </a:t>
            </a:r>
            <a:r>
              <a:rPr lang="en-US" sz="1000" dirty="0">
                <a:solidFill>
                  <a:schemeClr val="bg1"/>
                </a:solidFill>
                <a:latin typeface="Source Sans Pro"/>
              </a:rPr>
              <a:t>SAFE assessment, staff training, OSHA compliance, and cost </a:t>
            </a:r>
            <a:r>
              <a:rPr lang="en-US" sz="1000" dirty="0">
                <a:solidFill>
                  <a:schemeClr val="bg1"/>
                </a:solidFill>
              </a:rPr>
              <a:t>containment programs. 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C951B09-1695-6952-7114-439170C28374}"/>
              </a:ext>
            </a:extLst>
          </p:cNvPr>
          <p:cNvSpPr/>
          <p:nvPr/>
        </p:nvSpPr>
        <p:spPr>
          <a:xfrm>
            <a:off x="5975207" y="3160685"/>
            <a:ext cx="2286000" cy="3300184"/>
          </a:xfrm>
          <a:prstGeom prst="roundRect">
            <a:avLst>
              <a:gd name="adj" fmla="val 1194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We inspire our clients to think about healthcare in a new way, empowering them to take control of their future.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050" dirty="0">
                <a:solidFill>
                  <a:schemeClr val="bg1"/>
                </a:solidFill>
              </a:rPr>
              <a:t>Our comprehensive approach includes </a:t>
            </a:r>
            <a:r>
              <a:rPr lang="en-US" sz="1000" dirty="0">
                <a:solidFill>
                  <a:schemeClr val="bg1"/>
                </a:solidFill>
              </a:rPr>
              <a:t>care coordination, third-party administration, tailored stop-loss coverage, prescription benefits management (PBM), and cost-containment strategies.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</a:rPr>
              <a:t>With data we collect through our partners and actuaries, we paint a picture of both the present and the future to drive the direction of changes to the benefit program.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96186E-2501-5452-8DBE-C581D53E3662}"/>
              </a:ext>
            </a:extLst>
          </p:cNvPr>
          <p:cNvSpPr txBox="1"/>
          <p:nvPr/>
        </p:nvSpPr>
        <p:spPr>
          <a:xfrm>
            <a:off x="1391068" y="3038697"/>
            <a:ext cx="1430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PRIVATE CLIENT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D17AB0-A1B8-4D39-6492-470467D62D3B}"/>
              </a:ext>
            </a:extLst>
          </p:cNvPr>
          <p:cNvSpPr txBox="1"/>
          <p:nvPr/>
        </p:nvSpPr>
        <p:spPr>
          <a:xfrm>
            <a:off x="3622173" y="3038697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>
                <a:solidFill>
                  <a:schemeClr val="accent2"/>
                </a:solidFill>
                <a:latin typeface="Source Sans Pro Semibold" panose="020B0603030403020204" pitchFamily="34" charset="0"/>
              </a:rPr>
              <a:t>PROPERTY &amp; CASUALTY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A7D1AE-3545-447C-7F61-0196885A5190}"/>
              </a:ext>
            </a:extLst>
          </p:cNvPr>
          <p:cNvSpPr txBox="1"/>
          <p:nvPr/>
        </p:nvSpPr>
        <p:spPr>
          <a:xfrm>
            <a:off x="6221167" y="3038697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EMPLOYEE BENEFITS</a:t>
            </a:r>
          </a:p>
        </p:txBody>
      </p:sp>
    </p:spTree>
    <p:extLst>
      <p:ext uri="{BB962C8B-B14F-4D97-AF65-F5344CB8AC3E}">
        <p14:creationId xmlns:p14="http://schemas.microsoft.com/office/powerpoint/2010/main" val="3861644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01AA-D815-CD0B-3389-500F36DC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9166B-6BD4-A67A-9F07-204C9A3A57B7}"/>
              </a:ext>
            </a:extLst>
          </p:cNvPr>
          <p:cNvSpPr txBox="1"/>
          <p:nvPr/>
        </p:nvSpPr>
        <p:spPr>
          <a:xfrm>
            <a:off x="875347" y="368336"/>
            <a:ext cx="6448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>
                <a:solidFill>
                  <a:schemeClr val="bg1"/>
                </a:solidFill>
                <a:latin typeface="Playfair Display" panose="00000500000000000000" pitchFamily="2" charset="0"/>
              </a:rPr>
              <a:t>Your Team</a:t>
            </a:r>
            <a:endParaRPr lang="en-US" sz="3200" b="1" i="1">
              <a:solidFill>
                <a:schemeClr val="bg1"/>
              </a:solidFill>
              <a:effectLst/>
              <a:latin typeface="Playfair Display" panose="000005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79E8E-D61F-43FA-880E-A024FEDA669B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41FCB5-DE0F-F5F3-AA7C-F57B338172EA}"/>
              </a:ext>
            </a:extLst>
          </p:cNvPr>
          <p:cNvGrpSpPr/>
          <p:nvPr/>
        </p:nvGrpSpPr>
        <p:grpSpPr>
          <a:xfrm>
            <a:off x="875347" y="1390536"/>
            <a:ext cx="2237613" cy="2174421"/>
            <a:chOff x="875347" y="1645479"/>
            <a:chExt cx="2237613" cy="21744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372780-4DB5-3D00-8BDC-AED1C67B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6C7EA0-DDB1-3256-3A2D-056350A2E786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E47A5C5-0956-F34A-A7DE-5FC02C6C1AE0}"/>
              </a:ext>
            </a:extLst>
          </p:cNvPr>
          <p:cNvGrpSpPr/>
          <p:nvPr/>
        </p:nvGrpSpPr>
        <p:grpSpPr>
          <a:xfrm>
            <a:off x="3580638" y="1390536"/>
            <a:ext cx="2237613" cy="2174421"/>
            <a:chOff x="875347" y="1645479"/>
            <a:chExt cx="2237613" cy="2174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36965B-8735-C3B7-8E04-DCEC15F0D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EBC902-C4B8-2011-FCEF-4EE9AE9FB815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1D244F-D3FF-3E6A-A63D-E0B8F2D2CE44}"/>
              </a:ext>
            </a:extLst>
          </p:cNvPr>
          <p:cNvGrpSpPr/>
          <p:nvPr/>
        </p:nvGrpSpPr>
        <p:grpSpPr>
          <a:xfrm>
            <a:off x="6285929" y="1390536"/>
            <a:ext cx="2237613" cy="2174421"/>
            <a:chOff x="875347" y="1645479"/>
            <a:chExt cx="2237613" cy="217442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F76D491-C491-033E-B0A1-5CDEA0323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8F31A5-30E8-4F40-FE62-3BC8549C6EA1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8A4489-4D27-AF76-E653-CCA2F709C788}"/>
              </a:ext>
            </a:extLst>
          </p:cNvPr>
          <p:cNvGrpSpPr/>
          <p:nvPr/>
        </p:nvGrpSpPr>
        <p:grpSpPr>
          <a:xfrm>
            <a:off x="8991219" y="1390536"/>
            <a:ext cx="2237613" cy="2174421"/>
            <a:chOff x="875347" y="1645479"/>
            <a:chExt cx="2237613" cy="217442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C50B1D1-5432-9CF8-3184-820F08FD1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02DBFD-743C-16F1-E180-9B9757DC3353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0F6807-E92B-945C-7640-5C545B9185BC}"/>
              </a:ext>
            </a:extLst>
          </p:cNvPr>
          <p:cNvGrpSpPr/>
          <p:nvPr/>
        </p:nvGrpSpPr>
        <p:grpSpPr>
          <a:xfrm>
            <a:off x="875347" y="3841128"/>
            <a:ext cx="2237613" cy="2174421"/>
            <a:chOff x="875347" y="1645479"/>
            <a:chExt cx="2237613" cy="21744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755C5C7-D0ED-626C-0C5B-9B0337513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D9E643-59F1-DBCB-8208-629A2D51E9DD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FACAC0-C619-78F5-F703-CBFF415E63FF}"/>
              </a:ext>
            </a:extLst>
          </p:cNvPr>
          <p:cNvGrpSpPr/>
          <p:nvPr/>
        </p:nvGrpSpPr>
        <p:grpSpPr>
          <a:xfrm>
            <a:off x="3580638" y="3841128"/>
            <a:ext cx="2237613" cy="2174421"/>
            <a:chOff x="875347" y="1645479"/>
            <a:chExt cx="2237613" cy="2174421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A0E5612-35F4-E94E-3639-492DFFC3E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CE4B25-71D7-DB85-40AB-1D9634C73924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0D8D39-1461-F4CB-2001-02F5897C5CB6}"/>
              </a:ext>
            </a:extLst>
          </p:cNvPr>
          <p:cNvGrpSpPr/>
          <p:nvPr/>
        </p:nvGrpSpPr>
        <p:grpSpPr>
          <a:xfrm>
            <a:off x="6285929" y="3841128"/>
            <a:ext cx="2237613" cy="2174421"/>
            <a:chOff x="875347" y="1645479"/>
            <a:chExt cx="2237613" cy="217442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4EFFAB2-943B-1DB2-00B9-6C7304D2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0500A2B-E07D-80C1-EFC0-0CF4E2C5A022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AFAB65-B5B2-20CF-3EB2-9517EDE3B7A7}"/>
              </a:ext>
            </a:extLst>
          </p:cNvPr>
          <p:cNvGrpSpPr/>
          <p:nvPr/>
        </p:nvGrpSpPr>
        <p:grpSpPr>
          <a:xfrm>
            <a:off x="8991219" y="3841128"/>
            <a:ext cx="2237613" cy="2174421"/>
            <a:chOff x="875347" y="1645479"/>
            <a:chExt cx="2237613" cy="2174421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335F384-8A69-06AA-D5E5-43F3F8510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EF62815-C46F-2896-DD35-094F42861E94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615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E2FD-837D-9753-CF85-B96BB0ED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C6772-D662-5D65-1798-38644B18B7E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9116D3-F450-4A0A-4B24-450372B6DA92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B23DE8-E278-487A-269B-07085F1B1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557526"/>
              </p:ext>
            </p:extLst>
          </p:nvPr>
        </p:nvGraphicFramePr>
        <p:xfrm>
          <a:off x="2305883" y="1599795"/>
          <a:ext cx="7401261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087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Coverage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Recommended Plan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Current Plan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endParaRPr lang="en-US" sz="11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0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547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A4362D-DE69-1B53-3A14-7B1C13910FE2}"/>
              </a:ext>
            </a:extLst>
          </p:cNvPr>
          <p:cNvSpPr txBox="1"/>
          <p:nvPr/>
        </p:nvSpPr>
        <p:spPr>
          <a:xfrm>
            <a:off x="963168" y="1353092"/>
            <a:ext cx="10360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Chart description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2107BAA-9630-7ECD-8B30-F91373DD9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121013"/>
              </p:ext>
            </p:extLst>
          </p:nvPr>
        </p:nvGraphicFramePr>
        <p:xfrm>
          <a:off x="963168" y="1519630"/>
          <a:ext cx="10360152" cy="3665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273BE5-F818-01A8-5E07-3B93E28CCD2C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 dirty="0">
                <a:solidFill>
                  <a:schemeClr val="bg1"/>
                </a:solidFill>
                <a:latin typeface="Playfair Display" panose="00000500000000000000" pitchFamily="2" charset="0"/>
              </a:rPr>
              <a:t>Bar Chart</a:t>
            </a:r>
            <a:endParaRPr lang="en-US" sz="3200" b="1" i="1" dirty="0">
              <a:solidFill>
                <a:schemeClr val="bg1"/>
              </a:solidFill>
              <a:effectLst/>
              <a:latin typeface="Playfair Display" panose="000005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633BA1-466B-DD20-5259-2CAD8D9954D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04688B6-4399-6195-5B1A-844A4F030DEC}"/>
              </a:ext>
            </a:extLst>
          </p:cNvPr>
          <p:cNvSpPr txBox="1"/>
          <p:nvPr/>
        </p:nvSpPr>
        <p:spPr>
          <a:xfrm>
            <a:off x="1296543" y="5535686"/>
            <a:ext cx="103601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*note.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1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Source: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17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8AA7-FAF6-F65C-E545-3453EA89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and holding pen and typing on computer">
            <a:extLst>
              <a:ext uri="{FF2B5EF4-FFF2-40B4-BE49-F238E27FC236}">
                <a16:creationId xmlns:a16="http://schemas.microsoft.com/office/drawing/2014/main" id="{81F7E57F-89EE-316F-C968-1339F741B8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b="18042"/>
          <a:stretch/>
        </p:blipFill>
        <p:spPr>
          <a:xfrm>
            <a:off x="0" y="-14045"/>
            <a:ext cx="5303599" cy="686892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8C12388-642A-F25F-80E9-C8A54DE0B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0EADAA-0A52-4CF7-F325-A9D4354284D6}"/>
              </a:ext>
            </a:extLst>
          </p:cNvPr>
          <p:cNvSpPr/>
          <p:nvPr/>
        </p:nvSpPr>
        <p:spPr>
          <a:xfrm rot="20653335" flipH="1">
            <a:off x="409562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848F93-8071-28B6-C5E0-2B4119C2666A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H="1" flipV="1">
            <a:off x="3134543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65A95ED-4C02-C2D5-06AB-5CFF3C8536ED}"/>
              </a:ext>
            </a:extLst>
          </p:cNvPr>
          <p:cNvSpPr txBox="1">
            <a:spLocks/>
          </p:cNvSpPr>
          <p:nvPr/>
        </p:nvSpPr>
        <p:spPr>
          <a:xfrm>
            <a:off x="4775200" y="2213487"/>
            <a:ext cx="5565923" cy="1148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Transition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BC6C0-43E1-2E52-A8EA-2F216C5867F9}"/>
              </a:ext>
            </a:extLst>
          </p:cNvPr>
          <p:cNvCxnSpPr>
            <a:cxnSpLocks/>
          </p:cNvCxnSpPr>
          <p:nvPr/>
        </p:nvCxnSpPr>
        <p:spPr>
          <a:xfrm>
            <a:off x="5731631" y="3434937"/>
            <a:ext cx="440740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6D5C354-C23C-0EB6-77B4-F8DF3164CAE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A063ADE-195E-D4EF-528C-57B9FDC5EA0D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14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8B1C-D188-F605-D07D-94E65FF6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one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two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Bullet 1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schemeClr val="bg1"/>
                </a:solidFill>
                <a:latin typeface="Source Sans Pro"/>
              </a:rPr>
              <a:t>Bullet 2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Bullet 3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0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D2F9-41E7-C829-14DA-91B6EBFC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17954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Source Sans Pro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Source Sans Pro"/>
              </a:rPr>
              <a:t>Text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2395369" y="3429000"/>
          <a:ext cx="740126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087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289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100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CIG Brand Standard">
      <a:dk1>
        <a:srgbClr val="153243"/>
      </a:dk1>
      <a:lt1>
        <a:srgbClr val="FFFFFF"/>
      </a:lt1>
      <a:dk2>
        <a:srgbClr val="153243"/>
      </a:dk2>
      <a:lt2>
        <a:srgbClr val="EDECED"/>
      </a:lt2>
      <a:accent1>
        <a:srgbClr val="153243"/>
      </a:accent1>
      <a:accent2>
        <a:srgbClr val="FFC666"/>
      </a:accent2>
      <a:accent3>
        <a:srgbClr val="BFC7CB"/>
      </a:accent3>
      <a:accent4>
        <a:srgbClr val="8FB24E"/>
      </a:accent4>
      <a:accent5>
        <a:srgbClr val="366E8E"/>
      </a:accent5>
      <a:accent6>
        <a:srgbClr val="153243"/>
      </a:accent6>
      <a:hlink>
        <a:srgbClr val="4472C4"/>
      </a:hlink>
      <a:folHlink>
        <a:srgbClr val="954F72"/>
      </a:folHlink>
    </a:clrScheme>
    <a:fontScheme name="CCIG Standard Fonts">
      <a:majorFont>
        <a:latin typeface="Playfair Display Bold italic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losing Slide">
  <a:themeElements>
    <a:clrScheme name="CCIG Pallet">
      <a:dk1>
        <a:srgbClr val="FFFFFF"/>
      </a:dk1>
      <a:lt1>
        <a:srgbClr val="153243"/>
      </a:lt1>
      <a:dk2>
        <a:srgbClr val="FFFFFF"/>
      </a:dk2>
      <a:lt2>
        <a:srgbClr val="153243"/>
      </a:lt2>
      <a:accent1>
        <a:srgbClr val="366E8E"/>
      </a:accent1>
      <a:accent2>
        <a:srgbClr val="EDECED"/>
      </a:accent2>
      <a:accent3>
        <a:srgbClr val="8FB24E"/>
      </a:accent3>
      <a:accent4>
        <a:srgbClr val="FFC666"/>
      </a:accent4>
      <a:accent5>
        <a:srgbClr val="BFC7CB"/>
      </a:accent5>
      <a:accent6>
        <a:srgbClr val="FFFFFF"/>
      </a:accent6>
      <a:hlink>
        <a:srgbClr val="FFFFFF"/>
      </a:hlink>
      <a:folHlink>
        <a:srgbClr val="FFFFFF"/>
      </a:folHlink>
    </a:clrScheme>
    <a:fontScheme name="CCIG Fonts">
      <a:majorFont>
        <a:latin typeface="Playfair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Pre Renewal Presentation Template DRAFT.pptx" id="{828A087C-E37D-43CB-A519-71B798F826F0}" vid="{AA9F9857-78CF-4B9F-B020-64C60EB5DBE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4c050f-9054-4904-b6aa-0409f5b4e18f">
      <Terms xmlns="http://schemas.microsoft.com/office/infopath/2007/PartnerControls"/>
    </lcf76f155ced4ddcb4097134ff3c332f>
    <TaxCatchAll xmlns="30d15d4e-f454-4b92-8875-408134dc12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725B309581840A0A100831E684272" ma:contentTypeVersion="20" ma:contentTypeDescription="Create a new document." ma:contentTypeScope="" ma:versionID="27caaa922bf644da1ac0edb9850b251b">
  <xsd:schema xmlns:xsd="http://www.w3.org/2001/XMLSchema" xmlns:xs="http://www.w3.org/2001/XMLSchema" xmlns:p="http://schemas.microsoft.com/office/2006/metadata/properties" xmlns:ns2="d14c050f-9054-4904-b6aa-0409f5b4e18f" xmlns:ns3="30d15d4e-f454-4b92-8875-408134dc12c6" targetNamespace="http://schemas.microsoft.com/office/2006/metadata/properties" ma:root="true" ma:fieldsID="09138be5e88f50bb9190cdd3e4074cd5" ns2:_="" ns3:_="">
    <xsd:import namespace="d14c050f-9054-4904-b6aa-0409f5b4e18f"/>
    <xsd:import namespace="30d15d4e-f454-4b92-8875-408134dc12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c050f-9054-4904-b6aa-0409f5b4e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f06319-ea36-4de0-a4ff-0b283733ff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15d4e-f454-4b92-8875-408134dc12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bd52f1-f66a-499f-9159-e87069d78626}" ma:internalName="TaxCatchAll" ma:showField="CatchAllData" ma:web="30d15d4e-f454-4b92-8875-408134dc12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4FCD18-CF1F-49EB-83DE-4BD8ABBA53DE}">
  <ds:schemaRefs>
    <ds:schemaRef ds:uri="http://schemas.microsoft.com/office/2006/metadata/properties"/>
    <ds:schemaRef ds:uri="http://schemas.microsoft.com/office/infopath/2007/PartnerControls"/>
    <ds:schemaRef ds:uri="d14c050f-9054-4904-b6aa-0409f5b4e18f"/>
    <ds:schemaRef ds:uri="30d15d4e-f454-4b92-8875-408134dc12c6"/>
  </ds:schemaRefs>
</ds:datastoreItem>
</file>

<file path=customXml/itemProps2.xml><?xml version="1.0" encoding="utf-8"?>
<ds:datastoreItem xmlns:ds="http://schemas.openxmlformats.org/officeDocument/2006/customXml" ds:itemID="{4223B997-459F-4F07-80F9-0B92B3A8E1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4C3F88-6D58-423A-84ED-4469C477BA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c050f-9054-4904-b6aa-0409f5b4e18f"/>
    <ds:schemaRef ds:uri="30d15d4e-f454-4b92-8875-408134dc12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375</Words>
  <Application>Microsoft Office PowerPoint</Application>
  <PresentationFormat>Widescreen</PresentationFormat>
  <Paragraphs>88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Playfair Display</vt:lpstr>
      <vt:lpstr>Source Sans Pro</vt:lpstr>
      <vt:lpstr>Source Sans Pro Light</vt:lpstr>
      <vt:lpstr>Source Sans Pro SemiBold</vt:lpstr>
      <vt:lpstr>Source Sans Pro SemiBold</vt:lpstr>
      <vt:lpstr>Wingdings</vt:lpstr>
      <vt:lpstr>1_Office Theme</vt:lpstr>
      <vt:lpstr>Closing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Kokat</dc:creator>
  <cp:lastModifiedBy>Nick Kokat</cp:lastModifiedBy>
  <cp:revision>5</cp:revision>
  <dcterms:created xsi:type="dcterms:W3CDTF">2025-04-17T14:49:04Z</dcterms:created>
  <dcterms:modified xsi:type="dcterms:W3CDTF">2026-09-16T16:49:56Z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0x010100DC9725B309581840A0A100831E684272</vt:lpwstr>
  </property>
  <property fmtid="{D5CDD505-2E9C-101B-9397-08002B2CF9AE}" pid="3" name="MediaServiceImageTags">
    <vt:lpwstr/>
  </property>
</Properties>
</file>