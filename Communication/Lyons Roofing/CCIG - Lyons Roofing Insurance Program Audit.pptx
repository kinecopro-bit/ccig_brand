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  <p:sldMasterId id="2147483666" r:id="rId5"/>
  </p:sldMasterIdLst>
  <p:notesMasterIdLst>
    <p:notesMasterId r:id="rId15"/>
  </p:notesMasterIdLst>
  <p:sldIdLst>
    <p:sldId id="260" r:id="rId6"/>
    <p:sldId id="309" r:id="rId7"/>
    <p:sldId id="334" r:id="rId12"/>
    <p:sldId id="336" r:id="rId21"/>
    <p:sldId id="337" r:id="rId22"/>
    <p:sldId id="268" r:id="rId11"/>
    <p:sldId id="338" r:id="rId23"/>
    <p:sldId id="335" r:id="rId13"/>
    <p:sldId id="339" r:id="rId24"/>
    <p:sldId id="340" r:id="rId25"/>
    <p:sldId id="341" r:id="rId26"/>
    <p:sldId id="269" r:id="rId10"/>
    <p:sldId id="343" r:id="rId28"/>
    <p:sldId id="342" r:id="rId27"/>
    <p:sldId id="344" r:id="rId29"/>
    <p:sldId id="345" r:id="rId30"/>
    <p:sldId id="30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6/11/relationships/changesInfo" Target="changesInfos/changesInfo1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k Kokat" userId="501bd5f9-fd49-4fb7-abba-4150fa5f94f6" providerId="ADAL" clId="{A12145DA-1BDE-4F98-9563-DA2ED5A182AF}"/>
    <pc:docChg chg="modSld">
      <pc:chgData name="Nick Kokat" userId="501bd5f9-fd49-4fb7-abba-4150fa5f94f6" providerId="ADAL" clId="{A12145DA-1BDE-4F98-9563-DA2ED5A182AF}" dt="2026-08-19T21:27:50.639" v="22" actId="207"/>
      <pc:docMkLst>
        <pc:docMk/>
      </pc:docMkLst>
      <pc:sldChg chg="modSp mod">
        <pc:chgData name="Nick Kokat" userId="501bd5f9-fd49-4fb7-abba-4150fa5f94f6" providerId="ADAL" clId="{A12145DA-1BDE-4F98-9563-DA2ED5A182AF}" dt="2026-08-19T21:27:50.639" v="22" actId="207"/>
        <pc:sldMkLst>
          <pc:docMk/>
          <pc:sldMk cId="2458590048" sldId="260"/>
        </pc:sldMkLst>
        <pc:spChg chg="mod">
          <ac:chgData name="Nick Kokat" userId="501bd5f9-fd49-4fb7-abba-4150fa5f94f6" providerId="ADAL" clId="{A12145DA-1BDE-4F98-9563-DA2ED5A182AF}" dt="2026-08-19T21:27:50.639" v="22" actId="207"/>
          <ac:spMkLst>
            <pc:docMk/>
            <pc:sldMk cId="2458590048" sldId="260"/>
            <ac:spMk id="18" creationId="{5E1BA571-5267-EFA9-F122-1666D2F18055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6139180080730612E-2"/>
          <c:y val="0.16048956634316081"/>
          <c:w val="0.89166863912845251"/>
          <c:h val="0.617359495169997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Experience Modification Factor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spPr>
              <a:solidFill>
                <a:srgbClr val="8FB24E"/>
              </a:solidFill>
            </c:spPr>
          </c:dPt>
          <c:dPt>
            <c:idx val="1"/>
            <c:spPr>
              <a:solidFill>
                <a:srgbClr val="FFC666"/>
              </a:solidFill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Prior Policy Year
(0.84 — 16% credit)</c:v>
                </c:pt>
                <c:pt idx="1">
                  <c:v>New Policy Year
(1.19 — 19% debit)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0.84</c:v>
                </c:pt>
                <c:pt idx="1">
                  <c:v>1.19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20-4A88-A74A-619D24DC1ED7}"/>
            </c:ext>
          </c:extLst>
        </c:ser>
        <c:dLbls>
          <c:numFmt formatCode="0.00" sourceLinked="0"/>
          <c:txPr>
            <a:bodyPr/>
            <a:lstStyle/>
            <a:p>
              <a:pPr>
                <a:defRPr sz="16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24017583"/>
        <c:axId val="324010927"/>
      </c:barChart>
      <c:catAx>
        <c:axId val="324017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4010927"/>
        <c:crosses val="autoZero"/>
        <c:auto val="1"/>
        <c:lblAlgn val="ctr"/>
        <c:lblOffset val="100"/>
        <c:noMultiLvlLbl val="0"/>
      </c:catAx>
      <c:valAx>
        <c:axId val="3240109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accent3">
                  <a:lumMod val="50000"/>
                  <a:alpha val="33000"/>
                </a:schemeClr>
              </a:solidFill>
              <a:round/>
            </a:ln>
            <a:effectLst/>
          </c:spPr>
        </c:majorGridlines>
        <c:numFmt formatCode="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40175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52473-4CCE-426E-ADDC-CB6E6EAC5CD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514C03-8685-4AC7-94E4-F6077D277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195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1AB2D1-CDE6-4D39-B626-086A27DF924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296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I need updated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1AB2D1-CDE6-4D39-B626-086A27DF924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7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F9759-4BC9-9064-021C-32E55DDDB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93E8DB-EAF6-146F-EEF3-E67FD1666B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70E0A1-96AD-4D8D-6BD3-06AB9ADE3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03615-DB52-86E2-8618-A5675F8641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1AB2D1-CDE6-4D39-B626-086A27DF924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60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514C03-8685-4AC7-94E4-F6077D27780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54539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47FA695-301A-D017-5457-21181DB07D41}"/>
              </a:ext>
            </a:extLst>
          </p:cNvPr>
          <p:cNvSpPr txBox="1">
            <a:spLocks/>
          </p:cNvSpPr>
          <p:nvPr userDrawn="1"/>
        </p:nvSpPr>
        <p:spPr>
          <a:xfrm>
            <a:off x="9166380" y="6373917"/>
            <a:ext cx="20920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>
                <a:solidFill>
                  <a:schemeClr val="accent3"/>
                </a:solidFill>
                <a:latin typeface="Source Sans Pro" panose="020B0503030403020204" pitchFamily="34" charset="0"/>
                <a:cs typeface="Calibri Light" charset="0"/>
              </a:rPr>
              <a:t>© CCIG All Rights Reserved</a:t>
            </a:r>
            <a:endParaRPr lang="en-US">
              <a:solidFill>
                <a:schemeClr val="accent3"/>
              </a:solidFill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23C14C6-1388-88AF-C11C-D78FF338316A}"/>
              </a:ext>
            </a:extLst>
          </p:cNvPr>
          <p:cNvSpPr txBox="1">
            <a:spLocks/>
          </p:cNvSpPr>
          <p:nvPr userDrawn="1"/>
        </p:nvSpPr>
        <p:spPr>
          <a:xfrm>
            <a:off x="11258417" y="6373483"/>
            <a:ext cx="460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6A10D1-A153-46BE-963E-0302FA5EFDF9}" type="slidenum">
              <a:rPr lang="en-US" smtClean="0">
                <a:solidFill>
                  <a:schemeClr val="accent3"/>
                </a:solidFill>
              </a:rPr>
              <a:pPr/>
              <a:t>‹#›</a:t>
            </a:fld>
            <a:endParaRPr lang="en-US">
              <a:solidFill>
                <a:schemeClr val="accent3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2F7BF6-0AA5-9EF5-48DA-31D4B332A4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029" y="6373668"/>
            <a:ext cx="1002589" cy="23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672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5575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4CB7C7-D8DD-A773-3164-BFA6E3CB95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2029" y="6362765"/>
            <a:ext cx="1002589" cy="237916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4A90F-9A4B-3A2A-8DA0-6AD36E25DE83}"/>
              </a:ext>
            </a:extLst>
          </p:cNvPr>
          <p:cNvSpPr txBox="1">
            <a:spLocks/>
          </p:cNvSpPr>
          <p:nvPr userDrawn="1"/>
        </p:nvSpPr>
        <p:spPr>
          <a:xfrm>
            <a:off x="9166380" y="6373917"/>
            <a:ext cx="20920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>
                <a:solidFill>
                  <a:schemeClr val="accent3">
                    <a:lumMod val="75000"/>
                  </a:schemeClr>
                </a:solidFill>
                <a:latin typeface="Source Sans Pro" panose="020B0503030403020204" pitchFamily="34" charset="0"/>
                <a:cs typeface="Calibri Light" charset="0"/>
              </a:rPr>
              <a:t>© CCIG All Rights Reserved</a:t>
            </a:r>
            <a:endParaRPr lang="en-US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43426-97A4-BD34-08E3-B74A56AF5D31}"/>
              </a:ext>
            </a:extLst>
          </p:cNvPr>
          <p:cNvSpPr txBox="1">
            <a:spLocks/>
          </p:cNvSpPr>
          <p:nvPr userDrawn="1"/>
        </p:nvSpPr>
        <p:spPr>
          <a:xfrm>
            <a:off x="11258417" y="6373483"/>
            <a:ext cx="460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6A10D1-A153-46BE-963E-0302FA5EFDF9}" type="slidenum">
              <a:rPr lang="en-US" smtClean="0">
                <a:solidFill>
                  <a:schemeClr val="accent3">
                    <a:lumMod val="75000"/>
                  </a:schemeClr>
                </a:solidFill>
              </a:rPr>
              <a:pPr/>
              <a:t>‹#›</a:t>
            </a:fld>
            <a:endParaRPr lang="en-US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850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7805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13AB19A-BD49-0463-11C4-7C72D26FF9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382" y="22859"/>
            <a:ext cx="12192001" cy="685800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278F2D-46CD-FE13-F2E6-B70B959FF2FE}"/>
              </a:ext>
            </a:extLst>
          </p:cNvPr>
          <p:cNvCxnSpPr>
            <a:cxnSpLocks/>
          </p:cNvCxnSpPr>
          <p:nvPr userDrawn="1"/>
        </p:nvCxnSpPr>
        <p:spPr>
          <a:xfrm>
            <a:off x="-1" y="6835140"/>
            <a:ext cx="12192001" cy="0"/>
          </a:xfrm>
          <a:prstGeom prst="line">
            <a:avLst/>
          </a:prstGeom>
          <a:ln w="3460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text, gear, wheel, clipart&#10;&#10;Description automatically generated">
            <a:extLst>
              <a:ext uri="{FF2B5EF4-FFF2-40B4-BE49-F238E27FC236}">
                <a16:creationId xmlns:a16="http://schemas.microsoft.com/office/drawing/2014/main" id="{12DDE39C-E745-9882-755B-90550D318E3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1802" y="3129569"/>
            <a:ext cx="2523625" cy="5988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66612E-BB2B-B588-AF43-DEED86FBFB7A}"/>
              </a:ext>
            </a:extLst>
          </p:cNvPr>
          <p:cNvSpPr txBox="1"/>
          <p:nvPr userDrawn="1"/>
        </p:nvSpPr>
        <p:spPr>
          <a:xfrm>
            <a:off x="4394702" y="5766956"/>
            <a:ext cx="3397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accent3"/>
                </a:solidFill>
              </a:rPr>
              <a:t>Think</a:t>
            </a:r>
            <a:r>
              <a:rPr lang="en-US" sz="2000">
                <a:latin typeface="Source Sans Pro Semibold" panose="020B0603030403020204" pitchFamily="34" charset="0"/>
              </a:rPr>
              <a:t>CCIG</a:t>
            </a:r>
            <a:r>
              <a:rPr lang="en-US" sz="2000">
                <a:solidFill>
                  <a:schemeClr val="accent3"/>
                </a:solidFill>
              </a:rPr>
              <a:t>.com</a:t>
            </a:r>
          </a:p>
        </p:txBody>
      </p:sp>
    </p:spTree>
    <p:extLst>
      <p:ext uri="{BB962C8B-B14F-4D97-AF65-F5344CB8AC3E}">
        <p14:creationId xmlns:p14="http://schemas.microsoft.com/office/powerpoint/2010/main" val="393568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simp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990A3E4-0BDF-56A9-42B7-D1192EDDD891}"/>
              </a:ext>
            </a:extLst>
          </p:cNvPr>
          <p:cNvCxnSpPr>
            <a:cxnSpLocks/>
          </p:cNvCxnSpPr>
          <p:nvPr userDrawn="1"/>
        </p:nvCxnSpPr>
        <p:spPr>
          <a:xfrm>
            <a:off x="-1" y="6835140"/>
            <a:ext cx="12192001" cy="0"/>
          </a:xfrm>
          <a:prstGeom prst="line">
            <a:avLst/>
          </a:prstGeom>
          <a:ln w="3460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text, gear, wheel, clipart&#10;&#10;Description automatically generated">
            <a:extLst>
              <a:ext uri="{FF2B5EF4-FFF2-40B4-BE49-F238E27FC236}">
                <a16:creationId xmlns:a16="http://schemas.microsoft.com/office/drawing/2014/main" id="{D9B550F0-F2E9-2A7D-2A5B-F3E8075DC7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1804" y="3152428"/>
            <a:ext cx="2523625" cy="5988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B17FBE-EF74-B466-E154-54F64DC81596}"/>
              </a:ext>
            </a:extLst>
          </p:cNvPr>
          <p:cNvSpPr txBox="1"/>
          <p:nvPr userDrawn="1"/>
        </p:nvSpPr>
        <p:spPr>
          <a:xfrm>
            <a:off x="4394702" y="5766956"/>
            <a:ext cx="3397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accent3"/>
                </a:solidFill>
              </a:rPr>
              <a:t>Think</a:t>
            </a:r>
            <a:r>
              <a:rPr lang="en-US" sz="2000">
                <a:latin typeface="Source Sans Pro Semibold" panose="020B0603030403020204" pitchFamily="34" charset="0"/>
              </a:rPr>
              <a:t>CCIG</a:t>
            </a:r>
            <a:r>
              <a:rPr lang="en-US" sz="2000">
                <a:solidFill>
                  <a:schemeClr val="accent3"/>
                </a:solidFill>
              </a:rPr>
              <a:t>.com</a:t>
            </a:r>
          </a:p>
        </p:txBody>
      </p:sp>
    </p:spTree>
    <p:extLst>
      <p:ext uri="{BB962C8B-B14F-4D97-AF65-F5344CB8AC3E}">
        <p14:creationId xmlns:p14="http://schemas.microsoft.com/office/powerpoint/2010/main" val="33170634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410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028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jpeg"/><Relationship Id="rId5" Type="http://schemas.openxmlformats.org/officeDocument/2006/relationships/image" Target="../media/image7.png"/><Relationship Id="rId6" Type="http://schemas.openxmlformats.org/officeDocument/2006/relationships/image" Target="../media/image8.jpg"/><Relationship Id="rId7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.tiff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e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B2F99-F556-88DF-9E08-158FB441A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and grey striped building&#10;&#10;AI-generated content may be incorrect.">
            <a:extLst>
              <a:ext uri="{FF2B5EF4-FFF2-40B4-BE49-F238E27FC236}">
                <a16:creationId xmlns:a16="http://schemas.microsoft.com/office/drawing/2014/main" id="{85F1A110-57E8-F1B1-7075-844A2963224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283"/>
          <a:stretch/>
        </p:blipFill>
        <p:spPr>
          <a:xfrm>
            <a:off x="4999573" y="0"/>
            <a:ext cx="7192427" cy="6858000"/>
          </a:xfrm>
          <a:prstGeom prst="rect">
            <a:avLst/>
          </a:prstGeom>
        </p:spPr>
      </p:pic>
      <p:pic>
        <p:nvPicPr>
          <p:cNvPr id="16" name="Picture 15" descr="A group of people sitting at a table&#10;&#10;AI-generated content may be incorrect.">
            <a:extLst>
              <a:ext uri="{FF2B5EF4-FFF2-40B4-BE49-F238E27FC236}">
                <a16:creationId xmlns:a16="http://schemas.microsoft.com/office/drawing/2014/main" id="{6E01315A-B72B-30EE-DB03-419E41BD38F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73" r="11819"/>
          <a:stretch/>
        </p:blipFill>
        <p:spPr>
          <a:xfrm>
            <a:off x="4993541" y="7794"/>
            <a:ext cx="7198460" cy="6858000"/>
          </a:xfrm>
          <a:prstGeom prst="rect">
            <a:avLst/>
          </a:prstGeom>
        </p:spPr>
      </p:pic>
      <p:pic>
        <p:nvPicPr>
          <p:cNvPr id="6" name="Picture 5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BB134071-5F25-FA2B-039B-1DABC5A7BD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839" y="288894"/>
            <a:ext cx="1941922" cy="53791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79A93A9-C703-B2A8-1C9F-EBEFD895A53D}"/>
              </a:ext>
            </a:extLst>
          </p:cNvPr>
          <p:cNvSpPr/>
          <p:nvPr/>
        </p:nvSpPr>
        <p:spPr>
          <a:xfrm rot="946665">
            <a:off x="3713782" y="-463794"/>
            <a:ext cx="2284707" cy="7385760"/>
          </a:xfrm>
          <a:custGeom>
            <a:avLst/>
            <a:gdLst>
              <a:gd name="connsiteX0" fmla="*/ 0 w 2265938"/>
              <a:gd name="connsiteY0" fmla="*/ 0 h 7265195"/>
              <a:gd name="connsiteX1" fmla="*/ 2265938 w 2265938"/>
              <a:gd name="connsiteY1" fmla="*/ 0 h 7265195"/>
              <a:gd name="connsiteX2" fmla="*/ 2265938 w 2265938"/>
              <a:gd name="connsiteY2" fmla="*/ 7265195 h 7265195"/>
              <a:gd name="connsiteX3" fmla="*/ 0 w 2265938"/>
              <a:gd name="connsiteY3" fmla="*/ 7265195 h 7265195"/>
              <a:gd name="connsiteX4" fmla="*/ 0 w 2265938"/>
              <a:gd name="connsiteY4" fmla="*/ 0 h 7265195"/>
              <a:gd name="connsiteX0" fmla="*/ 0 w 2270509"/>
              <a:gd name="connsiteY0" fmla="*/ 677208 h 7265195"/>
              <a:gd name="connsiteX1" fmla="*/ 2270509 w 2270509"/>
              <a:gd name="connsiteY1" fmla="*/ 0 h 7265195"/>
              <a:gd name="connsiteX2" fmla="*/ 2270509 w 2270509"/>
              <a:gd name="connsiteY2" fmla="*/ 7265195 h 7265195"/>
              <a:gd name="connsiteX3" fmla="*/ 4571 w 2270509"/>
              <a:gd name="connsiteY3" fmla="*/ 7265195 h 7265195"/>
              <a:gd name="connsiteX4" fmla="*/ 0 w 2270509"/>
              <a:gd name="connsiteY4" fmla="*/ 677208 h 7265195"/>
              <a:gd name="connsiteX0" fmla="*/ 0 w 2270509"/>
              <a:gd name="connsiteY0" fmla="*/ 677208 h 7265195"/>
              <a:gd name="connsiteX1" fmla="*/ 2270509 w 2270509"/>
              <a:gd name="connsiteY1" fmla="*/ 0 h 7265195"/>
              <a:gd name="connsiteX2" fmla="*/ 2260458 w 2270509"/>
              <a:gd name="connsiteY2" fmla="*/ 7160280 h 7265195"/>
              <a:gd name="connsiteX3" fmla="*/ 4571 w 2270509"/>
              <a:gd name="connsiteY3" fmla="*/ 7265195 h 7265195"/>
              <a:gd name="connsiteX4" fmla="*/ 0 w 2270509"/>
              <a:gd name="connsiteY4" fmla="*/ 677208 h 7265195"/>
              <a:gd name="connsiteX0" fmla="*/ 0 w 2270509"/>
              <a:gd name="connsiteY0" fmla="*/ 677208 h 7401340"/>
              <a:gd name="connsiteX1" fmla="*/ 2270509 w 2270509"/>
              <a:gd name="connsiteY1" fmla="*/ 0 h 7401340"/>
              <a:gd name="connsiteX2" fmla="*/ 2260458 w 2270509"/>
              <a:gd name="connsiteY2" fmla="*/ 7160280 h 7401340"/>
              <a:gd name="connsiteX3" fmla="*/ 1394870 w 2270509"/>
              <a:gd name="connsiteY3" fmla="*/ 7401340 h 7401340"/>
              <a:gd name="connsiteX4" fmla="*/ 0 w 2270509"/>
              <a:gd name="connsiteY4" fmla="*/ 677208 h 7401340"/>
              <a:gd name="connsiteX0" fmla="*/ 0 w 2284707"/>
              <a:gd name="connsiteY0" fmla="*/ 661628 h 7385760"/>
              <a:gd name="connsiteX1" fmla="*/ 2284707 w 2284707"/>
              <a:gd name="connsiteY1" fmla="*/ 0 h 7385760"/>
              <a:gd name="connsiteX2" fmla="*/ 2260458 w 2284707"/>
              <a:gd name="connsiteY2" fmla="*/ 7144700 h 7385760"/>
              <a:gd name="connsiteX3" fmla="*/ 1394870 w 2284707"/>
              <a:gd name="connsiteY3" fmla="*/ 7385760 h 7385760"/>
              <a:gd name="connsiteX4" fmla="*/ 0 w 2284707"/>
              <a:gd name="connsiteY4" fmla="*/ 661628 h 738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4707" h="7385760">
                <a:moveTo>
                  <a:pt x="0" y="661628"/>
                </a:moveTo>
                <a:lnTo>
                  <a:pt x="2284707" y="0"/>
                </a:lnTo>
                <a:cubicBezTo>
                  <a:pt x="2281357" y="2386760"/>
                  <a:pt x="2263808" y="4757940"/>
                  <a:pt x="2260458" y="7144700"/>
                </a:cubicBezTo>
                <a:lnTo>
                  <a:pt x="1394870" y="7385760"/>
                </a:lnTo>
                <a:cubicBezTo>
                  <a:pt x="1393346" y="5189764"/>
                  <a:pt x="1524" y="2857624"/>
                  <a:pt x="0" y="66162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824634-1D05-DD52-C26C-489F37F8D8A9}"/>
              </a:ext>
            </a:extLst>
          </p:cNvPr>
          <p:cNvCxnSpPr>
            <a:stCxn id="5" idx="2"/>
            <a:endCxn id="5" idx="1"/>
          </p:cNvCxnSpPr>
          <p:nvPr/>
        </p:nvCxnSpPr>
        <p:spPr>
          <a:xfrm flipV="1">
            <a:off x="4993541" y="-14046"/>
            <a:ext cx="1966027" cy="686892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Title 1">
            <a:extLst>
              <a:ext uri="{FF2B5EF4-FFF2-40B4-BE49-F238E27FC236}">
                <a16:creationId xmlns:a16="http://schemas.microsoft.com/office/drawing/2014/main" id="{5E1BA571-5267-EFA9-F122-1666D2F18055}"/>
              </a:ext>
            </a:extLst>
          </p:cNvPr>
          <p:cNvSpPr txBox="1">
            <a:spLocks/>
          </p:cNvSpPr>
          <p:nvPr/>
        </p:nvSpPr>
        <p:spPr>
          <a:xfrm>
            <a:off x="471269" y="2213487"/>
            <a:ext cx="4522271" cy="114829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layfair Display"/>
                <a:ea typeface="+mj-ea"/>
                <a:cs typeface="+mj-cs"/>
              </a:rPr>
              <a:t>Lyons Roofing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68A7D42-B016-3ECF-CF94-3DAF34AD0577}"/>
              </a:ext>
            </a:extLst>
          </p:cNvPr>
          <p:cNvCxnSpPr>
            <a:cxnSpLocks/>
          </p:cNvCxnSpPr>
          <p:nvPr/>
        </p:nvCxnSpPr>
        <p:spPr>
          <a:xfrm>
            <a:off x="384048" y="3434937"/>
            <a:ext cx="440740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4321E56E-8D04-22EF-BD7F-C0297118F345}"/>
              </a:ext>
            </a:extLst>
          </p:cNvPr>
          <p:cNvSpPr txBox="1">
            <a:spLocks/>
          </p:cNvSpPr>
          <p:nvPr/>
        </p:nvSpPr>
        <p:spPr>
          <a:xfrm>
            <a:off x="388058" y="6210545"/>
            <a:ext cx="2630487" cy="3238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solidFill>
                  <a:srgbClr val="FFC666"/>
                </a:solidFill>
                <a:latin typeface="Source Sans Pro"/>
              </a:rPr>
              <a:t>September 2026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C666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8BC079-D598-CBCE-04F7-3DDDA69AFF39}"/>
              </a:ext>
            </a:extLst>
          </p:cNvPr>
          <p:cNvSpPr txBox="1"/>
          <p:nvPr/>
        </p:nvSpPr>
        <p:spPr>
          <a:xfrm>
            <a:off x="384048" y="3614057"/>
            <a:ext cx="1784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Presenter: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737B57AF-009E-41E6-1AA2-ADDC2BEC5AE3}"/>
              </a:ext>
            </a:extLst>
          </p:cNvPr>
          <p:cNvSpPr txBox="1">
            <a:spLocks/>
          </p:cNvSpPr>
          <p:nvPr/>
        </p:nvSpPr>
        <p:spPr>
          <a:xfrm>
            <a:off x="471269" y="4139134"/>
            <a:ext cx="4200000" cy="120032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5000"/>
              <a:buFont typeface="Wingdings" panose="05000000000000000000" pitchFamily="2" charset="2"/>
              <a:buNone/>
              <a:defRPr sz="65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None/>
              <a:defRPr sz="24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None/>
              <a:defRPr sz="20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None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None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rgbClr val="FFFFFF"/>
                </a:solidFill>
                <a:latin typeface="Source Sans Pro Semibold" charset="0"/>
                <a:ea typeface="Source Sans Pro Semibold" charset="0"/>
                <a:cs typeface="Source Sans Pro Semibold" charset="0"/>
              </a:rPr>
              <a:t>CCIG Property &amp; Casualty Team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i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urce Sans Pro Semibold" charset="0"/>
              </a:rPr>
              <a:t>Commercial Lines Advisory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dirty="0">
                <a:solidFill>
                  <a:schemeClr val="accent4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urce Sans Pro Semibold" charset="0"/>
              </a:rPr>
              <a:t>ccig.com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urce Sans Pro Semibold" charset="0"/>
              </a:rPr>
              <a:t>Denver  •  Austin  •  Phoenix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1269" y="380000"/>
            <a:ext cx="3000000" cy="13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yons-horz-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769" y="530000"/>
            <a:ext cx="2425000" cy="100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1269" y="1790000"/>
            <a:ext cx="4522271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C666"/>
                </a:solidFill>
                <a:latin typeface="Source Sans Pro Semibold"/>
              </a:rPr>
              <a:t>INSURANCE PROGRAM AUDIT &amp; RENEWAL STRATEGY</a:t>
            </a:r>
          </a:p>
        </p:txBody>
      </p:sp>
    </p:spTree>
    <p:extLst>
      <p:ext uri="{BB962C8B-B14F-4D97-AF65-F5344CB8AC3E}">
        <p14:creationId xmlns:p14="http://schemas.microsoft.com/office/powerpoint/2010/main" val="2458590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CF80C-DB2D-67E1-63BC-33C835817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53353E-8F67-B637-4B22-3D3250AABE67}"/>
              </a:ext>
            </a:extLst>
          </p:cNvPr>
          <p:cNvSpPr txBox="1"/>
          <p:nvPr/>
        </p:nvSpPr>
        <p:spPr>
          <a:xfrm>
            <a:off x="875347" y="368336"/>
            <a:ext cx="10447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EDECED"/>
                </a:solidFill>
                <a:effectLst/>
                <a:uLnTx/>
                <a:uFillTx/>
                <a:latin typeface="Playfair Display" panose="00000500000000000000" pitchFamily="2" charset="0"/>
                <a:ea typeface="+mn-ea"/>
                <a:cs typeface="+mn-cs"/>
              </a:rPr>
              <a:t>About CCIG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2A3267-E78D-6FB0-BFEB-0CD8CF1CC608}"/>
              </a:ext>
            </a:extLst>
          </p:cNvPr>
          <p:cNvCxnSpPr>
            <a:cxnSpLocks/>
          </p:cNvCxnSpPr>
          <p:nvPr/>
        </p:nvCxnSpPr>
        <p:spPr>
          <a:xfrm>
            <a:off x="963168" y="1060704"/>
            <a:ext cx="7484146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C2B4BCC-53A5-898A-7288-30383C0E934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03" t="-50" r="48813" b="50"/>
          <a:stretch/>
        </p:blipFill>
        <p:spPr>
          <a:xfrm>
            <a:off x="8447314" y="-3449"/>
            <a:ext cx="3744686" cy="686145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5D50EE-4D12-3E21-CCAE-618760B3F40D}"/>
              </a:ext>
            </a:extLst>
          </p:cNvPr>
          <p:cNvCxnSpPr/>
          <p:nvPr/>
        </p:nvCxnSpPr>
        <p:spPr>
          <a:xfrm>
            <a:off x="8447314" y="0"/>
            <a:ext cx="0" cy="685800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746C6CCD-0A94-7F24-5F0C-11B0D524DAB3}"/>
              </a:ext>
            </a:extLst>
          </p:cNvPr>
          <p:cNvSpPr txBox="1">
            <a:spLocks/>
          </p:cNvSpPr>
          <p:nvPr/>
        </p:nvSpPr>
        <p:spPr>
          <a:xfrm>
            <a:off x="9166380" y="6373917"/>
            <a:ext cx="20920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>
                <a:solidFill>
                  <a:schemeClr val="accent3"/>
                </a:solidFill>
                <a:latin typeface="Source Sans Pro" panose="020B0503030403020204" pitchFamily="34" charset="0"/>
                <a:cs typeface="Calibri Light" charset="0"/>
              </a:rPr>
              <a:t>© CCIG All Rights Reserved</a:t>
            </a:r>
            <a:endParaRPr lang="en-US">
              <a:solidFill>
                <a:schemeClr val="accent3"/>
              </a:solidFill>
            </a:endParaRP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EBE5F281-1022-38EB-8522-31F4D1B9C7CC}"/>
              </a:ext>
            </a:extLst>
          </p:cNvPr>
          <p:cNvSpPr txBox="1">
            <a:spLocks/>
          </p:cNvSpPr>
          <p:nvPr/>
        </p:nvSpPr>
        <p:spPr>
          <a:xfrm>
            <a:off x="11258417" y="6373483"/>
            <a:ext cx="460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6A10D1-A153-46BE-963E-0302FA5EFDF9}" type="slidenum">
              <a:rPr lang="en-US" smtClean="0">
                <a:solidFill>
                  <a:schemeClr val="accent3"/>
                </a:solidFill>
              </a:rPr>
              <a:pPr/>
              <a:t>2</a:t>
            </a:fld>
            <a:endParaRPr lang="en-US">
              <a:solidFill>
                <a:schemeClr val="accent3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F01E035-315A-6A7A-62CE-5387BF8125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029" y="6373668"/>
            <a:ext cx="1002589" cy="238414"/>
          </a:xfrm>
          <a:prstGeom prst="rect">
            <a:avLst/>
          </a:prstGeom>
        </p:spPr>
      </p:pic>
      <p:sp>
        <p:nvSpPr>
          <p:cNvPr id="17" name="Text - CCIG introduction">
            <a:extLst>
              <a:ext uri="{FF2B5EF4-FFF2-40B4-BE49-F238E27FC236}">
                <a16:creationId xmlns:a16="http://schemas.microsoft.com/office/drawing/2014/main" id="{900EB3FA-6000-A036-7950-9F94DACAF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168" y="1690975"/>
            <a:ext cx="3728242" cy="1731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 marL="0" marR="0">
              <a:lnSpc>
                <a:spcPct val="150000"/>
              </a:lnSpc>
            </a:pPr>
            <a:r>
              <a:rPr lang="en-US" sz="1000" dirty="0">
                <a:solidFill>
                  <a:srgbClr val="FFFFFF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Since 1985, CCIG has been a fiercely independent, rapidly growing insurance brokerage, delivering comprehensive risk management and insurance solutions to our diverse clientele. With a national presence, we employ over 100 seasoned insurance professionals and operate from our offices in Denver, CO, Austin, TX, and Phoenix, AZ.</a:t>
            </a:r>
            <a:endParaRPr lang="en-US" sz="1000" dirty="0">
              <a:solidFill>
                <a:srgbClr val="153243"/>
              </a:solidFill>
              <a:effectLst/>
              <a:latin typeface="Source Sans Pro Light" panose="020B0403030403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- CCIG introduction">
            <a:extLst>
              <a:ext uri="{FF2B5EF4-FFF2-40B4-BE49-F238E27FC236}">
                <a16:creationId xmlns:a16="http://schemas.microsoft.com/office/drawing/2014/main" id="{1318B132-EDAB-B2E5-FB19-9FBBCF588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168" y="1321447"/>
            <a:ext cx="3739460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000" b="1" dirty="0">
                <a:solidFill>
                  <a:srgbClr val="8FB24E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CCIG IS A FULL-SERVICE PRIVATE CLIENT, COMMERCIAL LINES, AND EMPLOYEE BENEFITS INSURANCE BROKERAGE.</a:t>
            </a:r>
            <a:endParaRPr lang="en-US" sz="1100" dirty="0">
              <a:solidFill>
                <a:srgbClr val="153243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 descr="A map of the united states&#10;&#10;AI-generated content may be incorrect.">
            <a:extLst>
              <a:ext uri="{FF2B5EF4-FFF2-40B4-BE49-F238E27FC236}">
                <a16:creationId xmlns:a16="http://schemas.microsoft.com/office/drawing/2014/main" id="{0D1A4D58-83EF-F769-36D0-2C926B6FB9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2629" y="1168298"/>
            <a:ext cx="3562350" cy="1731645"/>
          </a:xfrm>
          <a:prstGeom prst="rect">
            <a:avLst/>
          </a:prstGeom>
        </p:spPr>
      </p:pic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59D05C7-D2E7-2766-B31D-BE3875821648}"/>
              </a:ext>
            </a:extLst>
          </p:cNvPr>
          <p:cNvSpPr/>
          <p:nvPr/>
        </p:nvSpPr>
        <p:spPr>
          <a:xfrm>
            <a:off x="963167" y="3159074"/>
            <a:ext cx="2286000" cy="3300184"/>
          </a:xfrm>
          <a:prstGeom prst="roundRect">
            <a:avLst>
              <a:gd name="adj" fmla="val 896"/>
            </a:avLst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82880" rIns="137160" rtlCol="0" anchor="t"/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000" dirty="0">
                <a:solidFill>
                  <a:schemeClr val="bg1"/>
                </a:solidFill>
              </a:rPr>
              <a:t>CCIG's Private Client Group consists of 17 insurance professionals. This group of high-caliber experts focuses exclusively on providing tailored, strategic risk management solutions for your lifestyle and financial milestones.</a:t>
            </a:r>
            <a:endParaRPr lang="en-US" sz="1000" b="0" i="0" dirty="0">
              <a:solidFill>
                <a:schemeClr val="bg1"/>
              </a:solidFill>
              <a:effectLst/>
              <a:latin typeface="Source Sans Pro" panose="020B0503030403020204" pitchFamily="34" charset="0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0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Family insurance program review, analysis, and recommendation summary. </a:t>
            </a:r>
            <a:endParaRPr lang="en-US" sz="1000" dirty="0">
              <a:solidFill>
                <a:schemeClr val="bg1"/>
              </a:solidFill>
              <a:latin typeface="Source Sans Pro" panose="020B0503030403020204" pitchFamily="34" charset="0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n-US" sz="10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Proactive renewal touchpoints at 60 days and 30 days before renewal.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C263092-1AD4-A15D-8B1D-80EE5B15D98C}"/>
              </a:ext>
            </a:extLst>
          </p:cNvPr>
          <p:cNvSpPr/>
          <p:nvPr/>
        </p:nvSpPr>
        <p:spPr>
          <a:xfrm>
            <a:off x="3376133" y="3159074"/>
            <a:ext cx="2472108" cy="3300184"/>
          </a:xfrm>
          <a:prstGeom prst="roundRect">
            <a:avLst>
              <a:gd name="adj" fmla="val 828"/>
            </a:avLst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82880" rIns="137160" rtlCol="0" anchor="t"/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000" dirty="0">
                <a:solidFill>
                  <a:schemeClr val="bg1"/>
                </a:solidFill>
              </a:rPr>
              <a:t>CCIG provides the most comprehensive advice and tools needed to control costs and structure plans that meet the business’s strategic long-term goals.</a:t>
            </a:r>
          </a:p>
          <a:p>
            <a:pPr marR="0" lvl="0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ClrTx/>
              <a:buSzTx/>
              <a:tabLst/>
              <a:defRPr/>
            </a:pPr>
            <a:r>
              <a:rPr lang="en-US" sz="1000" dirty="0">
                <a:solidFill>
                  <a:schemeClr val="bg1"/>
                </a:solidFill>
                <a:latin typeface="Source Sans Pro"/>
              </a:rPr>
              <a:t>We provide Program design and deductible optimization claims advocacy, cl</a:t>
            </a: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aims reporting and trends, coverage review, and negotiation.</a:t>
            </a:r>
          </a:p>
          <a:p>
            <a:pPr marR="0" lvl="0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ClrTx/>
              <a:buSzTx/>
              <a:tabLst/>
              <a:defRPr/>
            </a:pPr>
            <a:r>
              <a:rPr lang="en-US" sz="1000" dirty="0">
                <a:solidFill>
                  <a:schemeClr val="bg1"/>
                </a:solidFill>
              </a:rPr>
              <a:t>As well as safety Consulting, </a:t>
            </a:r>
            <a:r>
              <a:rPr lang="en-US" sz="1000" dirty="0">
                <a:solidFill>
                  <a:schemeClr val="bg1"/>
                </a:solidFill>
                <a:latin typeface="Source Sans Pro"/>
              </a:rPr>
              <a:t>SAFE assessment, staff training, OSHA compliance, and cost </a:t>
            </a:r>
            <a:r>
              <a:rPr lang="en-US" sz="1000" dirty="0">
                <a:solidFill>
                  <a:schemeClr val="bg1"/>
                </a:solidFill>
              </a:rPr>
              <a:t>containment programs. </a:t>
            </a:r>
            <a:endParaRPr kumimoji="0" lang="en-US" sz="1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C951B09-1695-6952-7114-439170C28374}"/>
              </a:ext>
            </a:extLst>
          </p:cNvPr>
          <p:cNvSpPr/>
          <p:nvPr/>
        </p:nvSpPr>
        <p:spPr>
          <a:xfrm>
            <a:off x="5975207" y="3160685"/>
            <a:ext cx="2286000" cy="3300184"/>
          </a:xfrm>
          <a:prstGeom prst="roundRect">
            <a:avLst>
              <a:gd name="adj" fmla="val 1194"/>
            </a:avLst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82880" rIns="137160" rtlCol="0" anchor="t"/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000" dirty="0">
                <a:solidFill>
                  <a:schemeClr val="bg1"/>
                </a:solidFill>
              </a:rPr>
              <a:t>We inspire our clients to think about healthcare in a new way, empowering them to take control of their future.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1050" dirty="0">
                <a:solidFill>
                  <a:schemeClr val="bg1"/>
                </a:solidFill>
              </a:rPr>
              <a:t>Our comprehensive approach includes </a:t>
            </a:r>
            <a:r>
              <a:rPr lang="en-US" sz="1000" dirty="0">
                <a:solidFill>
                  <a:schemeClr val="bg1"/>
                </a:solidFill>
              </a:rPr>
              <a:t>care coordination, third-party administration, tailored stop-loss coverage, prescription benefits management (PBM), and cost-containment strategies.</a:t>
            </a: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000" dirty="0">
                <a:solidFill>
                  <a:schemeClr val="bg1"/>
                </a:solidFill>
              </a:rPr>
              <a:t>With data we collect through our partners and actuaries, we paint a picture of both the present and the future to drive the direction of changes to the benefit program.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C96186E-2501-5452-8DBE-C581D53E3662}"/>
              </a:ext>
            </a:extLst>
          </p:cNvPr>
          <p:cNvSpPr txBox="1"/>
          <p:nvPr/>
        </p:nvSpPr>
        <p:spPr>
          <a:xfrm>
            <a:off x="1391068" y="3038697"/>
            <a:ext cx="14301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spc="100" dirty="0">
                <a:solidFill>
                  <a:schemeClr val="accent2"/>
                </a:solidFill>
                <a:latin typeface="Source Sans Pro Semibold" panose="020B0603030403020204" pitchFamily="34" charset="0"/>
              </a:rPr>
              <a:t>PRIVATE CLIENT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ED17AB0-A1B8-4D39-6492-470467D62D3B}"/>
              </a:ext>
            </a:extLst>
          </p:cNvPr>
          <p:cNvSpPr txBox="1"/>
          <p:nvPr/>
        </p:nvSpPr>
        <p:spPr>
          <a:xfrm>
            <a:off x="3622173" y="3038697"/>
            <a:ext cx="1980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spc="100">
                <a:solidFill>
                  <a:schemeClr val="accent2"/>
                </a:solidFill>
                <a:latin typeface="Source Sans Pro Semibold" panose="020B0603030403020204" pitchFamily="34" charset="0"/>
              </a:rPr>
              <a:t>PROPERTY &amp; CASUALTY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A7D1AE-3545-447C-7F61-0196885A5190}"/>
              </a:ext>
            </a:extLst>
          </p:cNvPr>
          <p:cNvSpPr txBox="1"/>
          <p:nvPr/>
        </p:nvSpPr>
        <p:spPr>
          <a:xfrm>
            <a:off x="6221167" y="3038697"/>
            <a:ext cx="17940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spc="100" dirty="0">
                <a:solidFill>
                  <a:schemeClr val="accent2"/>
                </a:solidFill>
                <a:latin typeface="Source Sans Pro Semibold" panose="020B0603030403020204" pitchFamily="34" charset="0"/>
              </a:rPr>
              <a:t>EMPLOYEE BENEFITS</a:t>
            </a:r>
          </a:p>
        </p:txBody>
      </p:sp>
    </p:spTree>
    <p:extLst>
      <p:ext uri="{BB962C8B-B14F-4D97-AF65-F5344CB8AC3E}">
        <p14:creationId xmlns:p14="http://schemas.microsoft.com/office/powerpoint/2010/main" val="3861644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A4362D-DE69-1B53-3A14-7B1C13910FE2}"/>
              </a:ext>
            </a:extLst>
          </p:cNvPr>
          <p:cNvSpPr txBox="1"/>
          <p:nvPr/>
        </p:nvSpPr>
        <p:spPr>
          <a:xfrm>
            <a:off x="963168" y="1353092"/>
            <a:ext cx="10360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 combined swing of roughly 35% — before any base-rate changes are applied.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2107BAA-9630-7ECD-8B30-F91373DD96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6121013"/>
              </p:ext>
            </p:extLst>
          </p:nvPr>
        </p:nvGraphicFramePr>
        <p:xfrm>
          <a:off x="963168" y="1519630"/>
          <a:ext cx="10360152" cy="3665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6273BE5-F818-01A8-5E07-3B93E28CCD2C}"/>
              </a:ext>
            </a:extLst>
          </p:cNvPr>
          <p:cNvSpPr txBox="1"/>
          <p:nvPr/>
        </p:nvSpPr>
        <p:spPr>
          <a:xfrm>
            <a:off x="875347" y="368336"/>
            <a:ext cx="10447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i="1" dirty="0">
                <a:solidFill>
                  <a:schemeClr val="bg1"/>
                </a:solidFill>
                <a:latin typeface="Playfair Display" panose="00000500000000000000" pitchFamily="2" charset="0"/>
              </a:rPr>
              <a:t>Workers' Compensation: Experience Mod Swing</a:t>
            </a:r>
            <a:endParaRPr lang="en-US" sz="3200" b="1" i="1" dirty="0">
              <a:solidFill>
                <a:schemeClr val="bg1"/>
              </a:solidFill>
              <a:effectLst/>
              <a:latin typeface="Playfair Display" panose="00000500000000000000" pitchFamily="2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633BA1-466B-DD20-5259-2CAD8D9954D8}"/>
              </a:ext>
            </a:extLst>
          </p:cNvPr>
          <p:cNvCxnSpPr>
            <a:cxnSpLocks/>
          </p:cNvCxnSpPr>
          <p:nvPr/>
        </p:nvCxnSpPr>
        <p:spPr>
          <a:xfrm>
            <a:off x="963168" y="1060704"/>
            <a:ext cx="1036015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04688B6-4399-6195-5B1A-844A4F030DEC}"/>
              </a:ext>
            </a:extLst>
          </p:cNvPr>
          <p:cNvSpPr txBox="1"/>
          <p:nvPr/>
        </p:nvSpPr>
        <p:spPr>
          <a:xfrm>
            <a:off x="1296543" y="5535686"/>
            <a:ext cx="1036015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*Loss of the prior year's credit modification factor, combined with the new debit, equals an approximate 35% increase in Workers' Comp expense on the mod alone.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1100" i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Has leadership been notified of this increase ahead of the renewal?</a:t>
            </a:r>
            <a:endParaRPr lang="en-US" sz="14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178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28AA7-FAF6-F65C-E545-3453EA89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and holding pen and typing on computer">
            <a:extLst>
              <a:ext uri="{FF2B5EF4-FFF2-40B4-BE49-F238E27FC236}">
                <a16:creationId xmlns:a16="http://schemas.microsoft.com/office/drawing/2014/main" id="{81F7E57F-89EE-316F-C968-1339F741B81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2" b="18042"/>
          <a:stretch/>
        </p:blipFill>
        <p:spPr>
          <a:xfrm>
            <a:off x="0" y="-14045"/>
            <a:ext cx="5303599" cy="6868920"/>
          </a:xfrm>
          <a:prstGeom prst="rect">
            <a:avLst/>
          </a:prstGeom>
        </p:spPr>
      </p:pic>
      <p:pic>
        <p:nvPicPr>
          <p:cNvPr id="6" name="Picture 5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E8C12388-642A-F25F-80E9-C8A54DE0BF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839" y="288894"/>
            <a:ext cx="1941922" cy="53791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80EADAA-0A52-4CF7-F325-A9D4354284D6}"/>
              </a:ext>
            </a:extLst>
          </p:cNvPr>
          <p:cNvSpPr/>
          <p:nvPr/>
        </p:nvSpPr>
        <p:spPr>
          <a:xfrm rot="20653335" flipH="1">
            <a:off x="4095622" y="-463794"/>
            <a:ext cx="2284707" cy="7385760"/>
          </a:xfrm>
          <a:custGeom>
            <a:avLst/>
            <a:gdLst>
              <a:gd name="connsiteX0" fmla="*/ 0 w 2265938"/>
              <a:gd name="connsiteY0" fmla="*/ 0 h 7265195"/>
              <a:gd name="connsiteX1" fmla="*/ 2265938 w 2265938"/>
              <a:gd name="connsiteY1" fmla="*/ 0 h 7265195"/>
              <a:gd name="connsiteX2" fmla="*/ 2265938 w 2265938"/>
              <a:gd name="connsiteY2" fmla="*/ 7265195 h 7265195"/>
              <a:gd name="connsiteX3" fmla="*/ 0 w 2265938"/>
              <a:gd name="connsiteY3" fmla="*/ 7265195 h 7265195"/>
              <a:gd name="connsiteX4" fmla="*/ 0 w 2265938"/>
              <a:gd name="connsiteY4" fmla="*/ 0 h 7265195"/>
              <a:gd name="connsiteX0" fmla="*/ 0 w 2270509"/>
              <a:gd name="connsiteY0" fmla="*/ 677208 h 7265195"/>
              <a:gd name="connsiteX1" fmla="*/ 2270509 w 2270509"/>
              <a:gd name="connsiteY1" fmla="*/ 0 h 7265195"/>
              <a:gd name="connsiteX2" fmla="*/ 2270509 w 2270509"/>
              <a:gd name="connsiteY2" fmla="*/ 7265195 h 7265195"/>
              <a:gd name="connsiteX3" fmla="*/ 4571 w 2270509"/>
              <a:gd name="connsiteY3" fmla="*/ 7265195 h 7265195"/>
              <a:gd name="connsiteX4" fmla="*/ 0 w 2270509"/>
              <a:gd name="connsiteY4" fmla="*/ 677208 h 7265195"/>
              <a:gd name="connsiteX0" fmla="*/ 0 w 2270509"/>
              <a:gd name="connsiteY0" fmla="*/ 677208 h 7265195"/>
              <a:gd name="connsiteX1" fmla="*/ 2270509 w 2270509"/>
              <a:gd name="connsiteY1" fmla="*/ 0 h 7265195"/>
              <a:gd name="connsiteX2" fmla="*/ 2260458 w 2270509"/>
              <a:gd name="connsiteY2" fmla="*/ 7160280 h 7265195"/>
              <a:gd name="connsiteX3" fmla="*/ 4571 w 2270509"/>
              <a:gd name="connsiteY3" fmla="*/ 7265195 h 7265195"/>
              <a:gd name="connsiteX4" fmla="*/ 0 w 2270509"/>
              <a:gd name="connsiteY4" fmla="*/ 677208 h 7265195"/>
              <a:gd name="connsiteX0" fmla="*/ 0 w 2270509"/>
              <a:gd name="connsiteY0" fmla="*/ 677208 h 7401340"/>
              <a:gd name="connsiteX1" fmla="*/ 2270509 w 2270509"/>
              <a:gd name="connsiteY1" fmla="*/ 0 h 7401340"/>
              <a:gd name="connsiteX2" fmla="*/ 2260458 w 2270509"/>
              <a:gd name="connsiteY2" fmla="*/ 7160280 h 7401340"/>
              <a:gd name="connsiteX3" fmla="*/ 1394870 w 2270509"/>
              <a:gd name="connsiteY3" fmla="*/ 7401340 h 7401340"/>
              <a:gd name="connsiteX4" fmla="*/ 0 w 2270509"/>
              <a:gd name="connsiteY4" fmla="*/ 677208 h 7401340"/>
              <a:gd name="connsiteX0" fmla="*/ 0 w 2284707"/>
              <a:gd name="connsiteY0" fmla="*/ 661628 h 7385760"/>
              <a:gd name="connsiteX1" fmla="*/ 2284707 w 2284707"/>
              <a:gd name="connsiteY1" fmla="*/ 0 h 7385760"/>
              <a:gd name="connsiteX2" fmla="*/ 2260458 w 2284707"/>
              <a:gd name="connsiteY2" fmla="*/ 7144700 h 7385760"/>
              <a:gd name="connsiteX3" fmla="*/ 1394870 w 2284707"/>
              <a:gd name="connsiteY3" fmla="*/ 7385760 h 7385760"/>
              <a:gd name="connsiteX4" fmla="*/ 0 w 2284707"/>
              <a:gd name="connsiteY4" fmla="*/ 661628 h 738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4707" h="7385760">
                <a:moveTo>
                  <a:pt x="0" y="661628"/>
                </a:moveTo>
                <a:lnTo>
                  <a:pt x="2284707" y="0"/>
                </a:lnTo>
                <a:cubicBezTo>
                  <a:pt x="2281357" y="2386760"/>
                  <a:pt x="2263808" y="4757940"/>
                  <a:pt x="2260458" y="7144700"/>
                </a:cubicBezTo>
                <a:lnTo>
                  <a:pt x="1394870" y="7385760"/>
                </a:lnTo>
                <a:cubicBezTo>
                  <a:pt x="1393346" y="5189764"/>
                  <a:pt x="1524" y="2857624"/>
                  <a:pt x="0" y="66162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848F93-8071-28B6-C5E0-2B4119C2666A}"/>
              </a:ext>
            </a:extLst>
          </p:cNvPr>
          <p:cNvCxnSpPr>
            <a:stCxn id="5" idx="2"/>
            <a:endCxn id="5" idx="1"/>
          </p:cNvCxnSpPr>
          <p:nvPr/>
        </p:nvCxnSpPr>
        <p:spPr>
          <a:xfrm flipH="1" flipV="1">
            <a:off x="3134543" y="-14046"/>
            <a:ext cx="1966027" cy="686892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Title 1">
            <a:extLst>
              <a:ext uri="{FF2B5EF4-FFF2-40B4-BE49-F238E27FC236}">
                <a16:creationId xmlns:a16="http://schemas.microsoft.com/office/drawing/2014/main" id="{565A95ED-4C02-C2D5-06AB-5CFF3C8536ED}"/>
              </a:ext>
            </a:extLst>
          </p:cNvPr>
          <p:cNvSpPr txBox="1">
            <a:spLocks/>
          </p:cNvSpPr>
          <p:nvPr/>
        </p:nvSpPr>
        <p:spPr>
          <a:xfrm>
            <a:off x="4775200" y="2213487"/>
            <a:ext cx="5565923" cy="170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ayfair Display"/>
                <a:ea typeface="+mj-ea"/>
                <a:cs typeface="+mj-cs"/>
              </a:rPr>
              <a:t>Analysis of Current Program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ayfair Display"/>
                <a:ea typeface="+mj-ea"/>
                <a:cs typeface="+mj-cs"/>
              </a:rPr>
              <a:t>Key Audit Findings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4CBC6C0-43E1-2E52-A8EA-2F216C5867F9}"/>
              </a:ext>
            </a:extLst>
          </p:cNvPr>
          <p:cNvCxnSpPr>
            <a:cxnSpLocks/>
          </p:cNvCxnSpPr>
          <p:nvPr/>
        </p:nvCxnSpPr>
        <p:spPr>
          <a:xfrm>
            <a:off x="5731631" y="3434937"/>
            <a:ext cx="4407408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36D5C354-C23C-0EB6-77B4-F8DF3164CAE3}"/>
              </a:ext>
            </a:extLst>
          </p:cNvPr>
          <p:cNvSpPr txBox="1">
            <a:spLocks/>
          </p:cNvSpPr>
          <p:nvPr/>
        </p:nvSpPr>
        <p:spPr>
          <a:xfrm>
            <a:off x="9166380" y="6373917"/>
            <a:ext cx="20920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  <a:cs typeface="Calibri Light" charset="0"/>
              </a:rPr>
              <a:t>© CCIG All Rights Reserved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AA063ADE-195E-D4EF-528C-57B9FDC5EA0D}"/>
              </a:ext>
            </a:extLst>
          </p:cNvPr>
          <p:cNvSpPr txBox="1">
            <a:spLocks/>
          </p:cNvSpPr>
          <p:nvPr/>
        </p:nvSpPr>
        <p:spPr>
          <a:xfrm>
            <a:off x="11258417" y="6373483"/>
            <a:ext cx="460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6A10D1-A153-46BE-963E-0302FA5EFDF9}" type="slidenum">
              <a:rPr lang="en-US" smtClean="0">
                <a:solidFill>
                  <a:schemeClr val="bg1"/>
                </a:solidFill>
              </a:rPr>
              <a:pPr/>
              <a:t>6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014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98B1C-D188-F605-D07D-94E65FF6B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A85288-FB93-47C9-4325-2DC6E540F133}"/>
              </a:ext>
            </a:extLst>
          </p:cNvPr>
          <p:cNvSpPr txBox="1"/>
          <p:nvPr/>
        </p:nvSpPr>
        <p:spPr>
          <a:xfrm>
            <a:off x="875347" y="368336"/>
            <a:ext cx="10447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EDECED"/>
                </a:solidFill>
                <a:effectLst/>
                <a:uLnTx/>
                <a:uFillTx/>
                <a:latin typeface="Playfair Display" panose="00000500000000000000" pitchFamily="2" charset="0"/>
                <a:ea typeface="+mn-ea"/>
                <a:cs typeface="+mn-cs"/>
              </a:rPr>
              <a:t>Executive Summary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B5FBE2-6227-FDC0-7C10-EC0953E7FF11}"/>
              </a:ext>
            </a:extLst>
          </p:cNvPr>
          <p:cNvCxnSpPr>
            <a:cxnSpLocks/>
          </p:cNvCxnSpPr>
          <p:nvPr/>
        </p:nvCxnSpPr>
        <p:spPr>
          <a:xfrm>
            <a:off x="963168" y="1060704"/>
            <a:ext cx="1036015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AD4403A-4A3F-59EA-64C9-83EA31236B69}"/>
              </a:ext>
            </a:extLst>
          </p:cNvPr>
          <p:cNvSpPr txBox="1">
            <a:spLocks/>
          </p:cNvSpPr>
          <p:nvPr/>
        </p:nvSpPr>
        <p:spPr>
          <a:xfrm>
            <a:off x="963168" y="1322256"/>
            <a:ext cx="10360152" cy="469204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General Observations: A Fragmented Program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The program is spread across 10 different insurance carriers, which expressly opens it to gaps in coverage — named insureds, retentions/deductibles, definitions, and claims handling must all dovetail across every one of them.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Ten carriers means ten sets of invoices, billing departments, due dates, claims adjustors, and underwriters — a large administrative burden for your team.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This fragmentation also impedes Lyons' ability to leverage premium and coverage effectively.</a:t>
            </a:r>
          </a:p>
        </p:txBody>
      </p:sp>
    </p:spTree>
    <p:extLst>
      <p:ext uri="{BB962C8B-B14F-4D97-AF65-F5344CB8AC3E}">
        <p14:creationId xmlns:p14="http://schemas.microsoft.com/office/powerpoint/2010/main" val="326201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ED2F9-41E7-C829-14DA-91B6EBFC6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A982D0-CB51-C08A-EB9E-3C8D855C72B5}"/>
              </a:ext>
            </a:extLst>
          </p:cNvPr>
          <p:cNvSpPr txBox="1"/>
          <p:nvPr/>
        </p:nvSpPr>
        <p:spPr>
          <a:xfrm>
            <a:off x="875347" y="368336"/>
            <a:ext cx="10447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EDECED"/>
                </a:solidFill>
                <a:effectLst/>
                <a:uLnTx/>
                <a:uFillTx/>
                <a:latin typeface="Playfair Display" panose="00000500000000000000" pitchFamily="2" charset="0"/>
                <a:ea typeface="+mn-ea"/>
                <a:cs typeface="+mn-cs"/>
              </a:rPr>
              <a:t>Commercial General Liability: Coverage Exclusions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B443D01-4007-864C-A8B2-76D76F386975}"/>
              </a:ext>
            </a:extLst>
          </p:cNvPr>
          <p:cNvCxnSpPr>
            <a:cxnSpLocks/>
          </p:cNvCxnSpPr>
          <p:nvPr/>
        </p:nvCxnSpPr>
        <p:spPr>
          <a:xfrm>
            <a:off x="963168" y="1060704"/>
            <a:ext cx="1036015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342D130-C56B-9F58-A9B1-0848218D6EF0}"/>
              </a:ext>
            </a:extLst>
          </p:cNvPr>
          <p:cNvSpPr txBox="1">
            <a:spLocks/>
          </p:cNvSpPr>
          <p:nvPr/>
        </p:nvSpPr>
        <p:spPr>
          <a:xfrm>
            <a:off x="963168" y="1322256"/>
            <a:ext cx="10360152" cy="179541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The General Liability policy carries at least three, and possibly four, exclusions that materially narrow Lyons' coverage.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BBDDA6E-C097-56F0-7D99-C965D3989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717654"/>
              </p:ext>
            </p:extLst>
          </p:nvPr>
        </p:nvGraphicFramePr>
        <p:xfrm>
          <a:off x="2395369" y="3429000"/>
          <a:ext cx="7401261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>
                  <a:extLst>
                    <a:ext uri="{9D8B030D-6E8A-4147-A177-3AD203B41FA5}">
                      <a16:colId xmlns:a16="http://schemas.microsoft.com/office/drawing/2014/main" val="4114790986"/>
                    </a:ext>
                  </a:extLst>
                </a:gridCol>
                <a:gridCol w="2700630">
                  <a:extLst>
                    <a:ext uri="{9D8B030D-6E8A-4147-A177-3AD203B41FA5}">
                      <a16:colId xmlns:a16="http://schemas.microsoft.com/office/drawing/2014/main" val="1835534348"/>
                    </a:ext>
                  </a:extLst>
                </a:gridCol>
                <a:gridCol w="2700631">
                  <a:extLst>
                    <a:ext uri="{9D8B030D-6E8A-4147-A177-3AD203B41FA5}">
                      <a16:colId xmlns:a16="http://schemas.microsoft.com/office/drawing/2014/main" val="28482880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ource Sans Pro"/>
                        </a:rPr>
                        <a:t>Exclusion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ource Sans Pro"/>
                        </a:rPr>
                        <a:t>What's Excluded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ource Sans Pro"/>
                        </a:rPr>
                        <a:t>Why It Matters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939596"/>
                  </a:ext>
                </a:extLst>
              </a:tr>
              <a:tr h="15779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53243"/>
                          </a:solidFill>
                          <a:latin typeface="Source Sans Pro"/>
                        </a:rPr>
                        <a:t>New Entities</a:t>
                      </a:r>
                    </a:p>
                  </a:txBody>
                  <a:tcPr>
                    <a:solidFill>
                      <a:srgbClr val="BFC7C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3243"/>
                          </a:solidFill>
                          <a:latin typeface="Source Sans Pro"/>
                        </a:rPr>
                        <a:t>Newly formed or acquired entities are not automatically covered</a:t>
                      </a:r>
                    </a:p>
                  </a:txBody>
                  <a:tcPr anchor="b">
                    <a:solidFill>
                      <a:srgbClr val="BFC7C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3243"/>
                          </a:solidFill>
                          <a:latin typeface="Source Sans Pro"/>
                        </a:rPr>
                        <a:t>Any new Lyons/Canopy entity is unprotected until it is added</a:t>
                      </a:r>
                    </a:p>
                  </a:txBody>
                  <a:tcPr anchor="b">
                    <a:solidFill>
                      <a:srgbClr val="BFC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658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53243"/>
                          </a:solidFill>
                          <a:latin typeface="Source Sans Pro"/>
                        </a:rPr>
                        <a:t>Exterior Insulation &amp; Finish Systems (EIFS)</a:t>
                      </a:r>
                    </a:p>
                  </a:txBody>
                  <a:tcPr anchor="b">
                    <a:solidFill>
                      <a:srgbClr val="EDEC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3243"/>
                          </a:solidFill>
                          <a:latin typeface="Source Sans Pro"/>
                        </a:rPr>
                        <a:t>Work involving EIFS/stucco systems</a:t>
                      </a:r>
                    </a:p>
                  </a:txBody>
                  <a:tcPr anchor="b">
                    <a:solidFill>
                      <a:srgbClr val="EDEC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3243"/>
                          </a:solidFill>
                          <a:latin typeface="Source Sans Pro"/>
                        </a:rPr>
                        <a:t>A common exterior exposure carries no GL protection</a:t>
                      </a:r>
                    </a:p>
                  </a:txBody>
                  <a:tcPr anchor="b">
                    <a:solidFill>
                      <a:srgbClr val="ED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535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53243"/>
                          </a:solidFill>
                          <a:latin typeface="Source Sans Pro"/>
                        </a:rPr>
                        <a:t>Condominium, Townhome &amp; Tract Exclusion</a:t>
                      </a:r>
                    </a:p>
                  </a:txBody>
                  <a:tcPr anchor="b">
                    <a:solidFill>
                      <a:srgbClr val="BFC7C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3243"/>
                          </a:solidFill>
                          <a:latin typeface="Source Sans Pro"/>
                        </a:rPr>
                        <a:t>Multi-family and tract housing projects</a:t>
                      </a:r>
                    </a:p>
                  </a:txBody>
                  <a:tcPr anchor="b">
                    <a:solidFill>
                      <a:srgbClr val="BFC7C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3243"/>
                          </a:solidFill>
                          <a:latin typeface="Source Sans Pro"/>
                        </a:rPr>
                        <a:t>A large share of residential roofing work may fall outside coverage</a:t>
                      </a:r>
                    </a:p>
                  </a:txBody>
                  <a:tcPr anchor="b">
                    <a:solidFill>
                      <a:srgbClr val="BFC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566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53243"/>
                          </a:solidFill>
                          <a:latin typeface="Source Sans Pro"/>
                        </a:rPr>
                        <a:t>Open Roof / Roofing Operations Endorsement</a:t>
                      </a:r>
                    </a:p>
                  </a:txBody>
                  <a:tcPr anchor="b">
                    <a:solidFill>
                      <a:srgbClr val="EDEC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3243"/>
                          </a:solidFill>
                          <a:latin typeface="Source Sans Pro"/>
                        </a:rPr>
                        <a:t>Active roofing operations exposure</a:t>
                      </a:r>
                    </a:p>
                  </a:txBody>
                  <a:tcPr anchor="b">
                    <a:solidFill>
                      <a:srgbClr val="EDEC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3243"/>
                          </a:solidFill>
                          <a:latin typeface="Source Sans Pro"/>
                        </a:rPr>
                        <a:t>The core scope of Lyons' business may be excluded</a:t>
                      </a:r>
                    </a:p>
                  </a:txBody>
                  <a:tcPr anchor="b">
                    <a:solidFill>
                      <a:srgbClr val="ED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920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8289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3168" y="1400000"/>
            <a:ext cx="10265664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>
                <a:solidFill>
                  <a:srgbClr val="153243"/>
                </a:solidFill>
                <a:latin typeface="Playfair Display"/>
              </a:rPr>
              <a:t>Questions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6168" y="2150000"/>
            <a:ext cx="8999664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366E8E"/>
                </a:solidFill>
                <a:latin typeface="Source Sans Pro"/>
              </a:rPr>
              <a:t>Realistic objective: consolidate to 4–5 carriers for greater leverage, simpler billing, and a lighter administrative load.</a:t>
            </a:r>
          </a:p>
        </p:txBody>
      </p:sp>
    </p:spTree>
    <p:extLst>
      <p:ext uri="{BB962C8B-B14F-4D97-AF65-F5344CB8AC3E}">
        <p14:creationId xmlns:p14="http://schemas.microsoft.com/office/powerpoint/2010/main" val="1291100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10A85288-FB93-47C9-4325-2DC6E540F133}"/>
              </a:ext>
            </a:extLst>
          </p:cNvPr>
          <p:cNvSpPr txBox="1"/>
          <p:nvPr/>
        </p:nvSpPr>
        <p:spPr>
          <a:xfrm>
            <a:off x="875347" y="368336"/>
            <a:ext cx="10447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EDECED"/>
                </a:solidFill>
                <a:effectLst/>
                <a:uLnTx/>
                <a:uFillTx/>
                <a:latin typeface="Playfair Display" panose="00000500000000000000" pitchFamily="2" charset="0"/>
                <a:ea typeface="+mn-ea"/>
                <a:cs typeface="+mn-cs"/>
              </a:rPr>
              <a:t>Executive Summary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B5FBE2-6227-FDC0-7C10-EC0953E7FF11}"/>
              </a:ext>
            </a:extLst>
          </p:cNvPr>
          <p:cNvCxnSpPr>
            <a:cxnSpLocks/>
          </p:cNvCxnSpPr>
          <p:nvPr/>
        </p:nvCxnSpPr>
        <p:spPr>
          <a:xfrm>
            <a:off x="963168" y="1060704"/>
            <a:ext cx="1036015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AD4403A-4A3F-59EA-64C9-83EA31236B69}"/>
              </a:ext>
            </a:extLst>
          </p:cNvPr>
          <p:cNvSpPr txBox="1">
            <a:spLocks/>
          </p:cNvSpPr>
          <p:nvPr/>
        </p:nvSpPr>
        <p:spPr>
          <a:xfrm>
            <a:off x="963168" y="1322256"/>
            <a:ext cx="10360152" cy="469204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General Observations: The Cost of Mono-Line Coverage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Many ancillary coverages (CNA, Hanover, Cyber, etc.) are stand-alone, mono-line policies, each with a different carrier.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This diminishes Lyons' negotiating power and lets carriers place responsibility for a claim on each other.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Every additional stand-alone policy adds its own policy taxes, stamping fees, and broker fees — increasing Lyons' insurance costs unnecessarily.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10A85288-FB93-47C9-4325-2DC6E540F133}"/>
              </a:ext>
            </a:extLst>
          </p:cNvPr>
          <p:cNvSpPr txBox="1"/>
          <p:nvPr/>
        </p:nvSpPr>
        <p:spPr>
          <a:xfrm>
            <a:off x="875347" y="368336"/>
            <a:ext cx="10447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EDECED"/>
                </a:solidFill>
                <a:effectLst/>
                <a:uLnTx/>
                <a:uFillTx/>
                <a:latin typeface="Playfair Display" panose="00000500000000000000" pitchFamily="2" charset="0"/>
                <a:ea typeface="+mn-ea"/>
                <a:cs typeface="+mn-cs"/>
              </a:rPr>
              <a:t>Executive Summary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B5FBE2-6227-FDC0-7C10-EC0953E7FF11}"/>
              </a:ext>
            </a:extLst>
          </p:cNvPr>
          <p:cNvCxnSpPr>
            <a:cxnSpLocks/>
          </p:cNvCxnSpPr>
          <p:nvPr/>
        </p:nvCxnSpPr>
        <p:spPr>
          <a:xfrm>
            <a:off x="963168" y="1060704"/>
            <a:ext cx="1036015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AD4403A-4A3F-59EA-64C9-83EA31236B69}"/>
              </a:ext>
            </a:extLst>
          </p:cNvPr>
          <p:cNvSpPr txBox="1">
            <a:spLocks/>
          </p:cNvSpPr>
          <p:nvPr/>
        </p:nvSpPr>
        <p:spPr>
          <a:xfrm>
            <a:off x="963168" y="1322256"/>
            <a:ext cx="10360152" cy="469204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solidFill>
                  <a:srgbClr val="FFC666"/>
                </a:solidFill>
                <a:ln>
                  <a:noFill/>
                </a:ln>
                <a:effectLst/>
                <a:uLnTx/>
                <a:uFillTx/>
                <a:latin typeface="Source Sans Pro"/>
                <a:ea typeface="+mn-ea"/>
                <a:cs typeface="+mn-cs"/>
              </a:rPr>
              <a:t>Realistic Objective:  10 Carriers  →  4–5 Carriers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Consolidating to 4–5 carriers (carrier willingness and strategic approach permitting) increases Lyons' leverage.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Fewer carriers means simpler billing and a tremendous decrease in administrative burden.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A moderate, likely decrease in premium expense follows as a secondary benefit.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10A85288-FB93-47C9-4325-2DC6E540F133}"/>
              </a:ext>
            </a:extLst>
          </p:cNvPr>
          <p:cNvSpPr txBox="1"/>
          <p:nvPr/>
        </p:nvSpPr>
        <p:spPr>
          <a:xfrm>
            <a:off x="875347" y="368336"/>
            <a:ext cx="10447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EDECED"/>
                </a:solidFill>
                <a:effectLst/>
                <a:uLnTx/>
                <a:uFillTx/>
                <a:latin typeface="Playfair Display" panose="00000500000000000000" pitchFamily="2" charset="0"/>
                <a:ea typeface="+mn-ea"/>
                <a:cs typeface="+mn-cs"/>
              </a:rPr>
              <a:t>Property &amp; Inland Marine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B5FBE2-6227-FDC0-7C10-EC0953E7FF11}"/>
              </a:ext>
            </a:extLst>
          </p:cNvPr>
          <p:cNvCxnSpPr>
            <a:cxnSpLocks/>
          </p:cNvCxnSpPr>
          <p:nvPr/>
        </p:nvCxnSpPr>
        <p:spPr>
          <a:xfrm>
            <a:off x="963168" y="1060704"/>
            <a:ext cx="1036015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AD4403A-4A3F-59EA-64C9-83EA31236B69}"/>
              </a:ext>
            </a:extLst>
          </p:cNvPr>
          <p:cNvSpPr txBox="1">
            <a:spLocks/>
          </p:cNvSpPr>
          <p:nvPr/>
        </p:nvSpPr>
        <p:spPr>
          <a:xfrm>
            <a:off x="963168" y="1322256"/>
            <a:ext cx="10360152" cy="469204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Review replacement costs for Furniture, Fixtures, Stock/Inventory, and Machinery/Equipment — Agreed Value addresses the 90% co-insurance penalty, but a claim payout is still capped at the stated limit.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The Tucson location should be removed from the policy — confirm whether a lease has been signed for a replacement location.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The $25,000 Installation Floater limit should be reconfirmed; it may be insufficient for current operations.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10A85288-FB93-47C9-4325-2DC6E540F133}"/>
              </a:ext>
            </a:extLst>
          </p:cNvPr>
          <p:cNvSpPr txBox="1"/>
          <p:nvPr/>
        </p:nvSpPr>
        <p:spPr>
          <a:xfrm>
            <a:off x="875347" y="368336"/>
            <a:ext cx="10447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EDECED"/>
                </a:solidFill>
                <a:effectLst/>
                <a:uLnTx/>
                <a:uFillTx/>
                <a:latin typeface="Playfair Display" panose="00000500000000000000" pitchFamily="2" charset="0"/>
                <a:ea typeface="+mn-ea"/>
                <a:cs typeface="+mn-cs"/>
              </a:rPr>
              <a:t>CGL: Professional Liability &amp; Deductible Exposure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B5FBE2-6227-FDC0-7C10-EC0953E7FF11}"/>
              </a:ext>
            </a:extLst>
          </p:cNvPr>
          <p:cNvCxnSpPr>
            <a:cxnSpLocks/>
          </p:cNvCxnSpPr>
          <p:nvPr/>
        </p:nvCxnSpPr>
        <p:spPr>
          <a:xfrm>
            <a:off x="963168" y="1060704"/>
            <a:ext cx="1036015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AD4403A-4A3F-59EA-64C9-83EA31236B69}"/>
              </a:ext>
            </a:extLst>
          </p:cNvPr>
          <p:cNvSpPr txBox="1">
            <a:spLocks/>
          </p:cNvSpPr>
          <p:nvPr/>
        </p:nvSpPr>
        <p:spPr>
          <a:xfrm>
            <a:off x="963168" y="1322256"/>
            <a:ext cx="10360152" cy="469204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No apparent coverage for Contractor's Professional Liability — a gap if Lyons prepares, approves, or recommends drawings, specs, change orders, or hazard-assessment plans.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Also a gap if Lyons performs supervisory, inspection, training, or engineering services, or commercial/industrial hygiene, air monitoring, or consulting work.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A $10,000 per-occurrence deductible applies to every Bodily Injury, Property Damage, Personal Injury, and Advertising Injury claim.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10A85288-FB93-47C9-4325-2DC6E540F133}"/>
              </a:ext>
            </a:extLst>
          </p:cNvPr>
          <p:cNvSpPr txBox="1"/>
          <p:nvPr/>
        </p:nvSpPr>
        <p:spPr>
          <a:xfrm>
            <a:off x="875347" y="368336"/>
            <a:ext cx="10447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EDECED"/>
                </a:solidFill>
                <a:effectLst/>
                <a:uLnTx/>
                <a:uFillTx/>
                <a:latin typeface="Playfair Display" panose="00000500000000000000" pitchFamily="2" charset="0"/>
                <a:ea typeface="+mn-ea"/>
                <a:cs typeface="+mn-cs"/>
              </a:rPr>
              <a:t>Unmanned Aircraft Systems (Drone Liability)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B5FBE2-6227-FDC0-7C10-EC0953E7FF11}"/>
              </a:ext>
            </a:extLst>
          </p:cNvPr>
          <p:cNvCxnSpPr>
            <a:cxnSpLocks/>
          </p:cNvCxnSpPr>
          <p:nvPr/>
        </p:nvCxnSpPr>
        <p:spPr>
          <a:xfrm>
            <a:off x="963168" y="1060704"/>
            <a:ext cx="1036015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AD4403A-4A3F-59EA-64C9-83EA31236B69}"/>
              </a:ext>
            </a:extLst>
          </p:cNvPr>
          <p:cNvSpPr txBox="1">
            <a:spLocks/>
          </p:cNvSpPr>
          <p:nvPr/>
        </p:nvSpPr>
        <p:spPr>
          <a:xfrm>
            <a:off x="963168" y="1322256"/>
            <a:ext cx="10360152" cy="469204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The only evidence on file is an APPLICATION for drone liability coverage — not a bound policy.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The application expressly states that no insurance is afforded on the basis of the application alone.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This could put Lyons out of compliance with contractual drone-liability obligations owed to customers.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10A85288-FB93-47C9-4325-2DC6E540F133}"/>
              </a:ext>
            </a:extLst>
          </p:cNvPr>
          <p:cNvSpPr txBox="1"/>
          <p:nvPr/>
        </p:nvSpPr>
        <p:spPr>
          <a:xfrm>
            <a:off x="875347" y="368336"/>
            <a:ext cx="10447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EDECED"/>
                </a:solidFill>
                <a:effectLst/>
                <a:uLnTx/>
                <a:uFillTx/>
                <a:latin typeface="Playfair Display" panose="00000500000000000000" pitchFamily="2" charset="0"/>
                <a:ea typeface="+mn-ea"/>
                <a:cs typeface="+mn-cs"/>
              </a:rPr>
              <a:t>Crime / ERISA / Employee Theft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B5FBE2-6227-FDC0-7C10-EC0953E7FF11}"/>
              </a:ext>
            </a:extLst>
          </p:cNvPr>
          <p:cNvCxnSpPr>
            <a:cxnSpLocks/>
          </p:cNvCxnSpPr>
          <p:nvPr/>
        </p:nvCxnSpPr>
        <p:spPr>
          <a:xfrm>
            <a:off x="963168" y="1060704"/>
            <a:ext cx="1036015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AD4403A-4A3F-59EA-64C9-83EA31236B69}"/>
              </a:ext>
            </a:extLst>
          </p:cNvPr>
          <p:cNvSpPr txBox="1">
            <a:spLocks/>
          </p:cNvSpPr>
          <p:nvPr/>
        </p:nvSpPr>
        <p:spPr>
          <a:xfrm>
            <a:off x="963168" y="1322256"/>
            <a:ext cx="10360152" cy="469204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The current fidelity bond limit is $200,000 — is this figure still accurate?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Recommend confirming when the bond amount was last corroborated against the retirement plan's current asset value.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An outdated bond limit can leave the plan and its fiduciaries under-protected.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10A85288-FB93-47C9-4325-2DC6E540F133}"/>
              </a:ext>
            </a:extLst>
          </p:cNvPr>
          <p:cNvSpPr txBox="1"/>
          <p:nvPr/>
        </p:nvSpPr>
        <p:spPr>
          <a:xfrm>
            <a:off x="875347" y="368336"/>
            <a:ext cx="10447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EDECED"/>
                </a:solidFill>
                <a:effectLst/>
                <a:uLnTx/>
                <a:uFillTx/>
                <a:latin typeface="Playfair Display" panose="00000500000000000000" pitchFamily="2" charset="0"/>
                <a:ea typeface="+mn-ea"/>
                <a:cs typeface="+mn-cs"/>
              </a:rPr>
              <a:t>Named Insureds Missing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B5FBE2-6227-FDC0-7C10-EC0953E7FF11}"/>
              </a:ext>
            </a:extLst>
          </p:cNvPr>
          <p:cNvCxnSpPr>
            <a:cxnSpLocks/>
          </p:cNvCxnSpPr>
          <p:nvPr/>
        </p:nvCxnSpPr>
        <p:spPr>
          <a:xfrm>
            <a:off x="963168" y="1060704"/>
            <a:ext cx="1036015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AD4403A-4A3F-59EA-64C9-83EA31236B69}"/>
              </a:ext>
            </a:extLst>
          </p:cNvPr>
          <p:cNvSpPr txBox="1">
            <a:spLocks/>
          </p:cNvSpPr>
          <p:nvPr/>
        </p:nvSpPr>
        <p:spPr>
          <a:xfrm>
            <a:off x="963168" y="1322256"/>
            <a:ext cx="10360152" cy="469204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solidFill>
                  <a:srgbClr val="FFC666"/>
                </a:solidFill>
                <a:ln>
                  <a:noFill/>
                </a:ln>
                <a:effectLst/>
                <a:uLnTx/>
                <a:uFillTx/>
                <a:latin typeface="Source Sans Pro"/>
                <a:ea typeface="+mn-ea"/>
                <a:cs typeface="+mn-cs"/>
              </a:rPr>
              <a:t>The Most Alarming Exposure to Risk — Immediate Action Needed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Multiple Canopy Home Services operating and holding entities are not confirmed as named insureds across the program.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As drafted, any unnamed entity has no coverage for General Liability, Auto, or Workers' Compensation claims.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Unnamed entities also have no protection under any Excess/Umbrella, Drone, Cyber, EPLI, D&amp;O/Fiduciary, or Pollution Liability policy.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F3A982D0-CB51-C08A-EB9E-3C8D855C72B5}"/>
              </a:ext>
            </a:extLst>
          </p:cNvPr>
          <p:cNvSpPr txBox="1"/>
          <p:nvPr/>
        </p:nvSpPr>
        <p:spPr>
          <a:xfrm>
            <a:off x="875347" y="368336"/>
            <a:ext cx="10447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EDECED"/>
                </a:solidFill>
                <a:effectLst/>
                <a:uLnTx/>
                <a:uFillTx/>
                <a:latin typeface="Playfair Display" panose="00000500000000000000" pitchFamily="2" charset="0"/>
                <a:ea typeface="+mn-ea"/>
                <a:cs typeface="+mn-cs"/>
              </a:rPr>
              <a:t>Commercial Umbrella / Excess Liability: Duplication &amp; Gap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B443D01-4007-864C-A8B2-76D76F386975}"/>
              </a:ext>
            </a:extLst>
          </p:cNvPr>
          <p:cNvCxnSpPr>
            <a:cxnSpLocks/>
          </p:cNvCxnSpPr>
          <p:nvPr/>
        </p:nvCxnSpPr>
        <p:spPr>
          <a:xfrm>
            <a:off x="963168" y="1060704"/>
            <a:ext cx="1036015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342D130-C56B-9F58-A9B1-0848218D6EF0}"/>
              </a:ext>
            </a:extLst>
          </p:cNvPr>
          <p:cNvSpPr txBox="1">
            <a:spLocks/>
          </p:cNvSpPr>
          <p:nvPr/>
        </p:nvSpPr>
        <p:spPr>
          <a:xfrm>
            <a:off x="963168" y="1322256"/>
            <a:ext cx="10360152" cy="179541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Two excess liability policies appear to duplicate coverage while leaving a critical residential-work gap.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BBDDA6E-C097-56F0-7D99-C965D3989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717654"/>
              </p:ext>
            </p:extLst>
          </p:nvPr>
        </p:nvGraphicFramePr>
        <p:xfrm>
          <a:off x="2395369" y="3429000"/>
          <a:ext cx="7401261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4114790986"/>
                    </a:ext>
                  </a:extLst>
                </a:gridCol>
                <a:gridCol w="4101261">
                  <a:extLst>
                    <a:ext uri="{9D8B030D-6E8A-4147-A177-3AD203B41FA5}">
                      <a16:colId xmlns:a16="http://schemas.microsoft.com/office/drawing/2014/main" val="1835534348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8482880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ource Sans Pro"/>
                        </a:rPr>
                        <a:t>Excess Policy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ource Sans Pro"/>
                        </a:rPr>
                        <a:t>Limit / Attaches Over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ource Sans Pro"/>
                        </a:rPr>
                        <a:t>Annual Premium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939596"/>
                  </a:ext>
                </a:extLst>
              </a:tr>
              <a:tr h="15779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53243"/>
                          </a:solidFill>
                          <a:latin typeface="Source Sans Pro"/>
                        </a:rPr>
                        <a:t>Policy 1</a:t>
                      </a:r>
                    </a:p>
                  </a:txBody>
                  <a:tcPr>
                    <a:solidFill>
                      <a:srgbClr val="BFC7C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3243"/>
                          </a:solidFill>
                          <a:latin typeface="Source Sans Pro"/>
                        </a:rPr>
                        <a:t>$6,000,000 — sits only over the Business Auto policy</a:t>
                      </a:r>
                    </a:p>
                  </a:txBody>
                  <a:tcPr anchor="b">
                    <a:solidFill>
                      <a:srgbClr val="BFC7C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3243"/>
                          </a:solidFill>
                          <a:latin typeface="Source Sans Pro"/>
                        </a:rPr>
                        <a:t>$55,000</a:t>
                      </a:r>
                    </a:p>
                  </a:txBody>
                  <a:tcPr anchor="b">
                    <a:solidFill>
                      <a:srgbClr val="BFC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658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53243"/>
                          </a:solidFill>
                          <a:latin typeface="Source Sans Pro"/>
                        </a:rPr>
                        <a:t>Policy 2</a:t>
                      </a:r>
                    </a:p>
                  </a:txBody>
                  <a:tcPr anchor="b">
                    <a:solidFill>
                      <a:srgbClr val="EDEC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3243"/>
                          </a:solidFill>
                          <a:latin typeface="Source Sans Pro"/>
                        </a:rPr>
                        <a:t>$5,000,000 — sits only over Commercial General Liability; excludes all residential work except apartments</a:t>
                      </a:r>
                    </a:p>
                  </a:txBody>
                  <a:tcPr anchor="b">
                    <a:solidFill>
                      <a:srgbClr val="EDEC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3243"/>
                          </a:solidFill>
                          <a:latin typeface="Source Sans Pro"/>
                        </a:rPr>
                        <a:t>$25,000</a:t>
                      </a:r>
                    </a:p>
                  </a:txBody>
                  <a:tcPr anchor="b">
                    <a:solidFill>
                      <a:srgbClr val="ED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53575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63168" y="5300000"/>
            <a:ext cx="10360152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C666"/>
                </a:solidFill>
                <a:latin typeface="Source Sans Pro"/>
              </a:rPr>
              <a:t>Neither excess policy sits in excess of Employers' Liability (Workers' Compensation, Part Two) — and current Certificates of Liability Insurance do not reflect this structure, evidencing inaccurate coverage information.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F3A982D0-CB51-C08A-EB9E-3C8D855C72B5}"/>
              </a:ext>
            </a:extLst>
          </p:cNvPr>
          <p:cNvSpPr txBox="1"/>
          <p:nvPr/>
        </p:nvSpPr>
        <p:spPr>
          <a:xfrm>
            <a:off x="875347" y="368336"/>
            <a:ext cx="10447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EDECED"/>
                </a:solidFill>
                <a:effectLst/>
                <a:uLnTx/>
                <a:uFillTx/>
                <a:latin typeface="Playfair Display" panose="00000500000000000000" pitchFamily="2" charset="0"/>
                <a:ea typeface="+mn-ea"/>
                <a:cs typeface="+mn-cs"/>
              </a:rPr>
              <a:t>Named Insureds Missing: Coverage Gap Matrix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B443D01-4007-864C-A8B2-76D76F386975}"/>
              </a:ext>
            </a:extLst>
          </p:cNvPr>
          <p:cNvCxnSpPr>
            <a:cxnSpLocks/>
          </p:cNvCxnSpPr>
          <p:nvPr/>
        </p:nvCxnSpPr>
        <p:spPr>
          <a:xfrm>
            <a:off x="963168" y="1060704"/>
            <a:ext cx="1036015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342D130-C56B-9F58-A9B1-0848218D6EF0}"/>
              </a:ext>
            </a:extLst>
          </p:cNvPr>
          <p:cNvSpPr txBox="1">
            <a:spLocks/>
          </p:cNvSpPr>
          <p:nvPr/>
        </p:nvSpPr>
        <p:spPr>
          <a:xfrm>
            <a:off x="963168" y="1322256"/>
            <a:ext cx="10360152" cy="500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Per the Canopy Home Services ownership structure, every coverage line below currently excludes any entity not listed as a named insured.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BBDDA6E-C097-56F0-7D99-C965D3989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717654"/>
              </p:ext>
            </p:extLst>
          </p:nvPr>
        </p:nvGraphicFramePr>
        <p:xfrm>
          <a:off x="2395369" y="1900000"/>
          <a:ext cx="7401261" cy="3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4114790986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1835534348"/>
                    </a:ext>
                  </a:extLst>
                </a:gridCol>
                <a:gridCol w="1601261">
                  <a:extLst>
                    <a:ext uri="{9D8B030D-6E8A-4147-A177-3AD203B41FA5}">
                      <a16:colId xmlns:a16="http://schemas.microsoft.com/office/drawing/2014/main" val="2848288046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ource Sans Pro"/>
                        </a:rPr>
                        <a:t>Coverage Line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ource Sans Pro"/>
                        </a:rPr>
                        <a:t>Status for Unlisted Entities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ource Sans Pro"/>
                        </a:rPr>
                        <a:t>Action Needed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939596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3243"/>
                          </a:solidFill>
                          <a:latin typeface="Source Sans Pro"/>
                        </a:rPr>
                        <a:t>General Liability</a:t>
                      </a:r>
                    </a:p>
                  </a:txBody>
                  <a:tcPr>
                    <a:solidFill>
                      <a:srgbClr val="BFC7C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3243"/>
                          </a:solidFill>
                          <a:latin typeface="Source Sans Pro"/>
                        </a:rPr>
                        <a:t>No coverage</a:t>
                      </a:r>
                    </a:p>
                  </a:txBody>
                  <a:tcPr anchor="b">
                    <a:solidFill>
                      <a:srgbClr val="BFC7C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3243"/>
                          </a:solidFill>
                          <a:latin typeface="Source Sans Pro"/>
                        </a:rPr>
                        <a:t>Add as named insured</a:t>
                      </a:r>
                    </a:p>
                  </a:txBody>
                  <a:tcPr anchor="b">
                    <a:solidFill>
                      <a:srgbClr val="BFC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65832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3243"/>
                          </a:solidFill>
                          <a:latin typeface="Source Sans Pro"/>
                        </a:rPr>
                        <a:t>Business Auto</a:t>
                      </a:r>
                    </a:p>
                  </a:txBody>
                  <a:tcPr anchor="b">
                    <a:solidFill>
                      <a:srgbClr val="EDEC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3243"/>
                          </a:solidFill>
                          <a:latin typeface="Source Sans Pro"/>
                        </a:rPr>
                        <a:t>No coverage</a:t>
                      </a:r>
                    </a:p>
                  </a:txBody>
                  <a:tcPr anchor="b">
                    <a:solidFill>
                      <a:srgbClr val="EDEC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3243"/>
                          </a:solidFill>
                          <a:latin typeface="Source Sans Pro"/>
                        </a:rPr>
                        <a:t>Add as named insured</a:t>
                      </a:r>
                    </a:p>
                  </a:txBody>
                  <a:tcPr anchor="b">
                    <a:solidFill>
                      <a:srgbClr val="ED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535758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3243"/>
                          </a:solidFill>
                          <a:latin typeface="Source Sans Pro"/>
                        </a:rPr>
                        <a:t>Workers' Compensation</a:t>
                      </a:r>
                    </a:p>
                  </a:txBody>
                  <a:tcPr anchor="b">
                    <a:solidFill>
                      <a:srgbClr val="BFC7C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3243"/>
                          </a:solidFill>
                          <a:latin typeface="Source Sans Pro"/>
                        </a:rPr>
                        <a:t>No coverage</a:t>
                      </a:r>
                    </a:p>
                  </a:txBody>
                  <a:tcPr anchor="b">
                    <a:solidFill>
                      <a:srgbClr val="BFC7C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3243"/>
                          </a:solidFill>
                          <a:latin typeface="Source Sans Pro"/>
                        </a:rPr>
                        <a:t>Add as named insured</a:t>
                      </a:r>
                    </a:p>
                  </a:txBody>
                  <a:tcPr anchor="b">
                    <a:solidFill>
                      <a:srgbClr val="BFC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56669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3243"/>
                          </a:solidFill>
                          <a:latin typeface="Source Sans Pro"/>
                        </a:rPr>
                        <a:t>Excess / Umbrella Liability (all policies)</a:t>
                      </a:r>
                    </a:p>
                  </a:txBody>
                  <a:tcPr anchor="b">
                    <a:solidFill>
                      <a:srgbClr val="EDEC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3243"/>
                          </a:solidFill>
                          <a:latin typeface="Source Sans Pro"/>
                        </a:rPr>
                        <a:t>No coverage</a:t>
                      </a:r>
                    </a:p>
                  </a:txBody>
                  <a:tcPr anchor="b">
                    <a:solidFill>
                      <a:srgbClr val="EDEC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3243"/>
                          </a:solidFill>
                          <a:latin typeface="Source Sans Pro"/>
                        </a:rPr>
                        <a:t>Add as named insured</a:t>
                      </a:r>
                    </a:p>
                  </a:txBody>
                  <a:tcPr anchor="b">
                    <a:solidFill>
                      <a:srgbClr val="ED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920046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3243"/>
                          </a:solidFill>
                          <a:latin typeface="Source Sans Pro"/>
                        </a:rPr>
                        <a:t>Unmanned Aircraft (Drone) Liability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C7C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3243"/>
                          </a:solidFill>
                          <a:latin typeface="Source Sans Pro"/>
                        </a:rPr>
                        <a:t>No coverage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C7C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3243"/>
                          </a:solidFill>
                          <a:latin typeface="Source Sans Pro"/>
                        </a:rPr>
                        <a:t>Add as named insured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C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045699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3243"/>
                          </a:solidFill>
                          <a:latin typeface="Source Sans Pro"/>
                        </a:rPr>
                        <a:t>Cyber Liability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3243"/>
                          </a:solidFill>
                          <a:latin typeface="Source Sans Pro"/>
                        </a:rPr>
                        <a:t>No coverage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3243"/>
                          </a:solidFill>
                          <a:latin typeface="Source Sans Pro"/>
                        </a:rPr>
                        <a:t>Add as named insured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045699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3243"/>
                          </a:solidFill>
                          <a:latin typeface="Source Sans Pro"/>
                        </a:rPr>
                        <a:t>Employment Practices Liability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C7C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3243"/>
                          </a:solidFill>
                          <a:latin typeface="Source Sans Pro"/>
                        </a:rPr>
                        <a:t>No coverage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C7C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3243"/>
                          </a:solidFill>
                          <a:latin typeface="Source Sans Pro"/>
                        </a:rPr>
                        <a:t>Add as named insured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C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045699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3243"/>
                          </a:solidFill>
                          <a:latin typeface="Source Sans Pro"/>
                        </a:rPr>
                        <a:t>Directors &amp; Officers / Fiduciary Liability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3243"/>
                          </a:solidFill>
                          <a:latin typeface="Source Sans Pro"/>
                        </a:rPr>
                        <a:t>No coverage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3243"/>
                          </a:solidFill>
                          <a:latin typeface="Source Sans Pro"/>
                        </a:rPr>
                        <a:t>Add as named insured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045699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3243"/>
                          </a:solidFill>
                          <a:latin typeface="Source Sans Pro"/>
                        </a:rPr>
                        <a:t>Pollution Liability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C7C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3243"/>
                          </a:solidFill>
                          <a:latin typeface="Source Sans Pro"/>
                        </a:rPr>
                        <a:t>No coverage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C7C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3243"/>
                          </a:solidFill>
                          <a:latin typeface="Source Sans Pro"/>
                        </a:rPr>
                        <a:t>Add as named insured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C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04569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F3A982D0-CB51-C08A-EB9E-3C8D855C72B5}"/>
              </a:ext>
            </a:extLst>
          </p:cNvPr>
          <p:cNvSpPr txBox="1"/>
          <p:nvPr/>
        </p:nvSpPr>
        <p:spPr>
          <a:xfrm>
            <a:off x="875347" y="368336"/>
            <a:ext cx="10447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EDECED"/>
                </a:solidFill>
                <a:effectLst/>
                <a:uLnTx/>
                <a:uFillTx/>
                <a:latin typeface="Playfair Display" panose="00000500000000000000" pitchFamily="2" charset="0"/>
                <a:ea typeface="+mn-ea"/>
                <a:cs typeface="+mn-cs"/>
              </a:rPr>
              <a:t>Appendix: Referenced Documentation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B443D01-4007-864C-A8B2-76D76F386975}"/>
              </a:ext>
            </a:extLst>
          </p:cNvPr>
          <p:cNvCxnSpPr>
            <a:cxnSpLocks/>
          </p:cNvCxnSpPr>
          <p:nvPr/>
        </p:nvCxnSpPr>
        <p:spPr>
          <a:xfrm>
            <a:off x="963168" y="1060704"/>
            <a:ext cx="1036015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342D130-C56B-9F58-A9B1-0848218D6EF0}"/>
              </a:ext>
            </a:extLst>
          </p:cNvPr>
          <p:cNvSpPr txBox="1">
            <a:spLocks/>
          </p:cNvSpPr>
          <p:nvPr/>
        </p:nvSpPr>
        <p:spPr>
          <a:xfrm>
            <a:off x="963168" y="1322256"/>
            <a:ext cx="10360152" cy="450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Findings throughout this presentation are supported by the following policy documents and exhibits.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BBDDA6E-C097-56F0-7D99-C965D3989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717654"/>
              </p:ext>
            </p:extLst>
          </p:nvPr>
        </p:nvGraphicFramePr>
        <p:xfrm>
          <a:off x="963168" y="1850000"/>
          <a:ext cx="10360152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000">
                  <a:extLst>
                    <a:ext uri="{9D8B030D-6E8A-4147-A177-3AD203B41FA5}">
                      <a16:colId xmlns:a16="http://schemas.microsoft.com/office/drawing/2014/main" val="4114790986"/>
                    </a:ext>
                  </a:extLst>
                </a:gridCol>
                <a:gridCol w="3800000">
                  <a:extLst>
                    <a:ext uri="{9D8B030D-6E8A-4147-A177-3AD203B41FA5}">
                      <a16:colId xmlns:a16="http://schemas.microsoft.com/office/drawing/2014/main" val="1835534348"/>
                    </a:ext>
                  </a:extLst>
                </a:gridCol>
                <a:gridCol w="3151261">
                  <a:extLst>
                    <a:ext uri="{9D8B030D-6E8A-4147-A177-3AD203B41FA5}">
                      <a16:colId xmlns:a16="http://schemas.microsoft.com/office/drawing/2014/main" val="2848288046"/>
                    </a:ext>
                  </a:extLst>
                </a:gridCol>
              </a:tblGrid>
              <a:tr h="35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ource Sans Pro"/>
                        </a:rPr>
                        <a:t>#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ource Sans Pro"/>
                        </a:rPr>
                        <a:t>Source Document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ource Sans Pro"/>
                        </a:rPr>
                        <a:t>Referenced Pages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939596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53243"/>
                          </a:solidFill>
                          <a:latin typeface="Source Sans Pro"/>
                        </a:rPr>
                        <a:t>1</a:t>
                      </a:r>
                    </a:p>
                  </a:txBody>
                  <a:tcPr>
                    <a:solidFill>
                      <a:srgbClr val="BFC7C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3243"/>
                          </a:solidFill>
                          <a:latin typeface="Source Sans Pro"/>
                        </a:rPr>
                        <a:t>2526 CPKG Policy – Selective</a:t>
                      </a:r>
                    </a:p>
                  </a:txBody>
                  <a:tcPr anchor="b">
                    <a:solidFill>
                      <a:srgbClr val="BFC7C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3243"/>
                          </a:solidFill>
                          <a:latin typeface="Source Sans Pro"/>
                        </a:rPr>
                        <a:t>Pg. 1 of 253; pp. 45, 54, 55</a:t>
                      </a:r>
                    </a:p>
                  </a:txBody>
                  <a:tcPr anchor="b">
                    <a:solidFill>
                      <a:srgbClr val="BFC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658322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53243"/>
                          </a:solidFill>
                          <a:latin typeface="Source Sans Pro"/>
                        </a:rPr>
                        <a:t>2</a:t>
                      </a:r>
                    </a:p>
                  </a:txBody>
                  <a:tcPr anchor="b">
                    <a:solidFill>
                      <a:srgbClr val="EDEC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3243"/>
                          </a:solidFill>
                          <a:latin typeface="Source Sans Pro"/>
                        </a:rPr>
                        <a:t>2526 GL Policy – United Specialty</a:t>
                      </a:r>
                    </a:p>
                  </a:txBody>
                  <a:tcPr anchor="b">
                    <a:solidFill>
                      <a:srgbClr val="EDEC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3243"/>
                          </a:solidFill>
                          <a:latin typeface="Source Sans Pro"/>
                        </a:rPr>
                        <a:t>pp. 2, 3, 4, 24, 28, 31, 46, 61, 62–63</a:t>
                      </a:r>
                    </a:p>
                  </a:txBody>
                  <a:tcPr anchor="b">
                    <a:solidFill>
                      <a:srgbClr val="ED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535758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53243"/>
                          </a:solidFill>
                          <a:latin typeface="Source Sans Pro"/>
                        </a:rPr>
                        <a:t>3</a:t>
                      </a:r>
                    </a:p>
                  </a:txBody>
                  <a:tcPr anchor="b">
                    <a:solidFill>
                      <a:srgbClr val="BFC7C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3243"/>
                          </a:solidFill>
                          <a:latin typeface="Source Sans Pro"/>
                        </a:rPr>
                        <a:t>Policy 956313 – May 26, 2026</a:t>
                      </a:r>
                    </a:p>
                  </a:txBody>
                  <a:tcPr anchor="b">
                    <a:solidFill>
                      <a:srgbClr val="BFC7C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3243"/>
                          </a:solidFill>
                          <a:latin typeface="Source Sans Pro"/>
                        </a:rPr>
                        <a:t>pp. 1, 2</a:t>
                      </a:r>
                    </a:p>
                  </a:txBody>
                  <a:tcPr anchor="b">
                    <a:solidFill>
                      <a:srgbClr val="BFC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566693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53243"/>
                          </a:solidFill>
                          <a:latin typeface="Source Sans Pro"/>
                        </a:rPr>
                        <a:t>4</a:t>
                      </a:r>
                    </a:p>
                  </a:txBody>
                  <a:tcPr anchor="b">
                    <a:solidFill>
                      <a:srgbClr val="EDEC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3243"/>
                          </a:solidFill>
                          <a:latin typeface="Source Sans Pro"/>
                        </a:rPr>
                        <a:t>2526 Crime Policy</a:t>
                      </a:r>
                    </a:p>
                  </a:txBody>
                  <a:tcPr anchor="b">
                    <a:solidFill>
                      <a:srgbClr val="EDEC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3243"/>
                          </a:solidFill>
                          <a:latin typeface="Source Sans Pro"/>
                        </a:rPr>
                        <a:t>pp. 1, 11</a:t>
                      </a:r>
                    </a:p>
                  </a:txBody>
                  <a:tcPr anchor="b">
                    <a:solidFill>
                      <a:srgbClr val="ED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920046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53243"/>
                          </a:solidFill>
                          <a:latin typeface="Source Sans Pro"/>
                        </a:rPr>
                        <a:t>5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C7C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3243"/>
                          </a:solidFill>
                          <a:latin typeface="Source Sans Pro"/>
                        </a:rPr>
                        <a:t>2526 Cyber Policy – At Bay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C7C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3243"/>
                          </a:solidFill>
                          <a:latin typeface="Source Sans Pro"/>
                        </a:rPr>
                        <a:t>p. 3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C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045699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53243"/>
                          </a:solidFill>
                          <a:latin typeface="Source Sans Pro"/>
                        </a:rPr>
                        <a:t>6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3243"/>
                          </a:solidFill>
                          <a:latin typeface="Source Sans Pro"/>
                        </a:rPr>
                        <a:t>2526 Pollution Policy – UCPM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3243"/>
                          </a:solidFill>
                          <a:latin typeface="Source Sans Pro"/>
                        </a:rPr>
                        <a:t>p. 4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045699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53243"/>
                          </a:solidFill>
                          <a:latin typeface="Source Sans Pro"/>
                        </a:rPr>
                        <a:t>7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C7C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3243"/>
                          </a:solidFill>
                          <a:latin typeface="Source Sans Pro"/>
                        </a:rPr>
                        <a:t>2526 WC Policy – Copperpoint / Canopy Roofing, LLC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C7C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3243"/>
                          </a:solidFill>
                          <a:latin typeface="Source Sans Pro"/>
                        </a:rPr>
                        <a:t>pp. 2, 3, 4 (policy); pp. 1, 2 (Canopy Roofing, LLC)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C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045699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53243"/>
                          </a:solidFill>
                          <a:latin typeface="Source Sans Pro"/>
                        </a:rPr>
                        <a:t>8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3243"/>
                          </a:solidFill>
                          <a:latin typeface="Source Sans Pro"/>
                        </a:rPr>
                        <a:t>2526 Excess Auto Policy – RSUI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3243"/>
                          </a:solidFill>
                          <a:latin typeface="Source Sans Pro"/>
                        </a:rPr>
                        <a:t>pp. 1, 2, 3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045699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53243"/>
                          </a:solidFill>
                          <a:latin typeface="Source Sans Pro"/>
                        </a:rPr>
                        <a:t>9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C7C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3243"/>
                          </a:solidFill>
                          <a:latin typeface="Source Sans Pro"/>
                        </a:rPr>
                        <a:t>2526 Excess GL – Commercial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C7C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3243"/>
                          </a:solidFill>
                          <a:latin typeface="Source Sans Pro"/>
                        </a:rPr>
                        <a:t>pp. 3, 4, 22 (Residential Work Exclusion)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C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045699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53243"/>
                          </a:solidFill>
                          <a:latin typeface="Source Sans Pro"/>
                        </a:rPr>
                        <a:t>10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3243"/>
                          </a:solidFill>
                          <a:latin typeface="Source Sans Pro"/>
                        </a:rPr>
                        <a:t>Owens Corning &amp; Subsidiaries Documentation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3243"/>
                          </a:solidFill>
                          <a:latin typeface="Source Sans Pro"/>
                        </a:rPr>
                        <a:t>p. 1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045699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53243"/>
                          </a:solidFill>
                          <a:latin typeface="Source Sans Pro"/>
                        </a:rPr>
                        <a:t>11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C7C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3243"/>
                          </a:solidFill>
                          <a:latin typeface="Source Sans Pro"/>
                        </a:rPr>
                        <a:t>Canopy Ownership Summary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C7C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3243"/>
                          </a:solidFill>
                          <a:latin typeface="Source Sans Pro"/>
                        </a:rPr>
                        <a:t>Both pages (Word document)</a:t>
                      </a: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C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04569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CIG Brand Standard">
      <a:dk1>
        <a:srgbClr val="153243"/>
      </a:dk1>
      <a:lt1>
        <a:srgbClr val="FFFFFF"/>
      </a:lt1>
      <a:dk2>
        <a:srgbClr val="153243"/>
      </a:dk2>
      <a:lt2>
        <a:srgbClr val="EDECED"/>
      </a:lt2>
      <a:accent1>
        <a:srgbClr val="153243"/>
      </a:accent1>
      <a:accent2>
        <a:srgbClr val="FFC666"/>
      </a:accent2>
      <a:accent3>
        <a:srgbClr val="BFC7CB"/>
      </a:accent3>
      <a:accent4>
        <a:srgbClr val="8FB24E"/>
      </a:accent4>
      <a:accent5>
        <a:srgbClr val="366E8E"/>
      </a:accent5>
      <a:accent6>
        <a:srgbClr val="153243"/>
      </a:accent6>
      <a:hlink>
        <a:srgbClr val="4472C4"/>
      </a:hlink>
      <a:folHlink>
        <a:srgbClr val="954F72"/>
      </a:folHlink>
    </a:clrScheme>
    <a:fontScheme name="CCIG Standard Fonts">
      <a:majorFont>
        <a:latin typeface="Playfair Display Bold italic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losing Slide">
  <a:themeElements>
    <a:clrScheme name="CCIG Pallet">
      <a:dk1>
        <a:srgbClr val="FFFFFF"/>
      </a:dk1>
      <a:lt1>
        <a:srgbClr val="153243"/>
      </a:lt1>
      <a:dk2>
        <a:srgbClr val="FFFFFF"/>
      </a:dk2>
      <a:lt2>
        <a:srgbClr val="153243"/>
      </a:lt2>
      <a:accent1>
        <a:srgbClr val="366E8E"/>
      </a:accent1>
      <a:accent2>
        <a:srgbClr val="EDECED"/>
      </a:accent2>
      <a:accent3>
        <a:srgbClr val="8FB24E"/>
      </a:accent3>
      <a:accent4>
        <a:srgbClr val="FFC666"/>
      </a:accent4>
      <a:accent5>
        <a:srgbClr val="BFC7CB"/>
      </a:accent5>
      <a:accent6>
        <a:srgbClr val="FFFFFF"/>
      </a:accent6>
      <a:hlink>
        <a:srgbClr val="FFFFFF"/>
      </a:hlink>
      <a:folHlink>
        <a:srgbClr val="FFFFFF"/>
      </a:folHlink>
    </a:clrScheme>
    <a:fontScheme name="CCIG Fonts">
      <a:majorFont>
        <a:latin typeface="Playfair Display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5 Pre Renewal Presentation Template DRAFT.pptx" id="{828A087C-E37D-43CB-A519-71B798F826F0}" vid="{AA9F9857-78CF-4B9F-B020-64C60EB5DBE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14c050f-9054-4904-b6aa-0409f5b4e18f">
      <Terms xmlns="http://schemas.microsoft.com/office/infopath/2007/PartnerControls"/>
    </lcf76f155ced4ddcb4097134ff3c332f>
    <TaxCatchAll xmlns="30d15d4e-f454-4b92-8875-408134dc12c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9725B309581840A0A100831E684272" ma:contentTypeVersion="20" ma:contentTypeDescription="Create a new document." ma:contentTypeScope="" ma:versionID="27caaa922bf644da1ac0edb9850b251b">
  <xsd:schema xmlns:xsd="http://www.w3.org/2001/XMLSchema" xmlns:xs="http://www.w3.org/2001/XMLSchema" xmlns:p="http://schemas.microsoft.com/office/2006/metadata/properties" xmlns:ns2="d14c050f-9054-4904-b6aa-0409f5b4e18f" xmlns:ns3="30d15d4e-f454-4b92-8875-408134dc12c6" targetNamespace="http://schemas.microsoft.com/office/2006/metadata/properties" ma:root="true" ma:fieldsID="09138be5e88f50bb9190cdd3e4074cd5" ns2:_="" ns3:_="">
    <xsd:import namespace="d14c050f-9054-4904-b6aa-0409f5b4e18f"/>
    <xsd:import namespace="30d15d4e-f454-4b92-8875-408134dc12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4c050f-9054-4904-b6aa-0409f5b4e1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84f06319-ea36-4de0-a4ff-0b283733ff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d15d4e-f454-4b92-8875-408134dc12c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0bd52f1-f66a-499f-9159-e87069d78626}" ma:internalName="TaxCatchAll" ma:showField="CatchAllData" ma:web="30d15d4e-f454-4b92-8875-408134dc12c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34FCD18-CF1F-49EB-83DE-4BD8ABBA53DE}">
  <ds:schemaRefs>
    <ds:schemaRef ds:uri="http://schemas.microsoft.com/office/2006/metadata/properties"/>
    <ds:schemaRef ds:uri="http://schemas.microsoft.com/office/infopath/2007/PartnerControls"/>
    <ds:schemaRef ds:uri="d14c050f-9054-4904-b6aa-0409f5b4e18f"/>
    <ds:schemaRef ds:uri="30d15d4e-f454-4b92-8875-408134dc12c6"/>
  </ds:schemaRefs>
</ds:datastoreItem>
</file>

<file path=customXml/itemProps2.xml><?xml version="1.0" encoding="utf-8"?>
<ds:datastoreItem xmlns:ds="http://schemas.openxmlformats.org/officeDocument/2006/customXml" ds:itemID="{4223B997-459F-4F07-80F9-0B92B3A8E1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4C3F88-6D58-423A-84ED-4469C477BA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4c050f-9054-4904-b6aa-0409f5b4e18f"/>
    <ds:schemaRef ds:uri="30d15d4e-f454-4b92-8875-408134dc12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2236</TotalTime>
  <Words>375</Words>
  <Application>Microsoft Office PowerPoint</Application>
  <PresentationFormat>Widescreen</PresentationFormat>
  <Paragraphs>88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Aptos</vt:lpstr>
      <vt:lpstr>Arial</vt:lpstr>
      <vt:lpstr>Calibri</vt:lpstr>
      <vt:lpstr>Playfair Display</vt:lpstr>
      <vt:lpstr>Source Sans Pro</vt:lpstr>
      <vt:lpstr>Source Sans Pro Light</vt:lpstr>
      <vt:lpstr>Source Sans Pro Semibold</vt:lpstr>
      <vt:lpstr>Source Sans Pro Semibold</vt:lpstr>
      <vt:lpstr>Wingdings</vt:lpstr>
      <vt:lpstr>1_Office Theme</vt:lpstr>
      <vt:lpstr>Closing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Kokat</dc:creator>
  <cp:lastModifiedBy>Nick Kokat</cp:lastModifiedBy>
  <cp:revision>4</cp:revision>
  <dcterms:created xsi:type="dcterms:W3CDTF">2025-04-17T14:49:04Z</dcterms:created>
  <dcterms:modified xsi:type="dcterms:W3CDTF">2026-08-19T21:27:53Z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0x010100DC9725B309581840A0A100831E684272</vt:lpwstr>
  </property>
  <property fmtid="{D5CDD505-2E9C-101B-9397-08002B2CF9AE}" pid="3" name="MediaServiceImageTags">
    <vt:lpwstr/>
  </property>
</Properties>
</file>